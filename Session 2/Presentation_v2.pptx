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6"/>
  </p:notesMasterIdLst>
  <p:sldIdLst>
    <p:sldId id="262" r:id="rId2"/>
    <p:sldId id="377" r:id="rId3"/>
    <p:sldId id="277" r:id="rId4"/>
    <p:sldId id="397" r:id="rId5"/>
    <p:sldId id="276" r:id="rId6"/>
    <p:sldId id="361" r:id="rId7"/>
    <p:sldId id="363" r:id="rId8"/>
    <p:sldId id="399" r:id="rId9"/>
    <p:sldId id="367" r:id="rId10"/>
    <p:sldId id="368" r:id="rId11"/>
    <p:sldId id="369" r:id="rId12"/>
    <p:sldId id="370" r:id="rId13"/>
    <p:sldId id="268" r:id="rId14"/>
    <p:sldId id="416" r:id="rId15"/>
    <p:sldId id="417" r:id="rId16"/>
    <p:sldId id="406" r:id="rId17"/>
    <p:sldId id="407" r:id="rId18"/>
    <p:sldId id="401" r:id="rId19"/>
    <p:sldId id="409" r:id="rId20"/>
    <p:sldId id="410" r:id="rId21"/>
    <p:sldId id="375" r:id="rId22"/>
    <p:sldId id="378" r:id="rId23"/>
    <p:sldId id="412" r:id="rId24"/>
    <p:sldId id="41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36" userDrawn="1">
          <p15:clr>
            <a:srgbClr val="A4A3A4"/>
          </p15:clr>
        </p15:guide>
        <p15:guide id="2" pos="3264" userDrawn="1">
          <p15:clr>
            <a:srgbClr val="A4A3A4"/>
          </p15:clr>
        </p15:guide>
        <p15:guide id="3" pos="384" userDrawn="1">
          <p15:clr>
            <a:srgbClr val="A4A3A4"/>
          </p15:clr>
        </p15:guide>
        <p15:guide id="4" orient="horz" pos="1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346A"/>
    <a:srgbClr val="197C28"/>
    <a:srgbClr val="003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46"/>
    <p:restoredTop sz="86086"/>
  </p:normalViewPr>
  <p:slideViewPr>
    <p:cSldViewPr snapToGrid="0">
      <p:cViewPr varScale="1">
        <p:scale>
          <a:sx n="133" d="100"/>
          <a:sy n="133" d="100"/>
        </p:scale>
        <p:origin x="1400" y="192"/>
      </p:cViewPr>
      <p:guideLst>
        <p:guide orient="horz" pos="3336"/>
        <p:guide pos="3264"/>
        <p:guide pos="384"/>
        <p:guide orient="horz" pos="11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gener, Maximilian" userId="00319a47-5df7-4a7f-b5fd-8c1aef3f7443" providerId="ADAL" clId="{CF2CAE99-D8F5-51A4-A68C-79C1C32033F6}"/>
    <pc:docChg chg="custSel addSld delSld modSld sldOrd">
      <pc:chgData name="Wegener, Maximilian" userId="00319a47-5df7-4a7f-b5fd-8c1aef3f7443" providerId="ADAL" clId="{CF2CAE99-D8F5-51A4-A68C-79C1C32033F6}" dt="2026-01-30T14:07:57.517" v="396" actId="20577"/>
      <pc:docMkLst>
        <pc:docMk/>
      </pc:docMkLst>
      <pc:sldChg chg="modSp mod">
        <pc:chgData name="Wegener, Maximilian" userId="00319a47-5df7-4a7f-b5fd-8c1aef3f7443" providerId="ADAL" clId="{CF2CAE99-D8F5-51A4-A68C-79C1C32033F6}" dt="2026-01-30T14:07:57.517" v="396" actId="20577"/>
        <pc:sldMkLst>
          <pc:docMk/>
          <pc:sldMk cId="2450962014" sldId="377"/>
        </pc:sldMkLst>
        <pc:spChg chg="mod">
          <ac:chgData name="Wegener, Maximilian" userId="00319a47-5df7-4a7f-b5fd-8c1aef3f7443" providerId="ADAL" clId="{CF2CAE99-D8F5-51A4-A68C-79C1C32033F6}" dt="2026-01-30T14:07:57.517" v="396" actId="20577"/>
          <ac:spMkLst>
            <pc:docMk/>
            <pc:sldMk cId="2450962014" sldId="377"/>
            <ac:spMk id="2" creationId="{4FB4190B-27CA-E911-E62B-858FB9E062D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249F62-30CE-9042-9AED-A2AEB9BFD3EB}" type="doc">
      <dgm:prSet loTypeId="urn:microsoft.com/office/officeart/2005/8/layout/hierarchy4" loCatId="icon" qsTypeId="urn:microsoft.com/office/officeart/2005/8/quickstyle/simple1" qsCatId="simple" csTypeId="urn:microsoft.com/office/officeart/2005/8/colors/accent1_2" csCatId="accent1" phldr="1"/>
      <dgm:spPr/>
      <dgm:t>
        <a:bodyPr/>
        <a:lstStyle/>
        <a:p>
          <a:endParaRPr lang="en-US"/>
        </a:p>
      </dgm:t>
    </dgm:pt>
    <dgm:pt modelId="{6E2556F1-E3C1-BB45-874E-58A1D1812BEC}">
      <dgm:prSet/>
      <dgm:spPr/>
      <dgm:t>
        <a:bodyPr/>
        <a:lstStyle/>
        <a:p>
          <a:r>
            <a:rPr lang="en-US" dirty="0"/>
            <a:t>Measurements </a:t>
          </a:r>
        </a:p>
        <a:p>
          <a:r>
            <a:rPr lang="en-US" dirty="0"/>
            <a:t>(Domain)</a:t>
          </a:r>
        </a:p>
      </dgm:t>
    </dgm:pt>
    <dgm:pt modelId="{ADA19334-460C-9B4A-9147-B616CE39C3CB}" type="parTrans" cxnId="{1FD68A72-3D5A-AF4B-843E-B73D060BDD73}">
      <dgm:prSet/>
      <dgm:spPr/>
      <dgm:t>
        <a:bodyPr/>
        <a:lstStyle/>
        <a:p>
          <a:endParaRPr lang="en-US"/>
        </a:p>
      </dgm:t>
    </dgm:pt>
    <dgm:pt modelId="{50B5E7CF-BF1C-3B44-ABF3-06CC9ABAD175}" type="sibTrans" cxnId="{1FD68A72-3D5A-AF4B-843E-B73D060BDD73}">
      <dgm:prSet/>
      <dgm:spPr/>
      <dgm:t>
        <a:bodyPr/>
        <a:lstStyle/>
        <a:p>
          <a:endParaRPr lang="en-US"/>
        </a:p>
      </dgm:t>
    </dgm:pt>
    <dgm:pt modelId="{6C10E626-7573-0246-9461-7D6185093013}">
      <dgm:prSet/>
      <dgm:spPr/>
      <dgm:t>
        <a:bodyPr/>
        <a:lstStyle/>
        <a:p>
          <a:r>
            <a:rPr lang="en-US" dirty="0"/>
            <a:t>HCV RNA </a:t>
          </a:r>
        </a:p>
        <a:p>
          <a:r>
            <a:rPr lang="en-US" dirty="0"/>
            <a:t>(Concept)</a:t>
          </a:r>
        </a:p>
      </dgm:t>
    </dgm:pt>
    <dgm:pt modelId="{31DAF24D-F641-EF45-8319-50383AF01F45}" type="parTrans" cxnId="{AB61D253-A15A-D24A-AA41-DC656700B4D0}">
      <dgm:prSet/>
      <dgm:spPr/>
      <dgm:t>
        <a:bodyPr/>
        <a:lstStyle/>
        <a:p>
          <a:endParaRPr lang="en-US"/>
        </a:p>
      </dgm:t>
    </dgm:pt>
    <dgm:pt modelId="{910E5C33-F01C-364A-9FB8-0B44BA0C9D7E}" type="sibTrans" cxnId="{AB61D253-A15A-D24A-AA41-DC656700B4D0}">
      <dgm:prSet/>
      <dgm:spPr/>
      <dgm:t>
        <a:bodyPr/>
        <a:lstStyle/>
        <a:p>
          <a:endParaRPr lang="en-US"/>
        </a:p>
      </dgm:t>
    </dgm:pt>
    <dgm:pt modelId="{D0C64EAA-F180-B44B-A8CC-0A9EECA4D261}">
      <dgm:prSet/>
      <dgm:spPr/>
      <dgm:t>
        <a:bodyPr/>
        <a:lstStyle/>
        <a:p>
          <a:r>
            <a:rPr lang="en-US" dirty="0"/>
            <a:t>HBV surface antigen </a:t>
          </a:r>
        </a:p>
        <a:p>
          <a:r>
            <a:rPr lang="en-US" dirty="0"/>
            <a:t>(Concept)</a:t>
          </a:r>
        </a:p>
      </dgm:t>
    </dgm:pt>
    <dgm:pt modelId="{CCCA455C-E0CB-A149-B60D-C4E204FA0B84}" type="parTrans" cxnId="{D3725DDB-4520-5343-9E59-22345832B722}">
      <dgm:prSet/>
      <dgm:spPr/>
      <dgm:t>
        <a:bodyPr/>
        <a:lstStyle/>
        <a:p>
          <a:endParaRPr lang="en-US"/>
        </a:p>
      </dgm:t>
    </dgm:pt>
    <dgm:pt modelId="{FEBB7902-A278-DD46-8BC6-7ED3EAE5F813}" type="sibTrans" cxnId="{D3725DDB-4520-5343-9E59-22345832B722}">
      <dgm:prSet/>
      <dgm:spPr/>
      <dgm:t>
        <a:bodyPr/>
        <a:lstStyle/>
        <a:p>
          <a:endParaRPr lang="en-US"/>
        </a:p>
      </dgm:t>
    </dgm:pt>
    <dgm:pt modelId="{F27A03E4-BF0D-454B-B232-4B69D4FCEF85}">
      <dgm:prSet/>
      <dgm:spPr/>
      <dgm:t>
        <a:bodyPr/>
        <a:lstStyle/>
        <a:p>
          <a:r>
            <a:rPr lang="en-US" dirty="0"/>
            <a:t>HIV Ab </a:t>
          </a:r>
        </a:p>
        <a:p>
          <a:r>
            <a:rPr lang="en-US" dirty="0"/>
            <a:t>(Concept)</a:t>
          </a:r>
        </a:p>
      </dgm:t>
    </dgm:pt>
    <dgm:pt modelId="{63821A04-E3E3-B14A-A6EB-602D4E661892}" type="parTrans" cxnId="{3FF85C6D-FF12-0D40-983C-0A5EBBD24089}">
      <dgm:prSet/>
      <dgm:spPr/>
      <dgm:t>
        <a:bodyPr/>
        <a:lstStyle/>
        <a:p>
          <a:endParaRPr lang="en-US"/>
        </a:p>
      </dgm:t>
    </dgm:pt>
    <dgm:pt modelId="{1F7EF710-2CAE-2942-A621-E382855569B5}" type="sibTrans" cxnId="{3FF85C6D-FF12-0D40-983C-0A5EBBD24089}">
      <dgm:prSet/>
      <dgm:spPr/>
      <dgm:t>
        <a:bodyPr/>
        <a:lstStyle/>
        <a:p>
          <a:endParaRPr lang="en-US"/>
        </a:p>
      </dgm:t>
    </dgm:pt>
    <dgm:pt modelId="{90A88AAC-7229-104C-B436-289F0FD86029}">
      <dgm:prSet/>
      <dgm:spPr/>
      <dgm:t>
        <a:bodyPr/>
        <a:lstStyle/>
        <a:p>
          <a:r>
            <a:rPr lang="en-US" dirty="0"/>
            <a:t>HCV, HBV, HIV labs</a:t>
          </a:r>
        </a:p>
        <a:p>
          <a:r>
            <a:rPr lang="en-US" dirty="0"/>
            <a:t>(“Measurement” </a:t>
          </a:r>
          <a:r>
            <a:rPr lang="en-US" dirty="0">
              <a:latin typeface="Avenir Book" panose="02000503020000020003" pitchFamily="2" charset="0"/>
            </a:rPr>
            <a:t>Concept</a:t>
          </a:r>
          <a:r>
            <a:rPr lang="en-US" dirty="0"/>
            <a:t> Set)</a:t>
          </a:r>
        </a:p>
      </dgm:t>
    </dgm:pt>
    <dgm:pt modelId="{2249A61A-3D4E-154F-AE1B-374EE3E900A4}" type="parTrans" cxnId="{545A5CB3-D779-2C4D-8391-36AB26B243AB}">
      <dgm:prSet/>
      <dgm:spPr/>
      <dgm:t>
        <a:bodyPr/>
        <a:lstStyle/>
        <a:p>
          <a:endParaRPr lang="en-US"/>
        </a:p>
      </dgm:t>
    </dgm:pt>
    <dgm:pt modelId="{E6AF92F8-E977-F54D-8EC3-75D3D46A7CD9}" type="sibTrans" cxnId="{545A5CB3-D779-2C4D-8391-36AB26B243AB}">
      <dgm:prSet/>
      <dgm:spPr/>
      <dgm:t>
        <a:bodyPr/>
        <a:lstStyle/>
        <a:p>
          <a:endParaRPr lang="en-US"/>
        </a:p>
      </dgm:t>
    </dgm:pt>
    <dgm:pt modelId="{487B698C-331E-F346-B394-A981B02EEFED}" type="pres">
      <dgm:prSet presAssocID="{B5249F62-30CE-9042-9AED-A2AEB9BFD3EB}" presName="Name0" presStyleCnt="0">
        <dgm:presLayoutVars>
          <dgm:chPref val="1"/>
          <dgm:dir/>
          <dgm:animOne val="branch"/>
          <dgm:animLvl val="lvl"/>
          <dgm:resizeHandles/>
        </dgm:presLayoutVars>
      </dgm:prSet>
      <dgm:spPr/>
    </dgm:pt>
    <dgm:pt modelId="{4061C55E-C5AD-BD49-A495-B8E45F06F142}" type="pres">
      <dgm:prSet presAssocID="{6E2556F1-E3C1-BB45-874E-58A1D1812BEC}" presName="vertOne" presStyleCnt="0"/>
      <dgm:spPr/>
    </dgm:pt>
    <dgm:pt modelId="{3E4BD884-5CDE-BF48-9972-5090201A2E3A}" type="pres">
      <dgm:prSet presAssocID="{6E2556F1-E3C1-BB45-874E-58A1D1812BEC}" presName="txOne" presStyleLbl="node0" presStyleIdx="0" presStyleCnt="1">
        <dgm:presLayoutVars>
          <dgm:chPref val="3"/>
        </dgm:presLayoutVars>
      </dgm:prSet>
      <dgm:spPr/>
    </dgm:pt>
    <dgm:pt modelId="{52F87275-846E-3248-AC63-9AF54E3A7A7C}" type="pres">
      <dgm:prSet presAssocID="{6E2556F1-E3C1-BB45-874E-58A1D1812BEC}" presName="parTransOne" presStyleCnt="0"/>
      <dgm:spPr/>
    </dgm:pt>
    <dgm:pt modelId="{6E8FF806-FA36-594F-A1BA-84559B003394}" type="pres">
      <dgm:prSet presAssocID="{6E2556F1-E3C1-BB45-874E-58A1D1812BEC}" presName="horzOne" presStyleCnt="0"/>
      <dgm:spPr/>
    </dgm:pt>
    <dgm:pt modelId="{6FFF501B-EFF4-2141-A74B-A989B02664F3}" type="pres">
      <dgm:prSet presAssocID="{6C10E626-7573-0246-9461-7D6185093013}" presName="vertTwo" presStyleCnt="0"/>
      <dgm:spPr/>
    </dgm:pt>
    <dgm:pt modelId="{D1B077CC-2CAA-A844-8F00-C975737EC354}" type="pres">
      <dgm:prSet presAssocID="{6C10E626-7573-0246-9461-7D6185093013}" presName="txTwo" presStyleLbl="node2" presStyleIdx="0" presStyleCnt="3">
        <dgm:presLayoutVars>
          <dgm:chPref val="3"/>
        </dgm:presLayoutVars>
      </dgm:prSet>
      <dgm:spPr/>
    </dgm:pt>
    <dgm:pt modelId="{73449CD2-6F04-0842-9D8A-CB42073C076F}" type="pres">
      <dgm:prSet presAssocID="{6C10E626-7573-0246-9461-7D6185093013}" presName="horzTwo" presStyleCnt="0"/>
      <dgm:spPr/>
    </dgm:pt>
    <dgm:pt modelId="{814936FF-86FA-4940-A511-0C0938733AEF}" type="pres">
      <dgm:prSet presAssocID="{910E5C33-F01C-364A-9FB8-0B44BA0C9D7E}" presName="sibSpaceTwo" presStyleCnt="0"/>
      <dgm:spPr/>
    </dgm:pt>
    <dgm:pt modelId="{DB61D31F-C37E-904F-8157-5E748A66967C}" type="pres">
      <dgm:prSet presAssocID="{D0C64EAA-F180-B44B-A8CC-0A9EECA4D261}" presName="vertTwo" presStyleCnt="0"/>
      <dgm:spPr/>
    </dgm:pt>
    <dgm:pt modelId="{24A551BB-454C-514E-8DDD-EC891D022E9E}" type="pres">
      <dgm:prSet presAssocID="{D0C64EAA-F180-B44B-A8CC-0A9EECA4D261}" presName="txTwo" presStyleLbl="node2" presStyleIdx="1" presStyleCnt="3">
        <dgm:presLayoutVars>
          <dgm:chPref val="3"/>
        </dgm:presLayoutVars>
      </dgm:prSet>
      <dgm:spPr/>
    </dgm:pt>
    <dgm:pt modelId="{8C404072-A0D5-D948-A5BE-54704C073DF2}" type="pres">
      <dgm:prSet presAssocID="{D0C64EAA-F180-B44B-A8CC-0A9EECA4D261}" presName="horzTwo" presStyleCnt="0"/>
      <dgm:spPr/>
    </dgm:pt>
    <dgm:pt modelId="{125CE4C9-C8C6-DD4B-84BB-E8F3F27619EB}" type="pres">
      <dgm:prSet presAssocID="{FEBB7902-A278-DD46-8BC6-7ED3EAE5F813}" presName="sibSpaceTwo" presStyleCnt="0"/>
      <dgm:spPr/>
    </dgm:pt>
    <dgm:pt modelId="{7BFE976B-364A-A94E-80A8-CD431F3AE319}" type="pres">
      <dgm:prSet presAssocID="{F27A03E4-BF0D-454B-B232-4B69D4FCEF85}" presName="vertTwo" presStyleCnt="0"/>
      <dgm:spPr/>
    </dgm:pt>
    <dgm:pt modelId="{F71C91BA-3FF3-5D4A-A3C2-7BF050E31AE7}" type="pres">
      <dgm:prSet presAssocID="{F27A03E4-BF0D-454B-B232-4B69D4FCEF85}" presName="txTwo" presStyleLbl="node2" presStyleIdx="2" presStyleCnt="3">
        <dgm:presLayoutVars>
          <dgm:chPref val="3"/>
        </dgm:presLayoutVars>
      </dgm:prSet>
      <dgm:spPr/>
    </dgm:pt>
    <dgm:pt modelId="{2D74488C-536B-D748-822D-FC9A13839A21}" type="pres">
      <dgm:prSet presAssocID="{F27A03E4-BF0D-454B-B232-4B69D4FCEF85}" presName="parTransTwo" presStyleCnt="0"/>
      <dgm:spPr/>
    </dgm:pt>
    <dgm:pt modelId="{12AB2086-24F7-8544-927D-3CB5C814A461}" type="pres">
      <dgm:prSet presAssocID="{F27A03E4-BF0D-454B-B232-4B69D4FCEF85}" presName="horzTwo" presStyleCnt="0"/>
      <dgm:spPr/>
    </dgm:pt>
    <dgm:pt modelId="{36AB126C-5FCC-3B43-8CDA-B38C9CFF0C24}" type="pres">
      <dgm:prSet presAssocID="{90A88AAC-7229-104C-B436-289F0FD86029}" presName="vertThree" presStyleCnt="0"/>
      <dgm:spPr/>
    </dgm:pt>
    <dgm:pt modelId="{DD78D3D3-E9D3-1B47-9AEF-70E2E20C88B0}" type="pres">
      <dgm:prSet presAssocID="{90A88AAC-7229-104C-B436-289F0FD86029}" presName="txThree" presStyleLbl="node3" presStyleIdx="0" presStyleCnt="1" custScaleX="148158" custLinFactX="-21518" custLinFactNeighborX="-100000" custLinFactNeighborY="-9188">
        <dgm:presLayoutVars>
          <dgm:chPref val="3"/>
        </dgm:presLayoutVars>
      </dgm:prSet>
      <dgm:spPr/>
    </dgm:pt>
    <dgm:pt modelId="{5571BD1E-688C-024A-BC97-D517C2CF0F70}" type="pres">
      <dgm:prSet presAssocID="{90A88AAC-7229-104C-B436-289F0FD86029}" presName="horzThree" presStyleCnt="0"/>
      <dgm:spPr/>
    </dgm:pt>
  </dgm:ptLst>
  <dgm:cxnLst>
    <dgm:cxn modelId="{13EE2F1F-BCBE-2A45-AA99-F29D721D3A92}" type="presOf" srcId="{D0C64EAA-F180-B44B-A8CC-0A9EECA4D261}" destId="{24A551BB-454C-514E-8DDD-EC891D022E9E}" srcOrd="0" destOrd="0" presId="urn:microsoft.com/office/officeart/2005/8/layout/hierarchy4"/>
    <dgm:cxn modelId="{0204A82D-7217-3548-8C98-9118FE0A2BF1}" type="presOf" srcId="{6E2556F1-E3C1-BB45-874E-58A1D1812BEC}" destId="{3E4BD884-5CDE-BF48-9972-5090201A2E3A}" srcOrd="0" destOrd="0" presId="urn:microsoft.com/office/officeart/2005/8/layout/hierarchy4"/>
    <dgm:cxn modelId="{AB61D253-A15A-D24A-AA41-DC656700B4D0}" srcId="{6E2556F1-E3C1-BB45-874E-58A1D1812BEC}" destId="{6C10E626-7573-0246-9461-7D6185093013}" srcOrd="0" destOrd="0" parTransId="{31DAF24D-F641-EF45-8319-50383AF01F45}" sibTransId="{910E5C33-F01C-364A-9FB8-0B44BA0C9D7E}"/>
    <dgm:cxn modelId="{000B6B57-4B76-C74B-9D33-46FFC62C33E6}" type="presOf" srcId="{90A88AAC-7229-104C-B436-289F0FD86029}" destId="{DD78D3D3-E9D3-1B47-9AEF-70E2E20C88B0}" srcOrd="0" destOrd="0" presId="urn:microsoft.com/office/officeart/2005/8/layout/hierarchy4"/>
    <dgm:cxn modelId="{3FF85C6D-FF12-0D40-983C-0A5EBBD24089}" srcId="{6E2556F1-E3C1-BB45-874E-58A1D1812BEC}" destId="{F27A03E4-BF0D-454B-B232-4B69D4FCEF85}" srcOrd="2" destOrd="0" parTransId="{63821A04-E3E3-B14A-A6EB-602D4E661892}" sibTransId="{1F7EF710-2CAE-2942-A621-E382855569B5}"/>
    <dgm:cxn modelId="{1FD68A72-3D5A-AF4B-843E-B73D060BDD73}" srcId="{B5249F62-30CE-9042-9AED-A2AEB9BFD3EB}" destId="{6E2556F1-E3C1-BB45-874E-58A1D1812BEC}" srcOrd="0" destOrd="0" parTransId="{ADA19334-460C-9B4A-9147-B616CE39C3CB}" sibTransId="{50B5E7CF-BF1C-3B44-ABF3-06CC9ABAD175}"/>
    <dgm:cxn modelId="{87633290-E2F8-4B48-A708-67C1DB2BA3A2}" type="presOf" srcId="{B5249F62-30CE-9042-9AED-A2AEB9BFD3EB}" destId="{487B698C-331E-F346-B394-A981B02EEFED}" srcOrd="0" destOrd="0" presId="urn:microsoft.com/office/officeart/2005/8/layout/hierarchy4"/>
    <dgm:cxn modelId="{8F955A91-30F0-0844-9BFA-B37AE21F153F}" type="presOf" srcId="{F27A03E4-BF0D-454B-B232-4B69D4FCEF85}" destId="{F71C91BA-3FF3-5D4A-A3C2-7BF050E31AE7}" srcOrd="0" destOrd="0" presId="urn:microsoft.com/office/officeart/2005/8/layout/hierarchy4"/>
    <dgm:cxn modelId="{545A5CB3-D779-2C4D-8391-36AB26B243AB}" srcId="{F27A03E4-BF0D-454B-B232-4B69D4FCEF85}" destId="{90A88AAC-7229-104C-B436-289F0FD86029}" srcOrd="0" destOrd="0" parTransId="{2249A61A-3D4E-154F-AE1B-374EE3E900A4}" sibTransId="{E6AF92F8-E977-F54D-8EC3-75D3D46A7CD9}"/>
    <dgm:cxn modelId="{D3725DDB-4520-5343-9E59-22345832B722}" srcId="{6E2556F1-E3C1-BB45-874E-58A1D1812BEC}" destId="{D0C64EAA-F180-B44B-A8CC-0A9EECA4D261}" srcOrd="1" destOrd="0" parTransId="{CCCA455C-E0CB-A149-B60D-C4E204FA0B84}" sibTransId="{FEBB7902-A278-DD46-8BC6-7ED3EAE5F813}"/>
    <dgm:cxn modelId="{01B7BAED-6C24-5C4E-A7FF-44CB3CDB51FE}" type="presOf" srcId="{6C10E626-7573-0246-9461-7D6185093013}" destId="{D1B077CC-2CAA-A844-8F00-C975737EC354}" srcOrd="0" destOrd="0" presId="urn:microsoft.com/office/officeart/2005/8/layout/hierarchy4"/>
    <dgm:cxn modelId="{9C111935-E04C-5448-93C0-834522B3E577}" type="presParOf" srcId="{487B698C-331E-F346-B394-A981B02EEFED}" destId="{4061C55E-C5AD-BD49-A495-B8E45F06F142}" srcOrd="0" destOrd="0" presId="urn:microsoft.com/office/officeart/2005/8/layout/hierarchy4"/>
    <dgm:cxn modelId="{61E20CDD-E544-5A49-9477-948E53AEF841}" type="presParOf" srcId="{4061C55E-C5AD-BD49-A495-B8E45F06F142}" destId="{3E4BD884-5CDE-BF48-9972-5090201A2E3A}" srcOrd="0" destOrd="0" presId="urn:microsoft.com/office/officeart/2005/8/layout/hierarchy4"/>
    <dgm:cxn modelId="{32629CB1-0655-2E40-A416-8510A5989D21}" type="presParOf" srcId="{4061C55E-C5AD-BD49-A495-B8E45F06F142}" destId="{52F87275-846E-3248-AC63-9AF54E3A7A7C}" srcOrd="1" destOrd="0" presId="urn:microsoft.com/office/officeart/2005/8/layout/hierarchy4"/>
    <dgm:cxn modelId="{302929D2-51A5-C94B-8386-C3555B529776}" type="presParOf" srcId="{4061C55E-C5AD-BD49-A495-B8E45F06F142}" destId="{6E8FF806-FA36-594F-A1BA-84559B003394}" srcOrd="2" destOrd="0" presId="urn:microsoft.com/office/officeart/2005/8/layout/hierarchy4"/>
    <dgm:cxn modelId="{4C89ACC1-98B5-7547-AB8C-69D75BC5B65A}" type="presParOf" srcId="{6E8FF806-FA36-594F-A1BA-84559B003394}" destId="{6FFF501B-EFF4-2141-A74B-A989B02664F3}" srcOrd="0" destOrd="0" presId="urn:microsoft.com/office/officeart/2005/8/layout/hierarchy4"/>
    <dgm:cxn modelId="{960F7B5E-0754-8048-A8C9-A1CFD1BC99FA}" type="presParOf" srcId="{6FFF501B-EFF4-2141-A74B-A989B02664F3}" destId="{D1B077CC-2CAA-A844-8F00-C975737EC354}" srcOrd="0" destOrd="0" presId="urn:microsoft.com/office/officeart/2005/8/layout/hierarchy4"/>
    <dgm:cxn modelId="{07FB6410-17F9-5245-8290-EFC888653E47}" type="presParOf" srcId="{6FFF501B-EFF4-2141-A74B-A989B02664F3}" destId="{73449CD2-6F04-0842-9D8A-CB42073C076F}" srcOrd="1" destOrd="0" presId="urn:microsoft.com/office/officeart/2005/8/layout/hierarchy4"/>
    <dgm:cxn modelId="{649D7CF9-3DEC-7643-9F1C-4B09BBF4D27D}" type="presParOf" srcId="{6E8FF806-FA36-594F-A1BA-84559B003394}" destId="{814936FF-86FA-4940-A511-0C0938733AEF}" srcOrd="1" destOrd="0" presId="urn:microsoft.com/office/officeart/2005/8/layout/hierarchy4"/>
    <dgm:cxn modelId="{50A88105-63B8-E34D-9336-0C0AA8FD0B24}" type="presParOf" srcId="{6E8FF806-FA36-594F-A1BA-84559B003394}" destId="{DB61D31F-C37E-904F-8157-5E748A66967C}" srcOrd="2" destOrd="0" presId="urn:microsoft.com/office/officeart/2005/8/layout/hierarchy4"/>
    <dgm:cxn modelId="{F4F45662-6DD9-6D42-948C-D389A26C153F}" type="presParOf" srcId="{DB61D31F-C37E-904F-8157-5E748A66967C}" destId="{24A551BB-454C-514E-8DDD-EC891D022E9E}" srcOrd="0" destOrd="0" presId="urn:microsoft.com/office/officeart/2005/8/layout/hierarchy4"/>
    <dgm:cxn modelId="{604100AC-F936-2F47-91CB-0B0235B6083E}" type="presParOf" srcId="{DB61D31F-C37E-904F-8157-5E748A66967C}" destId="{8C404072-A0D5-D948-A5BE-54704C073DF2}" srcOrd="1" destOrd="0" presId="urn:microsoft.com/office/officeart/2005/8/layout/hierarchy4"/>
    <dgm:cxn modelId="{E58E188F-06F4-C748-A78C-2006BF17B53C}" type="presParOf" srcId="{6E8FF806-FA36-594F-A1BA-84559B003394}" destId="{125CE4C9-C8C6-DD4B-84BB-E8F3F27619EB}" srcOrd="3" destOrd="0" presId="urn:microsoft.com/office/officeart/2005/8/layout/hierarchy4"/>
    <dgm:cxn modelId="{3085F8E7-6EC6-CD4F-A32A-BD6302964577}" type="presParOf" srcId="{6E8FF806-FA36-594F-A1BA-84559B003394}" destId="{7BFE976B-364A-A94E-80A8-CD431F3AE319}" srcOrd="4" destOrd="0" presId="urn:microsoft.com/office/officeart/2005/8/layout/hierarchy4"/>
    <dgm:cxn modelId="{E30CBB28-BE24-5A45-B583-A6C143E878EB}" type="presParOf" srcId="{7BFE976B-364A-A94E-80A8-CD431F3AE319}" destId="{F71C91BA-3FF3-5D4A-A3C2-7BF050E31AE7}" srcOrd="0" destOrd="0" presId="urn:microsoft.com/office/officeart/2005/8/layout/hierarchy4"/>
    <dgm:cxn modelId="{65B520F2-302E-F94C-BE6C-1E057885D4F2}" type="presParOf" srcId="{7BFE976B-364A-A94E-80A8-CD431F3AE319}" destId="{2D74488C-536B-D748-822D-FC9A13839A21}" srcOrd="1" destOrd="0" presId="urn:microsoft.com/office/officeart/2005/8/layout/hierarchy4"/>
    <dgm:cxn modelId="{7555E703-B502-5F4E-AA45-54B8B4B019E8}" type="presParOf" srcId="{7BFE976B-364A-A94E-80A8-CD431F3AE319}" destId="{12AB2086-24F7-8544-927D-3CB5C814A461}" srcOrd="2" destOrd="0" presId="urn:microsoft.com/office/officeart/2005/8/layout/hierarchy4"/>
    <dgm:cxn modelId="{1CD69F52-8817-B349-B856-840A99239CB8}" type="presParOf" srcId="{12AB2086-24F7-8544-927D-3CB5C814A461}" destId="{36AB126C-5FCC-3B43-8CDA-B38C9CFF0C24}" srcOrd="0" destOrd="0" presId="urn:microsoft.com/office/officeart/2005/8/layout/hierarchy4"/>
    <dgm:cxn modelId="{C68E10F8-6DFC-694A-A33C-75162535ECA0}" type="presParOf" srcId="{36AB126C-5FCC-3B43-8CDA-B38C9CFF0C24}" destId="{DD78D3D3-E9D3-1B47-9AEF-70E2E20C88B0}" srcOrd="0" destOrd="0" presId="urn:microsoft.com/office/officeart/2005/8/layout/hierarchy4"/>
    <dgm:cxn modelId="{23C37FBE-A688-FA43-952C-5DF0DC4EFF2F}" type="presParOf" srcId="{36AB126C-5FCC-3B43-8CDA-B38C9CFF0C24}" destId="{5571BD1E-688C-024A-BC97-D517C2CF0F70}"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363227-6E86-AA43-9DBE-A8AC6B4BCF46}"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US"/>
        </a:p>
      </dgm:t>
    </dgm:pt>
    <dgm:pt modelId="{71C6CD16-2779-CD40-8010-3F2D77154F7A}">
      <dgm:prSet phldrT="[Text]"/>
      <dgm:spPr/>
      <dgm:t>
        <a:bodyPr/>
        <a:lstStyle/>
        <a:p>
          <a:r>
            <a:rPr lang="en-US" dirty="0"/>
            <a:t>Heart disease</a:t>
          </a:r>
        </a:p>
      </dgm:t>
    </dgm:pt>
    <dgm:pt modelId="{C3E2937B-01E1-FE4C-A307-391FF97CA389}" type="parTrans" cxnId="{97D9B946-DF21-6D4C-BA53-79C157949ADA}">
      <dgm:prSet/>
      <dgm:spPr/>
      <dgm:t>
        <a:bodyPr/>
        <a:lstStyle/>
        <a:p>
          <a:endParaRPr lang="en-US"/>
        </a:p>
      </dgm:t>
    </dgm:pt>
    <dgm:pt modelId="{7E6F3BF8-61BB-5140-B219-C6C24F333F46}" type="sibTrans" cxnId="{97D9B946-DF21-6D4C-BA53-79C157949ADA}">
      <dgm:prSet/>
      <dgm:spPr/>
      <dgm:t>
        <a:bodyPr/>
        <a:lstStyle/>
        <a:p>
          <a:endParaRPr lang="en-US"/>
        </a:p>
      </dgm:t>
    </dgm:pt>
    <dgm:pt modelId="{9F3676FF-94D9-F54A-BC32-96CFA26312C8}">
      <dgm:prSet phldrT="[Text]"/>
      <dgm:spPr/>
      <dgm:t>
        <a:bodyPr/>
        <a:lstStyle/>
        <a:p>
          <a:r>
            <a:rPr lang="en-US" dirty="0"/>
            <a:t>Acute heart disease</a:t>
          </a:r>
        </a:p>
      </dgm:t>
    </dgm:pt>
    <dgm:pt modelId="{0522DA5C-FBDC-9449-9A57-E8D3C662C728}" type="parTrans" cxnId="{1B0906B8-5AE5-454C-B4AA-81A7FB09E1EF}">
      <dgm:prSet/>
      <dgm:spPr/>
      <dgm:t>
        <a:bodyPr/>
        <a:lstStyle/>
        <a:p>
          <a:endParaRPr lang="en-US"/>
        </a:p>
      </dgm:t>
    </dgm:pt>
    <dgm:pt modelId="{AD979E7E-43BF-EF45-921A-199AF1C9CE82}" type="sibTrans" cxnId="{1B0906B8-5AE5-454C-B4AA-81A7FB09E1EF}">
      <dgm:prSet/>
      <dgm:spPr/>
      <dgm:t>
        <a:bodyPr/>
        <a:lstStyle/>
        <a:p>
          <a:endParaRPr lang="en-US"/>
        </a:p>
      </dgm:t>
    </dgm:pt>
    <dgm:pt modelId="{AF370BE0-D668-F94E-AF1B-9CD669EA8856}">
      <dgm:prSet phldrT="[Text]"/>
      <dgm:spPr/>
      <dgm:t>
        <a:bodyPr/>
        <a:lstStyle/>
        <a:p>
          <a:r>
            <a:rPr lang="en-US" dirty="0"/>
            <a:t>Athlete's heart</a:t>
          </a:r>
        </a:p>
      </dgm:t>
    </dgm:pt>
    <dgm:pt modelId="{304DA6B0-F6C4-8A4E-ACC9-DC2FA2D4DDFF}" type="parTrans" cxnId="{D2C42065-DE6A-E544-8332-424F7E362653}">
      <dgm:prSet/>
      <dgm:spPr/>
      <dgm:t>
        <a:bodyPr/>
        <a:lstStyle/>
        <a:p>
          <a:endParaRPr lang="en-US"/>
        </a:p>
      </dgm:t>
    </dgm:pt>
    <dgm:pt modelId="{C981A65B-DD5B-0041-B5F9-A8AD67ABD0DB}" type="sibTrans" cxnId="{D2C42065-DE6A-E544-8332-424F7E362653}">
      <dgm:prSet/>
      <dgm:spPr/>
      <dgm:t>
        <a:bodyPr/>
        <a:lstStyle/>
        <a:p>
          <a:endParaRPr lang="en-US"/>
        </a:p>
      </dgm:t>
    </dgm:pt>
    <dgm:pt modelId="{C417E01D-F827-9746-86C8-5A6C32CEC114}">
      <dgm:prSet phldrT="[Text]"/>
      <dgm:spPr/>
      <dgm:t>
        <a:bodyPr/>
        <a:lstStyle/>
        <a:p>
          <a:r>
            <a:rPr lang="en-US" dirty="0"/>
            <a:t>Cardiac arrhythmia</a:t>
          </a:r>
        </a:p>
      </dgm:t>
    </dgm:pt>
    <dgm:pt modelId="{14A2E2CB-C2A3-A544-9872-9D64E1A28B66}" type="parTrans" cxnId="{35AB7EC5-6C1D-9448-B808-6B5C433E4F0B}">
      <dgm:prSet/>
      <dgm:spPr/>
      <dgm:t>
        <a:bodyPr/>
        <a:lstStyle/>
        <a:p>
          <a:endParaRPr lang="en-US"/>
        </a:p>
      </dgm:t>
    </dgm:pt>
    <dgm:pt modelId="{4AF1BA4C-89E9-0E41-B21F-9EB96431971A}" type="sibTrans" cxnId="{35AB7EC5-6C1D-9448-B808-6B5C433E4F0B}">
      <dgm:prSet/>
      <dgm:spPr/>
      <dgm:t>
        <a:bodyPr/>
        <a:lstStyle/>
        <a:p>
          <a:endParaRPr lang="en-US"/>
        </a:p>
      </dgm:t>
    </dgm:pt>
    <dgm:pt modelId="{AF3EACD1-05E0-F145-AD1A-089542EBFD2A}">
      <dgm:prSet/>
      <dgm:spPr/>
      <dgm:t>
        <a:bodyPr/>
        <a:lstStyle/>
        <a:p>
          <a:r>
            <a:rPr lang="en-US" dirty="0"/>
            <a:t>Cardiac arrest</a:t>
          </a:r>
        </a:p>
      </dgm:t>
    </dgm:pt>
    <dgm:pt modelId="{B37A6EA9-78A4-504E-8197-FC765E6535C0}" type="parTrans" cxnId="{FC620447-9E54-024B-8403-E31039E7365B}">
      <dgm:prSet/>
      <dgm:spPr/>
      <dgm:t>
        <a:bodyPr/>
        <a:lstStyle/>
        <a:p>
          <a:endParaRPr lang="en-US"/>
        </a:p>
      </dgm:t>
    </dgm:pt>
    <dgm:pt modelId="{8C500C70-D0EA-004D-B77F-2AA39E6A3D02}" type="sibTrans" cxnId="{FC620447-9E54-024B-8403-E31039E7365B}">
      <dgm:prSet/>
      <dgm:spPr/>
      <dgm:t>
        <a:bodyPr/>
        <a:lstStyle/>
        <a:p>
          <a:endParaRPr lang="en-US"/>
        </a:p>
      </dgm:t>
    </dgm:pt>
    <dgm:pt modelId="{4710E373-3EC1-B644-B79A-E563C1933574}">
      <dgm:prSet/>
      <dgm:spPr/>
      <dgm:t>
        <a:bodyPr/>
        <a:lstStyle/>
        <a:p>
          <a:r>
            <a:rPr lang="en-US" dirty="0"/>
            <a:t>Supraventricular arrythmia</a:t>
          </a:r>
        </a:p>
      </dgm:t>
    </dgm:pt>
    <dgm:pt modelId="{F92E98F3-137A-CB47-83A1-2B09C8594BA7}" type="parTrans" cxnId="{EE1EF849-5D8B-8246-A673-9D874912A815}">
      <dgm:prSet/>
      <dgm:spPr/>
      <dgm:t>
        <a:bodyPr/>
        <a:lstStyle/>
        <a:p>
          <a:endParaRPr lang="en-US"/>
        </a:p>
      </dgm:t>
    </dgm:pt>
    <dgm:pt modelId="{CCB95A86-9DD3-9542-BBBD-C9D1E82BC8A5}" type="sibTrans" cxnId="{EE1EF849-5D8B-8246-A673-9D874912A815}">
      <dgm:prSet/>
      <dgm:spPr/>
      <dgm:t>
        <a:bodyPr/>
        <a:lstStyle/>
        <a:p>
          <a:endParaRPr lang="en-US"/>
        </a:p>
      </dgm:t>
    </dgm:pt>
    <dgm:pt modelId="{7954507D-600A-0A4F-8CBC-239B3E9FC6B6}">
      <dgm:prSet/>
      <dgm:spPr>
        <a:solidFill>
          <a:schemeClr val="accent2">
            <a:lumMod val="20000"/>
            <a:lumOff val="80000"/>
          </a:schemeClr>
        </a:solidFill>
      </dgm:spPr>
      <dgm:t>
        <a:bodyPr/>
        <a:lstStyle/>
        <a:p>
          <a:r>
            <a:rPr lang="en-US" dirty="0"/>
            <a:t>Atrial fibrillation</a:t>
          </a:r>
        </a:p>
      </dgm:t>
    </dgm:pt>
    <dgm:pt modelId="{3E19AB49-D0E3-654F-8965-D16D5847856E}" type="parTrans" cxnId="{701D7618-A4E6-544C-8374-053A8714E38D}">
      <dgm:prSet/>
      <dgm:spPr/>
      <dgm:t>
        <a:bodyPr/>
        <a:lstStyle/>
        <a:p>
          <a:endParaRPr lang="en-US"/>
        </a:p>
      </dgm:t>
    </dgm:pt>
    <dgm:pt modelId="{CB63FE1D-3111-7B4A-A9A9-CA2EFD4BD362}" type="sibTrans" cxnId="{701D7618-A4E6-544C-8374-053A8714E38D}">
      <dgm:prSet/>
      <dgm:spPr/>
      <dgm:t>
        <a:bodyPr/>
        <a:lstStyle/>
        <a:p>
          <a:endParaRPr lang="en-US"/>
        </a:p>
      </dgm:t>
    </dgm:pt>
    <dgm:pt modelId="{494077E8-5E6D-5B4E-9FB2-0A17A295C47C}">
      <dgm:prSet/>
      <dgm:spPr/>
      <dgm:t>
        <a:bodyPr/>
        <a:lstStyle/>
        <a:p>
          <a:r>
            <a:rPr lang="en-US" dirty="0"/>
            <a:t>Etc.</a:t>
          </a:r>
        </a:p>
      </dgm:t>
    </dgm:pt>
    <dgm:pt modelId="{BA69E823-7A07-F34B-A06D-0AE38CCB1F96}" type="parTrans" cxnId="{39D68D21-4A25-5C45-8DF4-23B18D81CD56}">
      <dgm:prSet/>
      <dgm:spPr/>
      <dgm:t>
        <a:bodyPr/>
        <a:lstStyle/>
        <a:p>
          <a:endParaRPr lang="en-US"/>
        </a:p>
      </dgm:t>
    </dgm:pt>
    <dgm:pt modelId="{504470BC-A19A-C645-9767-8A4701A526AF}" type="sibTrans" cxnId="{39D68D21-4A25-5C45-8DF4-23B18D81CD56}">
      <dgm:prSet/>
      <dgm:spPr/>
      <dgm:t>
        <a:bodyPr/>
        <a:lstStyle/>
        <a:p>
          <a:endParaRPr lang="en-US"/>
        </a:p>
      </dgm:t>
    </dgm:pt>
    <dgm:pt modelId="{5BB98DEA-3F2A-A544-92EB-F67EF402D31D}">
      <dgm:prSet/>
      <dgm:spPr/>
      <dgm:t>
        <a:bodyPr/>
        <a:lstStyle/>
        <a:p>
          <a:r>
            <a:rPr lang="en-US" dirty="0"/>
            <a:t>Etc.</a:t>
          </a:r>
        </a:p>
      </dgm:t>
    </dgm:pt>
    <dgm:pt modelId="{95A7CD37-315A-9C42-BE0D-C8499652D7B1}" type="parTrans" cxnId="{220ABDB6-C557-944E-9589-D3F0BDDC6B15}">
      <dgm:prSet/>
      <dgm:spPr/>
      <dgm:t>
        <a:bodyPr/>
        <a:lstStyle/>
        <a:p>
          <a:endParaRPr lang="en-US"/>
        </a:p>
      </dgm:t>
    </dgm:pt>
    <dgm:pt modelId="{EB05DE2D-BCB1-C64E-A28F-E3974537225F}" type="sibTrans" cxnId="{220ABDB6-C557-944E-9589-D3F0BDDC6B15}">
      <dgm:prSet/>
      <dgm:spPr/>
      <dgm:t>
        <a:bodyPr/>
        <a:lstStyle/>
        <a:p>
          <a:endParaRPr lang="en-US"/>
        </a:p>
      </dgm:t>
    </dgm:pt>
    <dgm:pt modelId="{CDF369F9-6C67-4442-B549-B6A157A4C406}">
      <dgm:prSet/>
      <dgm:spPr/>
      <dgm:t>
        <a:bodyPr/>
        <a:lstStyle/>
        <a:p>
          <a:r>
            <a:rPr lang="en-US" dirty="0"/>
            <a:t>Etc.</a:t>
          </a:r>
        </a:p>
      </dgm:t>
    </dgm:pt>
    <dgm:pt modelId="{94752E68-9B48-7849-88FE-AA1BA01496C4}" type="parTrans" cxnId="{6156658D-5C6A-2548-AB1B-477051BA94EE}">
      <dgm:prSet/>
      <dgm:spPr/>
      <dgm:t>
        <a:bodyPr/>
        <a:lstStyle/>
        <a:p>
          <a:endParaRPr lang="en-US"/>
        </a:p>
      </dgm:t>
    </dgm:pt>
    <dgm:pt modelId="{279FDCA9-3864-EC4D-9055-C8A12C9D917B}" type="sibTrans" cxnId="{6156658D-5C6A-2548-AB1B-477051BA94EE}">
      <dgm:prSet/>
      <dgm:spPr/>
      <dgm:t>
        <a:bodyPr/>
        <a:lstStyle/>
        <a:p>
          <a:endParaRPr lang="en-US"/>
        </a:p>
      </dgm:t>
    </dgm:pt>
    <dgm:pt modelId="{CDDEC35A-B282-8D40-96B3-39C09794D930}" type="pres">
      <dgm:prSet presAssocID="{F5363227-6E86-AA43-9DBE-A8AC6B4BCF46}" presName="hierChild1" presStyleCnt="0">
        <dgm:presLayoutVars>
          <dgm:chPref val="1"/>
          <dgm:dir/>
          <dgm:animOne val="branch"/>
          <dgm:animLvl val="lvl"/>
          <dgm:resizeHandles/>
        </dgm:presLayoutVars>
      </dgm:prSet>
      <dgm:spPr/>
    </dgm:pt>
    <dgm:pt modelId="{C02BD740-0ECC-5542-B3FB-C90C400619E2}" type="pres">
      <dgm:prSet presAssocID="{71C6CD16-2779-CD40-8010-3F2D77154F7A}" presName="hierRoot1" presStyleCnt="0"/>
      <dgm:spPr/>
    </dgm:pt>
    <dgm:pt modelId="{88049DD4-A468-E146-A503-21F28675D727}" type="pres">
      <dgm:prSet presAssocID="{71C6CD16-2779-CD40-8010-3F2D77154F7A}" presName="composite" presStyleCnt="0"/>
      <dgm:spPr/>
    </dgm:pt>
    <dgm:pt modelId="{07328983-37D5-9B43-BC65-1303DA9E504B}" type="pres">
      <dgm:prSet presAssocID="{71C6CD16-2779-CD40-8010-3F2D77154F7A}" presName="background" presStyleLbl="node0" presStyleIdx="0" presStyleCnt="1"/>
      <dgm:spPr>
        <a:noFill/>
        <a:ln>
          <a:noFill/>
        </a:ln>
      </dgm:spPr>
    </dgm:pt>
    <dgm:pt modelId="{AC0F9680-A9E1-1348-A090-FDA03091B201}" type="pres">
      <dgm:prSet presAssocID="{71C6CD16-2779-CD40-8010-3F2D77154F7A}" presName="text" presStyleLbl="fgAcc0" presStyleIdx="0" presStyleCnt="1">
        <dgm:presLayoutVars>
          <dgm:chPref val="3"/>
        </dgm:presLayoutVars>
      </dgm:prSet>
      <dgm:spPr/>
    </dgm:pt>
    <dgm:pt modelId="{8CB805F9-AB9A-024F-B2FD-00B1C23E203E}" type="pres">
      <dgm:prSet presAssocID="{71C6CD16-2779-CD40-8010-3F2D77154F7A}" presName="hierChild2" presStyleCnt="0"/>
      <dgm:spPr/>
    </dgm:pt>
    <dgm:pt modelId="{6419EBB7-18E9-2A40-920A-13A0FD9DD72E}" type="pres">
      <dgm:prSet presAssocID="{14A2E2CB-C2A3-A544-9872-9D64E1A28B66}" presName="Name10" presStyleLbl="parChTrans1D2" presStyleIdx="0" presStyleCnt="4"/>
      <dgm:spPr/>
    </dgm:pt>
    <dgm:pt modelId="{C72184C6-FA2D-4645-AB67-F9F9D63515DF}" type="pres">
      <dgm:prSet presAssocID="{C417E01D-F827-9746-86C8-5A6C32CEC114}" presName="hierRoot2" presStyleCnt="0"/>
      <dgm:spPr/>
    </dgm:pt>
    <dgm:pt modelId="{8B810810-9E8C-F349-9D56-2C791B7F3665}" type="pres">
      <dgm:prSet presAssocID="{C417E01D-F827-9746-86C8-5A6C32CEC114}" presName="composite2" presStyleCnt="0"/>
      <dgm:spPr/>
    </dgm:pt>
    <dgm:pt modelId="{FBD2DFE1-EDBA-3344-B01A-E6D1A0BD2508}" type="pres">
      <dgm:prSet presAssocID="{C417E01D-F827-9746-86C8-5A6C32CEC114}" presName="background2" presStyleLbl="node2" presStyleIdx="0" presStyleCnt="4"/>
      <dgm:spPr>
        <a:noFill/>
        <a:ln>
          <a:noFill/>
        </a:ln>
      </dgm:spPr>
    </dgm:pt>
    <dgm:pt modelId="{4C50B67E-7C1D-C741-AE36-4D5FEEC5A655}" type="pres">
      <dgm:prSet presAssocID="{C417E01D-F827-9746-86C8-5A6C32CEC114}" presName="text2" presStyleLbl="fgAcc2" presStyleIdx="0" presStyleCnt="4">
        <dgm:presLayoutVars>
          <dgm:chPref val="3"/>
        </dgm:presLayoutVars>
      </dgm:prSet>
      <dgm:spPr/>
    </dgm:pt>
    <dgm:pt modelId="{8402B143-6856-6049-B422-E3F665BEB9BB}" type="pres">
      <dgm:prSet presAssocID="{C417E01D-F827-9746-86C8-5A6C32CEC114}" presName="hierChild3" presStyleCnt="0"/>
      <dgm:spPr/>
    </dgm:pt>
    <dgm:pt modelId="{EF49D93C-4944-854E-8B56-8DF0A9E144FB}" type="pres">
      <dgm:prSet presAssocID="{B37A6EA9-78A4-504E-8197-FC765E6535C0}" presName="Name17" presStyleLbl="parChTrans1D3" presStyleIdx="0" presStyleCnt="3"/>
      <dgm:spPr/>
    </dgm:pt>
    <dgm:pt modelId="{5AE5A0B1-0A52-D641-A5A0-07F01E4D03F7}" type="pres">
      <dgm:prSet presAssocID="{AF3EACD1-05E0-F145-AD1A-089542EBFD2A}" presName="hierRoot3" presStyleCnt="0"/>
      <dgm:spPr/>
    </dgm:pt>
    <dgm:pt modelId="{86A81F36-A1E7-5245-8E94-9D56B0BE2D91}" type="pres">
      <dgm:prSet presAssocID="{AF3EACD1-05E0-F145-AD1A-089542EBFD2A}" presName="composite3" presStyleCnt="0"/>
      <dgm:spPr/>
    </dgm:pt>
    <dgm:pt modelId="{D85FABB1-5524-FB44-A35B-E6D4A1B4B1A6}" type="pres">
      <dgm:prSet presAssocID="{AF3EACD1-05E0-F145-AD1A-089542EBFD2A}" presName="background3" presStyleLbl="node3" presStyleIdx="0" presStyleCnt="3"/>
      <dgm:spPr>
        <a:noFill/>
        <a:ln>
          <a:noFill/>
        </a:ln>
      </dgm:spPr>
    </dgm:pt>
    <dgm:pt modelId="{BCABD26D-C24A-E043-8E0F-1CC8B9D45C40}" type="pres">
      <dgm:prSet presAssocID="{AF3EACD1-05E0-F145-AD1A-089542EBFD2A}" presName="text3" presStyleLbl="fgAcc3" presStyleIdx="0" presStyleCnt="3">
        <dgm:presLayoutVars>
          <dgm:chPref val="3"/>
        </dgm:presLayoutVars>
      </dgm:prSet>
      <dgm:spPr/>
    </dgm:pt>
    <dgm:pt modelId="{C309BDDC-6F35-2842-B75C-9ED37A223F1E}" type="pres">
      <dgm:prSet presAssocID="{AF3EACD1-05E0-F145-AD1A-089542EBFD2A}" presName="hierChild4" presStyleCnt="0"/>
      <dgm:spPr/>
    </dgm:pt>
    <dgm:pt modelId="{24305311-5D44-844D-A214-AE8C71286F5A}" type="pres">
      <dgm:prSet presAssocID="{F92E98F3-137A-CB47-83A1-2B09C8594BA7}" presName="Name17" presStyleLbl="parChTrans1D3" presStyleIdx="1" presStyleCnt="3"/>
      <dgm:spPr/>
    </dgm:pt>
    <dgm:pt modelId="{D6DB41C4-DB7B-0E42-94F3-71EF1D3D03F4}" type="pres">
      <dgm:prSet presAssocID="{4710E373-3EC1-B644-B79A-E563C1933574}" presName="hierRoot3" presStyleCnt="0"/>
      <dgm:spPr/>
    </dgm:pt>
    <dgm:pt modelId="{D5217A1B-56B7-F247-ADCC-664C5CD620F0}" type="pres">
      <dgm:prSet presAssocID="{4710E373-3EC1-B644-B79A-E563C1933574}" presName="composite3" presStyleCnt="0"/>
      <dgm:spPr/>
    </dgm:pt>
    <dgm:pt modelId="{09223196-1DFC-174A-AAC3-14B6604284E2}" type="pres">
      <dgm:prSet presAssocID="{4710E373-3EC1-B644-B79A-E563C1933574}" presName="background3" presStyleLbl="node3" presStyleIdx="1" presStyleCnt="3"/>
      <dgm:spPr>
        <a:noFill/>
        <a:ln>
          <a:noFill/>
        </a:ln>
      </dgm:spPr>
    </dgm:pt>
    <dgm:pt modelId="{1B01160B-5979-EA4A-92F7-D431A605DCAC}" type="pres">
      <dgm:prSet presAssocID="{4710E373-3EC1-B644-B79A-E563C1933574}" presName="text3" presStyleLbl="fgAcc3" presStyleIdx="1" presStyleCnt="3">
        <dgm:presLayoutVars>
          <dgm:chPref val="3"/>
        </dgm:presLayoutVars>
      </dgm:prSet>
      <dgm:spPr/>
    </dgm:pt>
    <dgm:pt modelId="{AE37AA08-9C4B-F64B-860B-1F76462C3A34}" type="pres">
      <dgm:prSet presAssocID="{4710E373-3EC1-B644-B79A-E563C1933574}" presName="hierChild4" presStyleCnt="0"/>
      <dgm:spPr/>
    </dgm:pt>
    <dgm:pt modelId="{8806801D-D181-E349-AC82-4493D341FD62}" type="pres">
      <dgm:prSet presAssocID="{3E19AB49-D0E3-654F-8965-D16D5847856E}" presName="Name23" presStyleLbl="parChTrans1D4" presStyleIdx="0" presStyleCnt="2"/>
      <dgm:spPr/>
    </dgm:pt>
    <dgm:pt modelId="{EDCC0299-E2C5-D946-AC47-0CB04F70FB33}" type="pres">
      <dgm:prSet presAssocID="{7954507D-600A-0A4F-8CBC-239B3E9FC6B6}" presName="hierRoot4" presStyleCnt="0"/>
      <dgm:spPr/>
    </dgm:pt>
    <dgm:pt modelId="{BCB7164E-5A70-C044-B6A2-09AA22359ECD}" type="pres">
      <dgm:prSet presAssocID="{7954507D-600A-0A4F-8CBC-239B3E9FC6B6}" presName="composite4" presStyleCnt="0"/>
      <dgm:spPr/>
    </dgm:pt>
    <dgm:pt modelId="{C6AC1CEA-1BB0-874F-80E2-1CF493D7D182}" type="pres">
      <dgm:prSet presAssocID="{7954507D-600A-0A4F-8CBC-239B3E9FC6B6}" presName="background4" presStyleLbl="node4" presStyleIdx="0" presStyleCnt="2"/>
      <dgm:spPr>
        <a:noFill/>
        <a:ln>
          <a:noFill/>
        </a:ln>
      </dgm:spPr>
    </dgm:pt>
    <dgm:pt modelId="{DB7F57F6-B8C7-494F-B2DE-8CB7FB32D725}" type="pres">
      <dgm:prSet presAssocID="{7954507D-600A-0A4F-8CBC-239B3E9FC6B6}" presName="text4" presStyleLbl="fgAcc4" presStyleIdx="0" presStyleCnt="2" custLinFactNeighborY="0">
        <dgm:presLayoutVars>
          <dgm:chPref val="3"/>
        </dgm:presLayoutVars>
      </dgm:prSet>
      <dgm:spPr/>
    </dgm:pt>
    <dgm:pt modelId="{48C2FFBD-0121-F24E-BC35-3920B06AF4B1}" type="pres">
      <dgm:prSet presAssocID="{7954507D-600A-0A4F-8CBC-239B3E9FC6B6}" presName="hierChild5" presStyleCnt="0"/>
      <dgm:spPr/>
    </dgm:pt>
    <dgm:pt modelId="{77C72FC0-5DC6-1F40-BA1C-B9E0400B66A5}" type="pres">
      <dgm:prSet presAssocID="{94752E68-9B48-7849-88FE-AA1BA01496C4}" presName="Name23" presStyleLbl="parChTrans1D4" presStyleIdx="1" presStyleCnt="2"/>
      <dgm:spPr/>
    </dgm:pt>
    <dgm:pt modelId="{1B3A417E-0BF7-8A47-8071-21ECCE4266D3}" type="pres">
      <dgm:prSet presAssocID="{CDF369F9-6C67-4442-B549-B6A157A4C406}" presName="hierRoot4" presStyleCnt="0"/>
      <dgm:spPr/>
    </dgm:pt>
    <dgm:pt modelId="{EFAAFDFC-4586-0844-97B1-FD52FEC3842F}" type="pres">
      <dgm:prSet presAssocID="{CDF369F9-6C67-4442-B549-B6A157A4C406}" presName="composite4" presStyleCnt="0"/>
      <dgm:spPr/>
    </dgm:pt>
    <dgm:pt modelId="{F5C227BC-2A1B-0443-A781-50F928832A26}" type="pres">
      <dgm:prSet presAssocID="{CDF369F9-6C67-4442-B549-B6A157A4C406}" presName="background4" presStyleLbl="node4" presStyleIdx="1" presStyleCnt="2"/>
      <dgm:spPr>
        <a:noFill/>
        <a:ln>
          <a:noFill/>
        </a:ln>
      </dgm:spPr>
    </dgm:pt>
    <dgm:pt modelId="{7FC4F66C-7E75-FA49-93FB-90887BDD3039}" type="pres">
      <dgm:prSet presAssocID="{CDF369F9-6C67-4442-B549-B6A157A4C406}" presName="text4" presStyleLbl="fgAcc4" presStyleIdx="1" presStyleCnt="2">
        <dgm:presLayoutVars>
          <dgm:chPref val="3"/>
        </dgm:presLayoutVars>
      </dgm:prSet>
      <dgm:spPr/>
    </dgm:pt>
    <dgm:pt modelId="{C3D15556-E36D-AF44-95F6-3C212E53B011}" type="pres">
      <dgm:prSet presAssocID="{CDF369F9-6C67-4442-B549-B6A157A4C406}" presName="hierChild5" presStyleCnt="0"/>
      <dgm:spPr/>
    </dgm:pt>
    <dgm:pt modelId="{AB9D5C78-8857-C446-BD48-6662FB823932}" type="pres">
      <dgm:prSet presAssocID="{95A7CD37-315A-9C42-BE0D-C8499652D7B1}" presName="Name17" presStyleLbl="parChTrans1D3" presStyleIdx="2" presStyleCnt="3"/>
      <dgm:spPr/>
    </dgm:pt>
    <dgm:pt modelId="{B1A90613-7E4E-5F4C-9CFB-6048DD049F71}" type="pres">
      <dgm:prSet presAssocID="{5BB98DEA-3F2A-A544-92EB-F67EF402D31D}" presName="hierRoot3" presStyleCnt="0"/>
      <dgm:spPr/>
    </dgm:pt>
    <dgm:pt modelId="{156BD879-5A5D-7343-BE3E-1143CEA757E3}" type="pres">
      <dgm:prSet presAssocID="{5BB98DEA-3F2A-A544-92EB-F67EF402D31D}" presName="composite3" presStyleCnt="0"/>
      <dgm:spPr/>
    </dgm:pt>
    <dgm:pt modelId="{9A7DFF09-8369-8247-A19F-5BE1AE9D9CDD}" type="pres">
      <dgm:prSet presAssocID="{5BB98DEA-3F2A-A544-92EB-F67EF402D31D}" presName="background3" presStyleLbl="node3" presStyleIdx="2" presStyleCnt="3"/>
      <dgm:spPr>
        <a:noFill/>
        <a:ln>
          <a:noFill/>
        </a:ln>
      </dgm:spPr>
    </dgm:pt>
    <dgm:pt modelId="{DE32AB1E-B62D-2946-A4A9-997482CDC1EF}" type="pres">
      <dgm:prSet presAssocID="{5BB98DEA-3F2A-A544-92EB-F67EF402D31D}" presName="text3" presStyleLbl="fgAcc3" presStyleIdx="2" presStyleCnt="3">
        <dgm:presLayoutVars>
          <dgm:chPref val="3"/>
        </dgm:presLayoutVars>
      </dgm:prSet>
      <dgm:spPr/>
    </dgm:pt>
    <dgm:pt modelId="{E1448585-8B72-304A-AA09-CF8E6807838A}" type="pres">
      <dgm:prSet presAssocID="{5BB98DEA-3F2A-A544-92EB-F67EF402D31D}" presName="hierChild4" presStyleCnt="0"/>
      <dgm:spPr/>
    </dgm:pt>
    <dgm:pt modelId="{6ED5D991-6FB0-254E-9E6B-F7D6E99DADBB}" type="pres">
      <dgm:prSet presAssocID="{0522DA5C-FBDC-9449-9A57-E8D3C662C728}" presName="Name10" presStyleLbl="parChTrans1D2" presStyleIdx="1" presStyleCnt="4"/>
      <dgm:spPr/>
    </dgm:pt>
    <dgm:pt modelId="{2CE11678-1840-E041-BF81-78DA7C2E18E5}" type="pres">
      <dgm:prSet presAssocID="{9F3676FF-94D9-F54A-BC32-96CFA26312C8}" presName="hierRoot2" presStyleCnt="0"/>
      <dgm:spPr/>
    </dgm:pt>
    <dgm:pt modelId="{A093DDE0-F592-BA47-90B8-1D10EAB4D2C2}" type="pres">
      <dgm:prSet presAssocID="{9F3676FF-94D9-F54A-BC32-96CFA26312C8}" presName="composite2" presStyleCnt="0"/>
      <dgm:spPr/>
    </dgm:pt>
    <dgm:pt modelId="{1F7EADFD-372D-E646-85AB-59C636000941}" type="pres">
      <dgm:prSet presAssocID="{9F3676FF-94D9-F54A-BC32-96CFA26312C8}" presName="background2" presStyleLbl="node2" presStyleIdx="1" presStyleCnt="4"/>
      <dgm:spPr>
        <a:noFill/>
        <a:ln>
          <a:noFill/>
        </a:ln>
      </dgm:spPr>
    </dgm:pt>
    <dgm:pt modelId="{3D294D3E-6FD1-BE4B-9ED3-4A9F91238FAB}" type="pres">
      <dgm:prSet presAssocID="{9F3676FF-94D9-F54A-BC32-96CFA26312C8}" presName="text2" presStyleLbl="fgAcc2" presStyleIdx="1" presStyleCnt="4">
        <dgm:presLayoutVars>
          <dgm:chPref val="3"/>
        </dgm:presLayoutVars>
      </dgm:prSet>
      <dgm:spPr/>
    </dgm:pt>
    <dgm:pt modelId="{489870F3-98DE-9648-A949-9B54F59F61EB}" type="pres">
      <dgm:prSet presAssocID="{9F3676FF-94D9-F54A-BC32-96CFA26312C8}" presName="hierChild3" presStyleCnt="0"/>
      <dgm:spPr/>
    </dgm:pt>
    <dgm:pt modelId="{2596C199-6225-CB49-A112-27F247ECE7BA}" type="pres">
      <dgm:prSet presAssocID="{304DA6B0-F6C4-8A4E-ACC9-DC2FA2D4DDFF}" presName="Name10" presStyleLbl="parChTrans1D2" presStyleIdx="2" presStyleCnt="4"/>
      <dgm:spPr/>
    </dgm:pt>
    <dgm:pt modelId="{76A2B5FE-5F06-7542-A786-A430EBA3EF4E}" type="pres">
      <dgm:prSet presAssocID="{AF370BE0-D668-F94E-AF1B-9CD669EA8856}" presName="hierRoot2" presStyleCnt="0"/>
      <dgm:spPr/>
    </dgm:pt>
    <dgm:pt modelId="{5FA6A395-A876-B84E-8380-725680795781}" type="pres">
      <dgm:prSet presAssocID="{AF370BE0-D668-F94E-AF1B-9CD669EA8856}" presName="composite2" presStyleCnt="0"/>
      <dgm:spPr/>
    </dgm:pt>
    <dgm:pt modelId="{1C90F586-CB6F-3F49-84E8-78CA25A25991}" type="pres">
      <dgm:prSet presAssocID="{AF370BE0-D668-F94E-AF1B-9CD669EA8856}" presName="background2" presStyleLbl="node2" presStyleIdx="2" presStyleCnt="4"/>
      <dgm:spPr>
        <a:noFill/>
        <a:ln>
          <a:noFill/>
        </a:ln>
      </dgm:spPr>
    </dgm:pt>
    <dgm:pt modelId="{515728F1-38A6-B24A-9797-1CDDF1999C35}" type="pres">
      <dgm:prSet presAssocID="{AF370BE0-D668-F94E-AF1B-9CD669EA8856}" presName="text2" presStyleLbl="fgAcc2" presStyleIdx="2" presStyleCnt="4">
        <dgm:presLayoutVars>
          <dgm:chPref val="3"/>
        </dgm:presLayoutVars>
      </dgm:prSet>
      <dgm:spPr/>
    </dgm:pt>
    <dgm:pt modelId="{630A18DA-A9C2-3640-BCEB-32E73934FDAF}" type="pres">
      <dgm:prSet presAssocID="{AF370BE0-D668-F94E-AF1B-9CD669EA8856}" presName="hierChild3" presStyleCnt="0"/>
      <dgm:spPr/>
    </dgm:pt>
    <dgm:pt modelId="{40D14D86-1B39-7548-8D23-0EA69D1D64D9}" type="pres">
      <dgm:prSet presAssocID="{BA69E823-7A07-F34B-A06D-0AE38CCB1F96}" presName="Name10" presStyleLbl="parChTrans1D2" presStyleIdx="3" presStyleCnt="4"/>
      <dgm:spPr/>
    </dgm:pt>
    <dgm:pt modelId="{6A5CDC33-B681-3246-9AD9-86D76C272378}" type="pres">
      <dgm:prSet presAssocID="{494077E8-5E6D-5B4E-9FB2-0A17A295C47C}" presName="hierRoot2" presStyleCnt="0"/>
      <dgm:spPr/>
    </dgm:pt>
    <dgm:pt modelId="{4487F0D2-DC9B-1642-A48E-6EC71947324C}" type="pres">
      <dgm:prSet presAssocID="{494077E8-5E6D-5B4E-9FB2-0A17A295C47C}" presName="composite2" presStyleCnt="0"/>
      <dgm:spPr/>
    </dgm:pt>
    <dgm:pt modelId="{007A6E05-C4D5-2141-B01C-DABC6C7D53CE}" type="pres">
      <dgm:prSet presAssocID="{494077E8-5E6D-5B4E-9FB2-0A17A295C47C}" presName="background2" presStyleLbl="node2" presStyleIdx="3" presStyleCnt="4"/>
      <dgm:spPr>
        <a:noFill/>
        <a:ln>
          <a:noFill/>
        </a:ln>
      </dgm:spPr>
    </dgm:pt>
    <dgm:pt modelId="{C84F816E-3493-644A-A12B-982678B2ECEF}" type="pres">
      <dgm:prSet presAssocID="{494077E8-5E6D-5B4E-9FB2-0A17A295C47C}" presName="text2" presStyleLbl="fgAcc2" presStyleIdx="3" presStyleCnt="4">
        <dgm:presLayoutVars>
          <dgm:chPref val="3"/>
        </dgm:presLayoutVars>
      </dgm:prSet>
      <dgm:spPr/>
    </dgm:pt>
    <dgm:pt modelId="{276F9B00-A86A-2F44-A85B-83EDCF3200E4}" type="pres">
      <dgm:prSet presAssocID="{494077E8-5E6D-5B4E-9FB2-0A17A295C47C}" presName="hierChild3" presStyleCnt="0"/>
      <dgm:spPr/>
    </dgm:pt>
  </dgm:ptLst>
  <dgm:cxnLst>
    <dgm:cxn modelId="{FFFA6F0A-3A26-8E44-A059-45FA387B671F}" type="presOf" srcId="{5BB98DEA-3F2A-A544-92EB-F67EF402D31D}" destId="{DE32AB1E-B62D-2946-A4A9-997482CDC1EF}" srcOrd="0" destOrd="0" presId="urn:microsoft.com/office/officeart/2005/8/layout/hierarchy1"/>
    <dgm:cxn modelId="{ED294B0D-10BC-D04E-BEAD-D658D4B2A562}" type="presOf" srcId="{3E19AB49-D0E3-654F-8965-D16D5847856E}" destId="{8806801D-D181-E349-AC82-4493D341FD62}" srcOrd="0" destOrd="0" presId="urn:microsoft.com/office/officeart/2005/8/layout/hierarchy1"/>
    <dgm:cxn modelId="{EE431911-62CA-0C4D-977B-5A14B163FDAE}" type="presOf" srcId="{94752E68-9B48-7849-88FE-AA1BA01496C4}" destId="{77C72FC0-5DC6-1F40-BA1C-B9E0400B66A5}" srcOrd="0" destOrd="0" presId="urn:microsoft.com/office/officeart/2005/8/layout/hierarchy1"/>
    <dgm:cxn modelId="{701D7618-A4E6-544C-8374-053A8714E38D}" srcId="{4710E373-3EC1-B644-B79A-E563C1933574}" destId="{7954507D-600A-0A4F-8CBC-239B3E9FC6B6}" srcOrd="0" destOrd="0" parTransId="{3E19AB49-D0E3-654F-8965-D16D5847856E}" sibTransId="{CB63FE1D-3111-7B4A-A9A9-CA2EFD4BD362}"/>
    <dgm:cxn modelId="{2863C91D-E33E-2047-A406-4644D897B441}" type="presOf" srcId="{F92E98F3-137A-CB47-83A1-2B09C8594BA7}" destId="{24305311-5D44-844D-A214-AE8C71286F5A}" srcOrd="0" destOrd="0" presId="urn:microsoft.com/office/officeart/2005/8/layout/hierarchy1"/>
    <dgm:cxn modelId="{39D68D21-4A25-5C45-8DF4-23B18D81CD56}" srcId="{71C6CD16-2779-CD40-8010-3F2D77154F7A}" destId="{494077E8-5E6D-5B4E-9FB2-0A17A295C47C}" srcOrd="3" destOrd="0" parTransId="{BA69E823-7A07-F34B-A06D-0AE38CCB1F96}" sibTransId="{504470BC-A19A-C645-9767-8A4701A526AF}"/>
    <dgm:cxn modelId="{97D9B946-DF21-6D4C-BA53-79C157949ADA}" srcId="{F5363227-6E86-AA43-9DBE-A8AC6B4BCF46}" destId="{71C6CD16-2779-CD40-8010-3F2D77154F7A}" srcOrd="0" destOrd="0" parTransId="{C3E2937B-01E1-FE4C-A307-391FF97CA389}" sibTransId="{7E6F3BF8-61BB-5140-B219-C6C24F333F46}"/>
    <dgm:cxn modelId="{FC620447-9E54-024B-8403-E31039E7365B}" srcId="{C417E01D-F827-9746-86C8-5A6C32CEC114}" destId="{AF3EACD1-05E0-F145-AD1A-089542EBFD2A}" srcOrd="0" destOrd="0" parTransId="{B37A6EA9-78A4-504E-8197-FC765E6535C0}" sibTransId="{8C500C70-D0EA-004D-B77F-2AA39E6A3D02}"/>
    <dgm:cxn modelId="{EE1EF849-5D8B-8246-A673-9D874912A815}" srcId="{C417E01D-F827-9746-86C8-5A6C32CEC114}" destId="{4710E373-3EC1-B644-B79A-E563C1933574}" srcOrd="1" destOrd="0" parTransId="{F92E98F3-137A-CB47-83A1-2B09C8594BA7}" sibTransId="{CCB95A86-9DD3-9542-BBBD-C9D1E82BC8A5}"/>
    <dgm:cxn modelId="{E7054B53-50FA-0545-89E7-65EF1561A78D}" type="presOf" srcId="{494077E8-5E6D-5B4E-9FB2-0A17A295C47C}" destId="{C84F816E-3493-644A-A12B-982678B2ECEF}" srcOrd="0" destOrd="0" presId="urn:microsoft.com/office/officeart/2005/8/layout/hierarchy1"/>
    <dgm:cxn modelId="{F542D455-6B6C-1B41-8775-C2208CAB3F98}" type="presOf" srcId="{9F3676FF-94D9-F54A-BC32-96CFA26312C8}" destId="{3D294D3E-6FD1-BE4B-9ED3-4A9F91238FAB}" srcOrd="0" destOrd="0" presId="urn:microsoft.com/office/officeart/2005/8/layout/hierarchy1"/>
    <dgm:cxn modelId="{7616335A-7599-F748-AD6D-BC8453BE4C29}" type="presOf" srcId="{4710E373-3EC1-B644-B79A-E563C1933574}" destId="{1B01160B-5979-EA4A-92F7-D431A605DCAC}" srcOrd="0" destOrd="0" presId="urn:microsoft.com/office/officeart/2005/8/layout/hierarchy1"/>
    <dgm:cxn modelId="{D2C42065-DE6A-E544-8332-424F7E362653}" srcId="{71C6CD16-2779-CD40-8010-3F2D77154F7A}" destId="{AF370BE0-D668-F94E-AF1B-9CD669EA8856}" srcOrd="2" destOrd="0" parTransId="{304DA6B0-F6C4-8A4E-ACC9-DC2FA2D4DDFF}" sibTransId="{C981A65B-DD5B-0041-B5F9-A8AD67ABD0DB}"/>
    <dgm:cxn modelId="{24606865-D254-634E-A38B-FE0740B0D9BF}" type="presOf" srcId="{BA69E823-7A07-F34B-A06D-0AE38CCB1F96}" destId="{40D14D86-1B39-7548-8D23-0EA69D1D64D9}" srcOrd="0" destOrd="0" presId="urn:microsoft.com/office/officeart/2005/8/layout/hierarchy1"/>
    <dgm:cxn modelId="{53BBE668-7919-A74C-A2C5-C1FFF075F401}" type="presOf" srcId="{F5363227-6E86-AA43-9DBE-A8AC6B4BCF46}" destId="{CDDEC35A-B282-8D40-96B3-39C09794D930}" srcOrd="0" destOrd="0" presId="urn:microsoft.com/office/officeart/2005/8/layout/hierarchy1"/>
    <dgm:cxn modelId="{E38F487C-9BD4-D247-8040-360A92A7338A}" type="presOf" srcId="{AF370BE0-D668-F94E-AF1B-9CD669EA8856}" destId="{515728F1-38A6-B24A-9797-1CDDF1999C35}" srcOrd="0" destOrd="0" presId="urn:microsoft.com/office/officeart/2005/8/layout/hierarchy1"/>
    <dgm:cxn modelId="{6156658D-5C6A-2548-AB1B-477051BA94EE}" srcId="{4710E373-3EC1-B644-B79A-E563C1933574}" destId="{CDF369F9-6C67-4442-B549-B6A157A4C406}" srcOrd="1" destOrd="0" parTransId="{94752E68-9B48-7849-88FE-AA1BA01496C4}" sibTransId="{279FDCA9-3864-EC4D-9055-C8A12C9D917B}"/>
    <dgm:cxn modelId="{6526BAB4-5791-864F-943A-80DEF11C402C}" type="presOf" srcId="{71C6CD16-2779-CD40-8010-3F2D77154F7A}" destId="{AC0F9680-A9E1-1348-A090-FDA03091B201}" srcOrd="0" destOrd="0" presId="urn:microsoft.com/office/officeart/2005/8/layout/hierarchy1"/>
    <dgm:cxn modelId="{220ABDB6-C557-944E-9589-D3F0BDDC6B15}" srcId="{C417E01D-F827-9746-86C8-5A6C32CEC114}" destId="{5BB98DEA-3F2A-A544-92EB-F67EF402D31D}" srcOrd="2" destOrd="0" parTransId="{95A7CD37-315A-9C42-BE0D-C8499652D7B1}" sibTransId="{EB05DE2D-BCB1-C64E-A28F-E3974537225F}"/>
    <dgm:cxn modelId="{1B0906B8-5AE5-454C-B4AA-81A7FB09E1EF}" srcId="{71C6CD16-2779-CD40-8010-3F2D77154F7A}" destId="{9F3676FF-94D9-F54A-BC32-96CFA26312C8}" srcOrd="1" destOrd="0" parTransId="{0522DA5C-FBDC-9449-9A57-E8D3C662C728}" sibTransId="{AD979E7E-43BF-EF45-921A-199AF1C9CE82}"/>
    <dgm:cxn modelId="{408B1EBD-55C9-C744-8374-6927EDF851B0}" type="presOf" srcId="{C417E01D-F827-9746-86C8-5A6C32CEC114}" destId="{4C50B67E-7C1D-C741-AE36-4D5FEEC5A655}" srcOrd="0" destOrd="0" presId="urn:microsoft.com/office/officeart/2005/8/layout/hierarchy1"/>
    <dgm:cxn modelId="{44B171BE-28D2-1D41-BFA1-784ECEFF0158}" type="presOf" srcId="{95A7CD37-315A-9C42-BE0D-C8499652D7B1}" destId="{AB9D5C78-8857-C446-BD48-6662FB823932}" srcOrd="0" destOrd="0" presId="urn:microsoft.com/office/officeart/2005/8/layout/hierarchy1"/>
    <dgm:cxn modelId="{5019C6C3-2FDC-0C4B-9037-4BDE095946E6}" type="presOf" srcId="{0522DA5C-FBDC-9449-9A57-E8D3C662C728}" destId="{6ED5D991-6FB0-254E-9E6B-F7D6E99DADBB}" srcOrd="0" destOrd="0" presId="urn:microsoft.com/office/officeart/2005/8/layout/hierarchy1"/>
    <dgm:cxn modelId="{35AB7EC5-6C1D-9448-B808-6B5C433E4F0B}" srcId="{71C6CD16-2779-CD40-8010-3F2D77154F7A}" destId="{C417E01D-F827-9746-86C8-5A6C32CEC114}" srcOrd="0" destOrd="0" parTransId="{14A2E2CB-C2A3-A544-9872-9D64E1A28B66}" sibTransId="{4AF1BA4C-89E9-0E41-B21F-9EB96431971A}"/>
    <dgm:cxn modelId="{480558CC-920F-C14E-BDBE-FFF7A608F091}" type="presOf" srcId="{7954507D-600A-0A4F-8CBC-239B3E9FC6B6}" destId="{DB7F57F6-B8C7-494F-B2DE-8CB7FB32D725}" srcOrd="0" destOrd="0" presId="urn:microsoft.com/office/officeart/2005/8/layout/hierarchy1"/>
    <dgm:cxn modelId="{B7D741CD-8618-E144-A7E1-16D04A1276A6}" type="presOf" srcId="{14A2E2CB-C2A3-A544-9872-9D64E1A28B66}" destId="{6419EBB7-18E9-2A40-920A-13A0FD9DD72E}" srcOrd="0" destOrd="0" presId="urn:microsoft.com/office/officeart/2005/8/layout/hierarchy1"/>
    <dgm:cxn modelId="{F5C514D3-112F-8A42-A86F-03B6E870C716}" type="presOf" srcId="{B37A6EA9-78A4-504E-8197-FC765E6535C0}" destId="{EF49D93C-4944-854E-8B56-8DF0A9E144FB}" srcOrd="0" destOrd="0" presId="urn:microsoft.com/office/officeart/2005/8/layout/hierarchy1"/>
    <dgm:cxn modelId="{F91929DD-B71B-1548-8D97-345919407306}" type="presOf" srcId="{AF3EACD1-05E0-F145-AD1A-089542EBFD2A}" destId="{BCABD26D-C24A-E043-8E0F-1CC8B9D45C40}" srcOrd="0" destOrd="0" presId="urn:microsoft.com/office/officeart/2005/8/layout/hierarchy1"/>
    <dgm:cxn modelId="{384028EE-16EC-5449-80AE-AF27B4F3F356}" type="presOf" srcId="{304DA6B0-F6C4-8A4E-ACC9-DC2FA2D4DDFF}" destId="{2596C199-6225-CB49-A112-27F247ECE7BA}" srcOrd="0" destOrd="0" presId="urn:microsoft.com/office/officeart/2005/8/layout/hierarchy1"/>
    <dgm:cxn modelId="{D3F1EBEE-8007-2C44-8E60-92C90D0A501E}" type="presOf" srcId="{CDF369F9-6C67-4442-B549-B6A157A4C406}" destId="{7FC4F66C-7E75-FA49-93FB-90887BDD3039}" srcOrd="0" destOrd="0" presId="urn:microsoft.com/office/officeart/2005/8/layout/hierarchy1"/>
    <dgm:cxn modelId="{F1977C9F-5E90-CA4D-9363-87E38EE4B25E}" type="presParOf" srcId="{CDDEC35A-B282-8D40-96B3-39C09794D930}" destId="{C02BD740-0ECC-5542-B3FB-C90C400619E2}" srcOrd="0" destOrd="0" presId="urn:microsoft.com/office/officeart/2005/8/layout/hierarchy1"/>
    <dgm:cxn modelId="{76DAA765-D5C9-3F44-95B9-2BA934D144AD}" type="presParOf" srcId="{C02BD740-0ECC-5542-B3FB-C90C400619E2}" destId="{88049DD4-A468-E146-A503-21F28675D727}" srcOrd="0" destOrd="0" presId="urn:microsoft.com/office/officeart/2005/8/layout/hierarchy1"/>
    <dgm:cxn modelId="{D813B7DF-50C2-7C43-94C3-F25E389CDF94}" type="presParOf" srcId="{88049DD4-A468-E146-A503-21F28675D727}" destId="{07328983-37D5-9B43-BC65-1303DA9E504B}" srcOrd="0" destOrd="0" presId="urn:microsoft.com/office/officeart/2005/8/layout/hierarchy1"/>
    <dgm:cxn modelId="{25184197-D63B-C84A-9F06-52F64C80F0F2}" type="presParOf" srcId="{88049DD4-A468-E146-A503-21F28675D727}" destId="{AC0F9680-A9E1-1348-A090-FDA03091B201}" srcOrd="1" destOrd="0" presId="urn:microsoft.com/office/officeart/2005/8/layout/hierarchy1"/>
    <dgm:cxn modelId="{88D770C1-AA1F-F144-B0F7-C34E966AF143}" type="presParOf" srcId="{C02BD740-0ECC-5542-B3FB-C90C400619E2}" destId="{8CB805F9-AB9A-024F-B2FD-00B1C23E203E}" srcOrd="1" destOrd="0" presId="urn:microsoft.com/office/officeart/2005/8/layout/hierarchy1"/>
    <dgm:cxn modelId="{3E3180F2-5B06-2842-9AFB-FFEF81706A0D}" type="presParOf" srcId="{8CB805F9-AB9A-024F-B2FD-00B1C23E203E}" destId="{6419EBB7-18E9-2A40-920A-13A0FD9DD72E}" srcOrd="0" destOrd="0" presId="urn:microsoft.com/office/officeart/2005/8/layout/hierarchy1"/>
    <dgm:cxn modelId="{9CE48F17-B230-BE46-BBEA-E7D3098E1577}" type="presParOf" srcId="{8CB805F9-AB9A-024F-B2FD-00B1C23E203E}" destId="{C72184C6-FA2D-4645-AB67-F9F9D63515DF}" srcOrd="1" destOrd="0" presId="urn:microsoft.com/office/officeart/2005/8/layout/hierarchy1"/>
    <dgm:cxn modelId="{42733D90-1DC7-A048-B1AA-19207B95814A}" type="presParOf" srcId="{C72184C6-FA2D-4645-AB67-F9F9D63515DF}" destId="{8B810810-9E8C-F349-9D56-2C791B7F3665}" srcOrd="0" destOrd="0" presId="urn:microsoft.com/office/officeart/2005/8/layout/hierarchy1"/>
    <dgm:cxn modelId="{13E42687-4F0C-9F41-B349-6CCB3200D0FC}" type="presParOf" srcId="{8B810810-9E8C-F349-9D56-2C791B7F3665}" destId="{FBD2DFE1-EDBA-3344-B01A-E6D1A0BD2508}" srcOrd="0" destOrd="0" presId="urn:microsoft.com/office/officeart/2005/8/layout/hierarchy1"/>
    <dgm:cxn modelId="{D25F9913-3049-1F4A-AE37-2725E79172BC}" type="presParOf" srcId="{8B810810-9E8C-F349-9D56-2C791B7F3665}" destId="{4C50B67E-7C1D-C741-AE36-4D5FEEC5A655}" srcOrd="1" destOrd="0" presId="urn:microsoft.com/office/officeart/2005/8/layout/hierarchy1"/>
    <dgm:cxn modelId="{F1D7D77B-1161-9A49-8BD3-7128AE98C738}" type="presParOf" srcId="{C72184C6-FA2D-4645-AB67-F9F9D63515DF}" destId="{8402B143-6856-6049-B422-E3F665BEB9BB}" srcOrd="1" destOrd="0" presId="urn:microsoft.com/office/officeart/2005/8/layout/hierarchy1"/>
    <dgm:cxn modelId="{A59E51A2-0EA1-C442-A0EC-6A4A92D87D99}" type="presParOf" srcId="{8402B143-6856-6049-B422-E3F665BEB9BB}" destId="{EF49D93C-4944-854E-8B56-8DF0A9E144FB}" srcOrd="0" destOrd="0" presId="urn:microsoft.com/office/officeart/2005/8/layout/hierarchy1"/>
    <dgm:cxn modelId="{A19AD5B5-9281-2641-BBC3-91D76A48EE9C}" type="presParOf" srcId="{8402B143-6856-6049-B422-E3F665BEB9BB}" destId="{5AE5A0B1-0A52-D641-A5A0-07F01E4D03F7}" srcOrd="1" destOrd="0" presId="urn:microsoft.com/office/officeart/2005/8/layout/hierarchy1"/>
    <dgm:cxn modelId="{5655EEB2-B347-DB4A-9BB1-E8B0D4544646}" type="presParOf" srcId="{5AE5A0B1-0A52-D641-A5A0-07F01E4D03F7}" destId="{86A81F36-A1E7-5245-8E94-9D56B0BE2D91}" srcOrd="0" destOrd="0" presId="urn:microsoft.com/office/officeart/2005/8/layout/hierarchy1"/>
    <dgm:cxn modelId="{0D792C2F-9D19-CD46-B292-21E07F906B15}" type="presParOf" srcId="{86A81F36-A1E7-5245-8E94-9D56B0BE2D91}" destId="{D85FABB1-5524-FB44-A35B-E6D4A1B4B1A6}" srcOrd="0" destOrd="0" presId="urn:microsoft.com/office/officeart/2005/8/layout/hierarchy1"/>
    <dgm:cxn modelId="{4A03DE40-8C9A-3749-AE3C-D0814DABB2A6}" type="presParOf" srcId="{86A81F36-A1E7-5245-8E94-9D56B0BE2D91}" destId="{BCABD26D-C24A-E043-8E0F-1CC8B9D45C40}" srcOrd="1" destOrd="0" presId="urn:microsoft.com/office/officeart/2005/8/layout/hierarchy1"/>
    <dgm:cxn modelId="{1F1C390B-9386-8645-AD6B-50D6354AD4B7}" type="presParOf" srcId="{5AE5A0B1-0A52-D641-A5A0-07F01E4D03F7}" destId="{C309BDDC-6F35-2842-B75C-9ED37A223F1E}" srcOrd="1" destOrd="0" presId="urn:microsoft.com/office/officeart/2005/8/layout/hierarchy1"/>
    <dgm:cxn modelId="{7C05E9C5-1CF4-FD44-89F3-56707D36D3B1}" type="presParOf" srcId="{8402B143-6856-6049-B422-E3F665BEB9BB}" destId="{24305311-5D44-844D-A214-AE8C71286F5A}" srcOrd="2" destOrd="0" presId="urn:microsoft.com/office/officeart/2005/8/layout/hierarchy1"/>
    <dgm:cxn modelId="{25785515-299D-1743-BA87-7B3C1E50855D}" type="presParOf" srcId="{8402B143-6856-6049-B422-E3F665BEB9BB}" destId="{D6DB41C4-DB7B-0E42-94F3-71EF1D3D03F4}" srcOrd="3" destOrd="0" presId="urn:microsoft.com/office/officeart/2005/8/layout/hierarchy1"/>
    <dgm:cxn modelId="{F7B7DF6D-A7B5-5044-8A48-B3FD8894FFD9}" type="presParOf" srcId="{D6DB41C4-DB7B-0E42-94F3-71EF1D3D03F4}" destId="{D5217A1B-56B7-F247-ADCC-664C5CD620F0}" srcOrd="0" destOrd="0" presId="urn:microsoft.com/office/officeart/2005/8/layout/hierarchy1"/>
    <dgm:cxn modelId="{8CF7E349-6E30-D94B-B575-17A275203517}" type="presParOf" srcId="{D5217A1B-56B7-F247-ADCC-664C5CD620F0}" destId="{09223196-1DFC-174A-AAC3-14B6604284E2}" srcOrd="0" destOrd="0" presId="urn:microsoft.com/office/officeart/2005/8/layout/hierarchy1"/>
    <dgm:cxn modelId="{435641BA-D351-1B4B-A1F3-677E061C8AB9}" type="presParOf" srcId="{D5217A1B-56B7-F247-ADCC-664C5CD620F0}" destId="{1B01160B-5979-EA4A-92F7-D431A605DCAC}" srcOrd="1" destOrd="0" presId="urn:microsoft.com/office/officeart/2005/8/layout/hierarchy1"/>
    <dgm:cxn modelId="{6C26F7E5-AA8A-154E-934A-2EEAD8DBB409}" type="presParOf" srcId="{D6DB41C4-DB7B-0E42-94F3-71EF1D3D03F4}" destId="{AE37AA08-9C4B-F64B-860B-1F76462C3A34}" srcOrd="1" destOrd="0" presId="urn:microsoft.com/office/officeart/2005/8/layout/hierarchy1"/>
    <dgm:cxn modelId="{1F71BFD9-648C-454C-9BA7-0F4F74CE0878}" type="presParOf" srcId="{AE37AA08-9C4B-F64B-860B-1F76462C3A34}" destId="{8806801D-D181-E349-AC82-4493D341FD62}" srcOrd="0" destOrd="0" presId="urn:microsoft.com/office/officeart/2005/8/layout/hierarchy1"/>
    <dgm:cxn modelId="{F8A61814-F2FA-4746-869D-88473EFE090B}" type="presParOf" srcId="{AE37AA08-9C4B-F64B-860B-1F76462C3A34}" destId="{EDCC0299-E2C5-D946-AC47-0CB04F70FB33}" srcOrd="1" destOrd="0" presId="urn:microsoft.com/office/officeart/2005/8/layout/hierarchy1"/>
    <dgm:cxn modelId="{68838D00-E1CB-E249-A1EE-0A2F02FBCA55}" type="presParOf" srcId="{EDCC0299-E2C5-D946-AC47-0CB04F70FB33}" destId="{BCB7164E-5A70-C044-B6A2-09AA22359ECD}" srcOrd="0" destOrd="0" presId="urn:microsoft.com/office/officeart/2005/8/layout/hierarchy1"/>
    <dgm:cxn modelId="{0B352124-D29E-1948-BBCD-FC00F8ED34CD}" type="presParOf" srcId="{BCB7164E-5A70-C044-B6A2-09AA22359ECD}" destId="{C6AC1CEA-1BB0-874F-80E2-1CF493D7D182}" srcOrd="0" destOrd="0" presId="urn:microsoft.com/office/officeart/2005/8/layout/hierarchy1"/>
    <dgm:cxn modelId="{AB173661-4D7A-674F-A164-6883A9155651}" type="presParOf" srcId="{BCB7164E-5A70-C044-B6A2-09AA22359ECD}" destId="{DB7F57F6-B8C7-494F-B2DE-8CB7FB32D725}" srcOrd="1" destOrd="0" presId="urn:microsoft.com/office/officeart/2005/8/layout/hierarchy1"/>
    <dgm:cxn modelId="{34D0D872-AEAE-6646-AD08-B3F1E9EFFBD2}" type="presParOf" srcId="{EDCC0299-E2C5-D946-AC47-0CB04F70FB33}" destId="{48C2FFBD-0121-F24E-BC35-3920B06AF4B1}" srcOrd="1" destOrd="0" presId="urn:microsoft.com/office/officeart/2005/8/layout/hierarchy1"/>
    <dgm:cxn modelId="{0DEF679A-30FF-9145-92DC-3162DE6EECD0}" type="presParOf" srcId="{AE37AA08-9C4B-F64B-860B-1F76462C3A34}" destId="{77C72FC0-5DC6-1F40-BA1C-B9E0400B66A5}" srcOrd="2" destOrd="0" presId="urn:microsoft.com/office/officeart/2005/8/layout/hierarchy1"/>
    <dgm:cxn modelId="{ED7D3EDC-53CA-7A47-99F2-2AE3DD3FE9CF}" type="presParOf" srcId="{AE37AA08-9C4B-F64B-860B-1F76462C3A34}" destId="{1B3A417E-0BF7-8A47-8071-21ECCE4266D3}" srcOrd="3" destOrd="0" presId="urn:microsoft.com/office/officeart/2005/8/layout/hierarchy1"/>
    <dgm:cxn modelId="{6C305146-7A9F-2A48-A817-F1D0B3010196}" type="presParOf" srcId="{1B3A417E-0BF7-8A47-8071-21ECCE4266D3}" destId="{EFAAFDFC-4586-0844-97B1-FD52FEC3842F}" srcOrd="0" destOrd="0" presId="urn:microsoft.com/office/officeart/2005/8/layout/hierarchy1"/>
    <dgm:cxn modelId="{BF0484D5-785B-B54F-8943-6FD081D55B5A}" type="presParOf" srcId="{EFAAFDFC-4586-0844-97B1-FD52FEC3842F}" destId="{F5C227BC-2A1B-0443-A781-50F928832A26}" srcOrd="0" destOrd="0" presId="urn:microsoft.com/office/officeart/2005/8/layout/hierarchy1"/>
    <dgm:cxn modelId="{543B0C8F-3CBC-0D46-9226-638AF6ED624F}" type="presParOf" srcId="{EFAAFDFC-4586-0844-97B1-FD52FEC3842F}" destId="{7FC4F66C-7E75-FA49-93FB-90887BDD3039}" srcOrd="1" destOrd="0" presId="urn:microsoft.com/office/officeart/2005/8/layout/hierarchy1"/>
    <dgm:cxn modelId="{E669EFBE-7522-B84A-8A8E-915132CF5749}" type="presParOf" srcId="{1B3A417E-0BF7-8A47-8071-21ECCE4266D3}" destId="{C3D15556-E36D-AF44-95F6-3C212E53B011}" srcOrd="1" destOrd="0" presId="urn:microsoft.com/office/officeart/2005/8/layout/hierarchy1"/>
    <dgm:cxn modelId="{6F7A7FB9-F9D5-1547-A331-2399D35C6F56}" type="presParOf" srcId="{8402B143-6856-6049-B422-E3F665BEB9BB}" destId="{AB9D5C78-8857-C446-BD48-6662FB823932}" srcOrd="4" destOrd="0" presId="urn:microsoft.com/office/officeart/2005/8/layout/hierarchy1"/>
    <dgm:cxn modelId="{FD0FE4E7-EE20-8348-9757-87AFC9C1CA29}" type="presParOf" srcId="{8402B143-6856-6049-B422-E3F665BEB9BB}" destId="{B1A90613-7E4E-5F4C-9CFB-6048DD049F71}" srcOrd="5" destOrd="0" presId="urn:microsoft.com/office/officeart/2005/8/layout/hierarchy1"/>
    <dgm:cxn modelId="{E8B938B1-5D1E-8A46-8C70-B710CF89D4C1}" type="presParOf" srcId="{B1A90613-7E4E-5F4C-9CFB-6048DD049F71}" destId="{156BD879-5A5D-7343-BE3E-1143CEA757E3}" srcOrd="0" destOrd="0" presId="urn:microsoft.com/office/officeart/2005/8/layout/hierarchy1"/>
    <dgm:cxn modelId="{B422B3EF-1326-9B49-B403-6E58F6AA48BA}" type="presParOf" srcId="{156BD879-5A5D-7343-BE3E-1143CEA757E3}" destId="{9A7DFF09-8369-8247-A19F-5BE1AE9D9CDD}" srcOrd="0" destOrd="0" presId="urn:microsoft.com/office/officeart/2005/8/layout/hierarchy1"/>
    <dgm:cxn modelId="{ADFB8897-7001-204D-95FA-4CB9BAC6E527}" type="presParOf" srcId="{156BD879-5A5D-7343-BE3E-1143CEA757E3}" destId="{DE32AB1E-B62D-2946-A4A9-997482CDC1EF}" srcOrd="1" destOrd="0" presId="urn:microsoft.com/office/officeart/2005/8/layout/hierarchy1"/>
    <dgm:cxn modelId="{BE518AD5-9B75-FE45-AEE6-3E552974E554}" type="presParOf" srcId="{B1A90613-7E4E-5F4C-9CFB-6048DD049F71}" destId="{E1448585-8B72-304A-AA09-CF8E6807838A}" srcOrd="1" destOrd="0" presId="urn:microsoft.com/office/officeart/2005/8/layout/hierarchy1"/>
    <dgm:cxn modelId="{E5FB6BFF-CEB3-0849-AA34-20227F4071DF}" type="presParOf" srcId="{8CB805F9-AB9A-024F-B2FD-00B1C23E203E}" destId="{6ED5D991-6FB0-254E-9E6B-F7D6E99DADBB}" srcOrd="2" destOrd="0" presId="urn:microsoft.com/office/officeart/2005/8/layout/hierarchy1"/>
    <dgm:cxn modelId="{EF5E7BBF-AF9E-C046-ACA1-2ED9882A1CE7}" type="presParOf" srcId="{8CB805F9-AB9A-024F-B2FD-00B1C23E203E}" destId="{2CE11678-1840-E041-BF81-78DA7C2E18E5}" srcOrd="3" destOrd="0" presId="urn:microsoft.com/office/officeart/2005/8/layout/hierarchy1"/>
    <dgm:cxn modelId="{1D79AAFC-AFC6-914D-B903-E9B8B079B4B5}" type="presParOf" srcId="{2CE11678-1840-E041-BF81-78DA7C2E18E5}" destId="{A093DDE0-F592-BA47-90B8-1D10EAB4D2C2}" srcOrd="0" destOrd="0" presId="urn:microsoft.com/office/officeart/2005/8/layout/hierarchy1"/>
    <dgm:cxn modelId="{BD24D002-4D36-F64F-B582-9AFFEE9CFAC7}" type="presParOf" srcId="{A093DDE0-F592-BA47-90B8-1D10EAB4D2C2}" destId="{1F7EADFD-372D-E646-85AB-59C636000941}" srcOrd="0" destOrd="0" presId="urn:microsoft.com/office/officeart/2005/8/layout/hierarchy1"/>
    <dgm:cxn modelId="{E564565B-4F40-2B45-857C-9BB2C075EFEE}" type="presParOf" srcId="{A093DDE0-F592-BA47-90B8-1D10EAB4D2C2}" destId="{3D294D3E-6FD1-BE4B-9ED3-4A9F91238FAB}" srcOrd="1" destOrd="0" presId="urn:microsoft.com/office/officeart/2005/8/layout/hierarchy1"/>
    <dgm:cxn modelId="{ED51B981-9665-0D47-B9DD-39D5412C5666}" type="presParOf" srcId="{2CE11678-1840-E041-BF81-78DA7C2E18E5}" destId="{489870F3-98DE-9648-A949-9B54F59F61EB}" srcOrd="1" destOrd="0" presId="urn:microsoft.com/office/officeart/2005/8/layout/hierarchy1"/>
    <dgm:cxn modelId="{2EA3EA62-D2AB-2246-BFF4-2AF76A2A8A12}" type="presParOf" srcId="{8CB805F9-AB9A-024F-B2FD-00B1C23E203E}" destId="{2596C199-6225-CB49-A112-27F247ECE7BA}" srcOrd="4" destOrd="0" presId="urn:microsoft.com/office/officeart/2005/8/layout/hierarchy1"/>
    <dgm:cxn modelId="{B982B898-5455-1840-B128-ABC3229C6E4B}" type="presParOf" srcId="{8CB805F9-AB9A-024F-B2FD-00B1C23E203E}" destId="{76A2B5FE-5F06-7542-A786-A430EBA3EF4E}" srcOrd="5" destOrd="0" presId="urn:microsoft.com/office/officeart/2005/8/layout/hierarchy1"/>
    <dgm:cxn modelId="{1DB5E24A-F1D1-584C-A8D1-6E587D2F22DC}" type="presParOf" srcId="{76A2B5FE-5F06-7542-A786-A430EBA3EF4E}" destId="{5FA6A395-A876-B84E-8380-725680795781}" srcOrd="0" destOrd="0" presId="urn:microsoft.com/office/officeart/2005/8/layout/hierarchy1"/>
    <dgm:cxn modelId="{C5CB5924-E6AF-B749-B38D-3D9DCD7E35D5}" type="presParOf" srcId="{5FA6A395-A876-B84E-8380-725680795781}" destId="{1C90F586-CB6F-3F49-84E8-78CA25A25991}" srcOrd="0" destOrd="0" presId="urn:microsoft.com/office/officeart/2005/8/layout/hierarchy1"/>
    <dgm:cxn modelId="{1EA6905E-23CD-0440-ADCD-B14B485BAEDB}" type="presParOf" srcId="{5FA6A395-A876-B84E-8380-725680795781}" destId="{515728F1-38A6-B24A-9797-1CDDF1999C35}" srcOrd="1" destOrd="0" presId="urn:microsoft.com/office/officeart/2005/8/layout/hierarchy1"/>
    <dgm:cxn modelId="{8D3F9AE5-EF02-CA4E-8657-750B84A81E8F}" type="presParOf" srcId="{76A2B5FE-5F06-7542-A786-A430EBA3EF4E}" destId="{630A18DA-A9C2-3640-BCEB-32E73934FDAF}" srcOrd="1" destOrd="0" presId="urn:microsoft.com/office/officeart/2005/8/layout/hierarchy1"/>
    <dgm:cxn modelId="{C4A507C4-3876-4749-9AE0-CD426944F7CD}" type="presParOf" srcId="{8CB805F9-AB9A-024F-B2FD-00B1C23E203E}" destId="{40D14D86-1B39-7548-8D23-0EA69D1D64D9}" srcOrd="6" destOrd="0" presId="urn:microsoft.com/office/officeart/2005/8/layout/hierarchy1"/>
    <dgm:cxn modelId="{D219BCAB-9E96-ED48-BC68-F8FBA49A11CF}" type="presParOf" srcId="{8CB805F9-AB9A-024F-B2FD-00B1C23E203E}" destId="{6A5CDC33-B681-3246-9AD9-86D76C272378}" srcOrd="7" destOrd="0" presId="urn:microsoft.com/office/officeart/2005/8/layout/hierarchy1"/>
    <dgm:cxn modelId="{CC7DF9BB-A384-A848-8F51-72470062265B}" type="presParOf" srcId="{6A5CDC33-B681-3246-9AD9-86D76C272378}" destId="{4487F0D2-DC9B-1642-A48E-6EC71947324C}" srcOrd="0" destOrd="0" presId="urn:microsoft.com/office/officeart/2005/8/layout/hierarchy1"/>
    <dgm:cxn modelId="{AB1E0835-F70D-FA42-BE08-D01B6B173976}" type="presParOf" srcId="{4487F0D2-DC9B-1642-A48E-6EC71947324C}" destId="{007A6E05-C4D5-2141-B01C-DABC6C7D53CE}" srcOrd="0" destOrd="0" presId="urn:microsoft.com/office/officeart/2005/8/layout/hierarchy1"/>
    <dgm:cxn modelId="{0F9403D2-709E-B545-A882-A69F6FFCAF7E}" type="presParOf" srcId="{4487F0D2-DC9B-1642-A48E-6EC71947324C}" destId="{C84F816E-3493-644A-A12B-982678B2ECEF}" srcOrd="1" destOrd="0" presId="urn:microsoft.com/office/officeart/2005/8/layout/hierarchy1"/>
    <dgm:cxn modelId="{02C1F97E-59E7-0B48-8431-9A5761372295}" type="presParOf" srcId="{6A5CDC33-B681-3246-9AD9-86D76C272378}" destId="{276F9B00-A86A-2F44-A85B-83EDCF3200E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BD884-5CDE-BF48-9972-5090201A2E3A}">
      <dsp:nvSpPr>
        <dsp:cNvPr id="0" name=""/>
        <dsp:cNvSpPr/>
      </dsp:nvSpPr>
      <dsp:spPr>
        <a:xfrm>
          <a:off x="575" y="784"/>
          <a:ext cx="402111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Measurements </a:t>
          </a:r>
        </a:p>
        <a:p>
          <a:pPr marL="0" lvl="0" indent="0" algn="ctr" defTabSz="577850">
            <a:lnSpc>
              <a:spcPct val="90000"/>
            </a:lnSpc>
            <a:spcBef>
              <a:spcPct val="0"/>
            </a:spcBef>
            <a:spcAft>
              <a:spcPct val="35000"/>
            </a:spcAft>
            <a:buNone/>
          </a:pPr>
          <a:r>
            <a:rPr lang="en-US" sz="1300" kern="1200" dirty="0"/>
            <a:t>(Domain)</a:t>
          </a:r>
        </a:p>
      </dsp:txBody>
      <dsp:txXfrm>
        <a:off x="17312" y="17521"/>
        <a:ext cx="3987636" cy="537961"/>
      </dsp:txXfrm>
    </dsp:sp>
    <dsp:sp modelId="{D1B077CC-2CAA-A844-8F00-C975737EC354}">
      <dsp:nvSpPr>
        <dsp:cNvPr id="0" name=""/>
        <dsp:cNvSpPr/>
      </dsp:nvSpPr>
      <dsp:spPr>
        <a:xfrm>
          <a:off x="4500" y="641619"/>
          <a:ext cx="109965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HCV RNA </a:t>
          </a:r>
        </a:p>
        <a:p>
          <a:pPr marL="0" lvl="0" indent="0" algn="ctr" defTabSz="400050">
            <a:lnSpc>
              <a:spcPct val="90000"/>
            </a:lnSpc>
            <a:spcBef>
              <a:spcPct val="0"/>
            </a:spcBef>
            <a:spcAft>
              <a:spcPct val="35000"/>
            </a:spcAft>
            <a:buNone/>
          </a:pPr>
          <a:r>
            <a:rPr lang="en-US" sz="900" kern="1200" dirty="0"/>
            <a:t>(Concept)</a:t>
          </a:r>
        </a:p>
      </dsp:txBody>
      <dsp:txXfrm>
        <a:off x="21237" y="658356"/>
        <a:ext cx="1066176" cy="537961"/>
      </dsp:txXfrm>
    </dsp:sp>
    <dsp:sp modelId="{24A551BB-454C-514E-8DDD-EC891D022E9E}">
      <dsp:nvSpPr>
        <dsp:cNvPr id="0" name=""/>
        <dsp:cNvSpPr/>
      </dsp:nvSpPr>
      <dsp:spPr>
        <a:xfrm>
          <a:off x="1196520" y="641619"/>
          <a:ext cx="1099650"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HBV surface antigen </a:t>
          </a:r>
        </a:p>
        <a:p>
          <a:pPr marL="0" lvl="0" indent="0" algn="ctr" defTabSz="400050">
            <a:lnSpc>
              <a:spcPct val="90000"/>
            </a:lnSpc>
            <a:spcBef>
              <a:spcPct val="0"/>
            </a:spcBef>
            <a:spcAft>
              <a:spcPct val="35000"/>
            </a:spcAft>
            <a:buNone/>
          </a:pPr>
          <a:r>
            <a:rPr lang="en-US" sz="900" kern="1200" dirty="0"/>
            <a:t>(Concept)</a:t>
          </a:r>
        </a:p>
      </dsp:txBody>
      <dsp:txXfrm>
        <a:off x="1213257" y="658356"/>
        <a:ext cx="1066176" cy="537961"/>
      </dsp:txXfrm>
    </dsp:sp>
    <dsp:sp modelId="{F71C91BA-3FF3-5D4A-A3C2-7BF050E31AE7}">
      <dsp:nvSpPr>
        <dsp:cNvPr id="0" name=""/>
        <dsp:cNvSpPr/>
      </dsp:nvSpPr>
      <dsp:spPr>
        <a:xfrm>
          <a:off x="2388541" y="641619"/>
          <a:ext cx="1629219"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HIV Ab </a:t>
          </a:r>
        </a:p>
        <a:p>
          <a:pPr marL="0" lvl="0" indent="0" algn="ctr" defTabSz="400050">
            <a:lnSpc>
              <a:spcPct val="90000"/>
            </a:lnSpc>
            <a:spcBef>
              <a:spcPct val="0"/>
            </a:spcBef>
            <a:spcAft>
              <a:spcPct val="35000"/>
            </a:spcAft>
            <a:buNone/>
          </a:pPr>
          <a:r>
            <a:rPr lang="en-US" sz="900" kern="1200" dirty="0"/>
            <a:t>(Concept)</a:t>
          </a:r>
        </a:p>
      </dsp:txBody>
      <dsp:txXfrm>
        <a:off x="2405278" y="658356"/>
        <a:ext cx="1595745" cy="537961"/>
      </dsp:txXfrm>
    </dsp:sp>
    <dsp:sp modelId="{DD78D3D3-E9D3-1B47-9AEF-70E2E20C88B0}">
      <dsp:nvSpPr>
        <dsp:cNvPr id="0" name=""/>
        <dsp:cNvSpPr/>
      </dsp:nvSpPr>
      <dsp:spPr>
        <a:xfrm>
          <a:off x="1052268" y="1229950"/>
          <a:ext cx="1629219" cy="57143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HCV, HBV, HIV labs</a:t>
          </a:r>
        </a:p>
        <a:p>
          <a:pPr marL="0" lvl="0" indent="0" algn="ctr" defTabSz="400050">
            <a:lnSpc>
              <a:spcPct val="90000"/>
            </a:lnSpc>
            <a:spcBef>
              <a:spcPct val="0"/>
            </a:spcBef>
            <a:spcAft>
              <a:spcPct val="35000"/>
            </a:spcAft>
            <a:buNone/>
          </a:pPr>
          <a:r>
            <a:rPr lang="en-US" sz="900" kern="1200" dirty="0"/>
            <a:t>(“Measurement” </a:t>
          </a:r>
          <a:r>
            <a:rPr lang="en-US" sz="900" kern="1200" dirty="0">
              <a:latin typeface="Avenir Book" panose="02000503020000020003" pitchFamily="2" charset="0"/>
            </a:rPr>
            <a:t>Concept</a:t>
          </a:r>
          <a:r>
            <a:rPr lang="en-US" sz="900" kern="1200" dirty="0"/>
            <a:t> Set)</a:t>
          </a:r>
        </a:p>
      </dsp:txBody>
      <dsp:txXfrm>
        <a:off x="1069005" y="1246687"/>
        <a:ext cx="1595745" cy="5379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14D86-1B39-7548-8D23-0EA69D1D64D9}">
      <dsp:nvSpPr>
        <dsp:cNvPr id="0" name=""/>
        <dsp:cNvSpPr/>
      </dsp:nvSpPr>
      <dsp:spPr>
        <a:xfrm>
          <a:off x="4816078" y="1187691"/>
          <a:ext cx="2481857" cy="393712"/>
        </a:xfrm>
        <a:custGeom>
          <a:avLst/>
          <a:gdLst/>
          <a:ahLst/>
          <a:cxnLst/>
          <a:rect l="0" t="0" r="0" b="0"/>
          <a:pathLst>
            <a:path>
              <a:moveTo>
                <a:pt x="0" y="0"/>
              </a:moveTo>
              <a:lnTo>
                <a:pt x="0" y="268303"/>
              </a:lnTo>
              <a:lnTo>
                <a:pt x="2481857" y="268303"/>
              </a:lnTo>
              <a:lnTo>
                <a:pt x="2481857"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96C199-6225-CB49-A112-27F247ECE7BA}">
      <dsp:nvSpPr>
        <dsp:cNvPr id="0" name=""/>
        <dsp:cNvSpPr/>
      </dsp:nvSpPr>
      <dsp:spPr>
        <a:xfrm>
          <a:off x="4816078" y="1187691"/>
          <a:ext cx="827285" cy="393712"/>
        </a:xfrm>
        <a:custGeom>
          <a:avLst/>
          <a:gdLst/>
          <a:ahLst/>
          <a:cxnLst/>
          <a:rect l="0" t="0" r="0" b="0"/>
          <a:pathLst>
            <a:path>
              <a:moveTo>
                <a:pt x="0" y="0"/>
              </a:moveTo>
              <a:lnTo>
                <a:pt x="0" y="268303"/>
              </a:lnTo>
              <a:lnTo>
                <a:pt x="827285" y="268303"/>
              </a:lnTo>
              <a:lnTo>
                <a:pt x="827285"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D5D991-6FB0-254E-9E6B-F7D6E99DADBB}">
      <dsp:nvSpPr>
        <dsp:cNvPr id="0" name=""/>
        <dsp:cNvSpPr/>
      </dsp:nvSpPr>
      <dsp:spPr>
        <a:xfrm>
          <a:off x="3988792" y="1187691"/>
          <a:ext cx="827285" cy="393712"/>
        </a:xfrm>
        <a:custGeom>
          <a:avLst/>
          <a:gdLst/>
          <a:ahLst/>
          <a:cxnLst/>
          <a:rect l="0" t="0" r="0" b="0"/>
          <a:pathLst>
            <a:path>
              <a:moveTo>
                <a:pt x="827285" y="0"/>
              </a:moveTo>
              <a:lnTo>
                <a:pt x="827285" y="268303"/>
              </a:lnTo>
              <a:lnTo>
                <a:pt x="0" y="268303"/>
              </a:lnTo>
              <a:lnTo>
                <a:pt x="0"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9D5C78-8857-C446-BD48-6662FB823932}">
      <dsp:nvSpPr>
        <dsp:cNvPr id="0" name=""/>
        <dsp:cNvSpPr/>
      </dsp:nvSpPr>
      <dsp:spPr>
        <a:xfrm>
          <a:off x="2334220" y="2441029"/>
          <a:ext cx="1654571" cy="393712"/>
        </a:xfrm>
        <a:custGeom>
          <a:avLst/>
          <a:gdLst/>
          <a:ahLst/>
          <a:cxnLst/>
          <a:rect l="0" t="0" r="0" b="0"/>
          <a:pathLst>
            <a:path>
              <a:moveTo>
                <a:pt x="0" y="0"/>
              </a:moveTo>
              <a:lnTo>
                <a:pt x="0" y="268303"/>
              </a:lnTo>
              <a:lnTo>
                <a:pt x="1654571" y="268303"/>
              </a:lnTo>
              <a:lnTo>
                <a:pt x="1654571"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C72FC0-5DC6-1F40-BA1C-B9E0400B66A5}">
      <dsp:nvSpPr>
        <dsp:cNvPr id="0" name=""/>
        <dsp:cNvSpPr/>
      </dsp:nvSpPr>
      <dsp:spPr>
        <a:xfrm>
          <a:off x="2334220" y="3694367"/>
          <a:ext cx="827285" cy="393712"/>
        </a:xfrm>
        <a:custGeom>
          <a:avLst/>
          <a:gdLst/>
          <a:ahLst/>
          <a:cxnLst/>
          <a:rect l="0" t="0" r="0" b="0"/>
          <a:pathLst>
            <a:path>
              <a:moveTo>
                <a:pt x="0" y="0"/>
              </a:moveTo>
              <a:lnTo>
                <a:pt x="0" y="268303"/>
              </a:lnTo>
              <a:lnTo>
                <a:pt x="827285" y="268303"/>
              </a:lnTo>
              <a:lnTo>
                <a:pt x="827285"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06801D-D181-E349-AC82-4493D341FD62}">
      <dsp:nvSpPr>
        <dsp:cNvPr id="0" name=""/>
        <dsp:cNvSpPr/>
      </dsp:nvSpPr>
      <dsp:spPr>
        <a:xfrm>
          <a:off x="1506934" y="3694367"/>
          <a:ext cx="827285" cy="393712"/>
        </a:xfrm>
        <a:custGeom>
          <a:avLst/>
          <a:gdLst/>
          <a:ahLst/>
          <a:cxnLst/>
          <a:rect l="0" t="0" r="0" b="0"/>
          <a:pathLst>
            <a:path>
              <a:moveTo>
                <a:pt x="827285" y="0"/>
              </a:moveTo>
              <a:lnTo>
                <a:pt x="827285" y="268303"/>
              </a:lnTo>
              <a:lnTo>
                <a:pt x="0" y="268303"/>
              </a:lnTo>
              <a:lnTo>
                <a:pt x="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305311-5D44-844D-A214-AE8C71286F5A}">
      <dsp:nvSpPr>
        <dsp:cNvPr id="0" name=""/>
        <dsp:cNvSpPr/>
      </dsp:nvSpPr>
      <dsp:spPr>
        <a:xfrm>
          <a:off x="2288500" y="2441029"/>
          <a:ext cx="91440" cy="393712"/>
        </a:xfrm>
        <a:custGeom>
          <a:avLst/>
          <a:gdLst/>
          <a:ahLst/>
          <a:cxnLst/>
          <a:rect l="0" t="0" r="0" b="0"/>
          <a:pathLst>
            <a:path>
              <a:moveTo>
                <a:pt x="45720" y="0"/>
              </a:moveTo>
              <a:lnTo>
                <a:pt x="4572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49D93C-4944-854E-8B56-8DF0A9E144FB}">
      <dsp:nvSpPr>
        <dsp:cNvPr id="0" name=""/>
        <dsp:cNvSpPr/>
      </dsp:nvSpPr>
      <dsp:spPr>
        <a:xfrm>
          <a:off x="679648" y="2441029"/>
          <a:ext cx="1654571" cy="393712"/>
        </a:xfrm>
        <a:custGeom>
          <a:avLst/>
          <a:gdLst/>
          <a:ahLst/>
          <a:cxnLst/>
          <a:rect l="0" t="0" r="0" b="0"/>
          <a:pathLst>
            <a:path>
              <a:moveTo>
                <a:pt x="1654571" y="0"/>
              </a:moveTo>
              <a:lnTo>
                <a:pt x="1654571" y="268303"/>
              </a:lnTo>
              <a:lnTo>
                <a:pt x="0" y="268303"/>
              </a:lnTo>
              <a:lnTo>
                <a:pt x="0" y="39371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19EBB7-18E9-2A40-920A-13A0FD9DD72E}">
      <dsp:nvSpPr>
        <dsp:cNvPr id="0" name=""/>
        <dsp:cNvSpPr/>
      </dsp:nvSpPr>
      <dsp:spPr>
        <a:xfrm>
          <a:off x="2334220" y="1187691"/>
          <a:ext cx="2481857" cy="393712"/>
        </a:xfrm>
        <a:custGeom>
          <a:avLst/>
          <a:gdLst/>
          <a:ahLst/>
          <a:cxnLst/>
          <a:rect l="0" t="0" r="0" b="0"/>
          <a:pathLst>
            <a:path>
              <a:moveTo>
                <a:pt x="2481857" y="0"/>
              </a:moveTo>
              <a:lnTo>
                <a:pt x="2481857" y="268303"/>
              </a:lnTo>
              <a:lnTo>
                <a:pt x="0" y="268303"/>
              </a:lnTo>
              <a:lnTo>
                <a:pt x="0" y="39371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328983-37D5-9B43-BC65-1303DA9E504B}">
      <dsp:nvSpPr>
        <dsp:cNvPr id="0" name=""/>
        <dsp:cNvSpPr/>
      </dsp:nvSpPr>
      <dsp:spPr>
        <a:xfrm>
          <a:off x="4139207" y="328066"/>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F9680-A9E1-1348-A090-FDA03091B201}">
      <dsp:nvSpPr>
        <dsp:cNvPr id="0" name=""/>
        <dsp:cNvSpPr/>
      </dsp:nvSpPr>
      <dsp:spPr>
        <a:xfrm>
          <a:off x="4289623" y="470960"/>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Heart disease</a:t>
          </a:r>
        </a:p>
      </dsp:txBody>
      <dsp:txXfrm>
        <a:off x="4314801" y="496138"/>
        <a:ext cx="1303384" cy="809269"/>
      </dsp:txXfrm>
    </dsp:sp>
    <dsp:sp modelId="{FBD2DFE1-EDBA-3344-B01A-E6D1A0BD2508}">
      <dsp:nvSpPr>
        <dsp:cNvPr id="0" name=""/>
        <dsp:cNvSpPr/>
      </dsp:nvSpPr>
      <dsp:spPr>
        <a:xfrm>
          <a:off x="1657350"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0B67E-7C1D-C741-AE36-4D5FEEC5A655}">
      <dsp:nvSpPr>
        <dsp:cNvPr id="0" name=""/>
        <dsp:cNvSpPr/>
      </dsp:nvSpPr>
      <dsp:spPr>
        <a:xfrm>
          <a:off x="1807765"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Cardiac arrhythmia</a:t>
          </a:r>
        </a:p>
      </dsp:txBody>
      <dsp:txXfrm>
        <a:off x="1832943" y="1749477"/>
        <a:ext cx="1303384" cy="809269"/>
      </dsp:txXfrm>
    </dsp:sp>
    <dsp:sp modelId="{D85FABB1-5524-FB44-A35B-E6D4A1B4B1A6}">
      <dsp:nvSpPr>
        <dsp:cNvPr id="0" name=""/>
        <dsp:cNvSpPr/>
      </dsp:nvSpPr>
      <dsp:spPr>
        <a:xfrm>
          <a:off x="2778"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ABD26D-C24A-E043-8E0F-1CC8B9D45C40}">
      <dsp:nvSpPr>
        <dsp:cNvPr id="0" name=""/>
        <dsp:cNvSpPr/>
      </dsp:nvSpPr>
      <dsp:spPr>
        <a:xfrm>
          <a:off x="153193"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Cardiac arrest</a:t>
          </a:r>
        </a:p>
      </dsp:txBody>
      <dsp:txXfrm>
        <a:off x="178371" y="3002815"/>
        <a:ext cx="1303384" cy="809269"/>
      </dsp:txXfrm>
    </dsp:sp>
    <dsp:sp modelId="{09223196-1DFC-174A-AAC3-14B6604284E2}">
      <dsp:nvSpPr>
        <dsp:cNvPr id="0" name=""/>
        <dsp:cNvSpPr/>
      </dsp:nvSpPr>
      <dsp:spPr>
        <a:xfrm>
          <a:off x="1657350"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01160B-5979-EA4A-92F7-D431A605DCAC}">
      <dsp:nvSpPr>
        <dsp:cNvPr id="0" name=""/>
        <dsp:cNvSpPr/>
      </dsp:nvSpPr>
      <dsp:spPr>
        <a:xfrm>
          <a:off x="1807765"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Supraventricular arrythmia</a:t>
          </a:r>
        </a:p>
      </dsp:txBody>
      <dsp:txXfrm>
        <a:off x="1832943" y="3002815"/>
        <a:ext cx="1303384" cy="809269"/>
      </dsp:txXfrm>
    </dsp:sp>
    <dsp:sp modelId="{C6AC1CEA-1BB0-874F-80E2-1CF493D7D182}">
      <dsp:nvSpPr>
        <dsp:cNvPr id="0" name=""/>
        <dsp:cNvSpPr/>
      </dsp:nvSpPr>
      <dsp:spPr>
        <a:xfrm>
          <a:off x="830064" y="4088080"/>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7F57F6-B8C7-494F-B2DE-8CB7FB32D725}">
      <dsp:nvSpPr>
        <dsp:cNvPr id="0" name=""/>
        <dsp:cNvSpPr/>
      </dsp:nvSpPr>
      <dsp:spPr>
        <a:xfrm>
          <a:off x="980479" y="4230975"/>
          <a:ext cx="1353740" cy="859625"/>
        </a:xfrm>
        <a:prstGeom prst="roundRect">
          <a:avLst>
            <a:gd name="adj" fmla="val 10000"/>
          </a:avLst>
        </a:prstGeom>
        <a:solidFill>
          <a:schemeClr val="accent2">
            <a:lumMod val="20000"/>
            <a:lumOff val="8000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Atrial fibrillation</a:t>
          </a:r>
        </a:p>
      </dsp:txBody>
      <dsp:txXfrm>
        <a:off x="1005657" y="4256153"/>
        <a:ext cx="1303384" cy="809269"/>
      </dsp:txXfrm>
    </dsp:sp>
    <dsp:sp modelId="{F5C227BC-2A1B-0443-A781-50F928832A26}">
      <dsp:nvSpPr>
        <dsp:cNvPr id="0" name=""/>
        <dsp:cNvSpPr/>
      </dsp:nvSpPr>
      <dsp:spPr>
        <a:xfrm>
          <a:off x="2484635" y="4088080"/>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C4F66C-7E75-FA49-93FB-90887BDD3039}">
      <dsp:nvSpPr>
        <dsp:cNvPr id="0" name=""/>
        <dsp:cNvSpPr/>
      </dsp:nvSpPr>
      <dsp:spPr>
        <a:xfrm>
          <a:off x="2635051" y="4230975"/>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2660229" y="4256153"/>
        <a:ext cx="1303384" cy="809269"/>
      </dsp:txXfrm>
    </dsp:sp>
    <dsp:sp modelId="{9A7DFF09-8369-8247-A19F-5BE1AE9D9CDD}">
      <dsp:nvSpPr>
        <dsp:cNvPr id="0" name=""/>
        <dsp:cNvSpPr/>
      </dsp:nvSpPr>
      <dsp:spPr>
        <a:xfrm>
          <a:off x="3311921" y="2834742"/>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32AB1E-B62D-2946-A4A9-997482CDC1EF}">
      <dsp:nvSpPr>
        <dsp:cNvPr id="0" name=""/>
        <dsp:cNvSpPr/>
      </dsp:nvSpPr>
      <dsp:spPr>
        <a:xfrm>
          <a:off x="3462337" y="2977637"/>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3487515" y="3002815"/>
        <a:ext cx="1303384" cy="809269"/>
      </dsp:txXfrm>
    </dsp:sp>
    <dsp:sp modelId="{1F7EADFD-372D-E646-85AB-59C636000941}">
      <dsp:nvSpPr>
        <dsp:cNvPr id="0" name=""/>
        <dsp:cNvSpPr/>
      </dsp:nvSpPr>
      <dsp:spPr>
        <a:xfrm>
          <a:off x="3311921"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294D3E-6FD1-BE4B-9ED3-4A9F91238FAB}">
      <dsp:nvSpPr>
        <dsp:cNvPr id="0" name=""/>
        <dsp:cNvSpPr/>
      </dsp:nvSpPr>
      <dsp:spPr>
        <a:xfrm>
          <a:off x="3462337"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Acute heart disease</a:t>
          </a:r>
        </a:p>
      </dsp:txBody>
      <dsp:txXfrm>
        <a:off x="3487515" y="1749477"/>
        <a:ext cx="1303384" cy="809269"/>
      </dsp:txXfrm>
    </dsp:sp>
    <dsp:sp modelId="{1C90F586-CB6F-3F49-84E8-78CA25A25991}">
      <dsp:nvSpPr>
        <dsp:cNvPr id="0" name=""/>
        <dsp:cNvSpPr/>
      </dsp:nvSpPr>
      <dsp:spPr>
        <a:xfrm>
          <a:off x="4966493"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5728F1-38A6-B24A-9797-1CDDF1999C35}">
      <dsp:nvSpPr>
        <dsp:cNvPr id="0" name=""/>
        <dsp:cNvSpPr/>
      </dsp:nvSpPr>
      <dsp:spPr>
        <a:xfrm>
          <a:off x="5116909"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Athlete's heart</a:t>
          </a:r>
        </a:p>
      </dsp:txBody>
      <dsp:txXfrm>
        <a:off x="5142087" y="1749477"/>
        <a:ext cx="1303384" cy="809269"/>
      </dsp:txXfrm>
    </dsp:sp>
    <dsp:sp modelId="{007A6E05-C4D5-2141-B01C-DABC6C7D53CE}">
      <dsp:nvSpPr>
        <dsp:cNvPr id="0" name=""/>
        <dsp:cNvSpPr/>
      </dsp:nvSpPr>
      <dsp:spPr>
        <a:xfrm>
          <a:off x="6621065" y="1581404"/>
          <a:ext cx="1353740" cy="859625"/>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4F816E-3493-644A-A12B-982678B2ECEF}">
      <dsp:nvSpPr>
        <dsp:cNvPr id="0" name=""/>
        <dsp:cNvSpPr/>
      </dsp:nvSpPr>
      <dsp:spPr>
        <a:xfrm>
          <a:off x="6771481" y="1724299"/>
          <a:ext cx="1353740" cy="8596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Etc.</a:t>
          </a:r>
        </a:p>
      </dsp:txBody>
      <dsp:txXfrm>
        <a:off x="6796659" y="1749477"/>
        <a:ext cx="1303384" cy="80926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8440E-8C35-1142-93FC-F32DCB9C4FDA}" type="datetimeFigureOut">
              <a:rPr lang="en-US" smtClean="0"/>
              <a:t>1/30/26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4ED3A-914E-6443-A2E7-C28A873C6BCA}" type="slidenum">
              <a:rPr lang="en-US" smtClean="0"/>
              <a:t>‹#›</a:t>
            </a:fld>
            <a:endParaRPr lang="en-US"/>
          </a:p>
        </p:txBody>
      </p:sp>
    </p:spTree>
    <p:extLst>
      <p:ext uri="{BB962C8B-B14F-4D97-AF65-F5344CB8AC3E}">
        <p14:creationId xmlns:p14="http://schemas.microsoft.com/office/powerpoint/2010/main" val="27702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a:t>
            </a:fld>
            <a:endParaRPr lang="en-US"/>
          </a:p>
        </p:txBody>
      </p:sp>
    </p:spTree>
    <p:extLst>
      <p:ext uri="{BB962C8B-B14F-4D97-AF65-F5344CB8AC3E}">
        <p14:creationId xmlns:p14="http://schemas.microsoft.com/office/powerpoint/2010/main" val="1785105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A3F7-1F79-AECB-7BBB-2B9AF607B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157CF-906C-E214-DD0D-02B4B0CC7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C33BF-D4DC-80BD-24CA-A1402EE7BC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F2446-21D8-81B1-326C-89AF74DE9193}"/>
              </a:ext>
            </a:extLst>
          </p:cNvPr>
          <p:cNvSpPr>
            <a:spLocks noGrp="1"/>
          </p:cNvSpPr>
          <p:nvPr>
            <p:ph type="sldNum" sz="quarter" idx="5"/>
          </p:nvPr>
        </p:nvSpPr>
        <p:spPr/>
        <p:txBody>
          <a:bodyPr/>
          <a:lstStyle/>
          <a:p>
            <a:fld id="{50049E44-D13C-C54E-8DA3-DB5207EAD25C}" type="slidenum">
              <a:rPr lang="en-US" smtClean="0"/>
              <a:t>2</a:t>
            </a:fld>
            <a:endParaRPr lang="en-US"/>
          </a:p>
        </p:txBody>
      </p:sp>
    </p:spTree>
    <p:extLst>
      <p:ext uri="{BB962C8B-B14F-4D97-AF65-F5344CB8AC3E}">
        <p14:creationId xmlns:p14="http://schemas.microsoft.com/office/powerpoint/2010/main" val="1505702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3</a:t>
            </a:fld>
            <a:endParaRPr lang="en-US"/>
          </a:p>
        </p:txBody>
      </p:sp>
    </p:spTree>
    <p:extLst>
      <p:ext uri="{BB962C8B-B14F-4D97-AF65-F5344CB8AC3E}">
        <p14:creationId xmlns:p14="http://schemas.microsoft.com/office/powerpoint/2010/main" val="100210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B70C5-72B1-E5C4-012C-C678E600C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3670A-B0C8-D68A-775F-AE1EADCB8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AE090-9FA4-114F-2E6D-E67E393B05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878A76-C431-B0AD-0858-425A89FCCFA6}"/>
              </a:ext>
            </a:extLst>
          </p:cNvPr>
          <p:cNvSpPr>
            <a:spLocks noGrp="1"/>
          </p:cNvSpPr>
          <p:nvPr>
            <p:ph type="sldNum" sz="quarter" idx="5"/>
          </p:nvPr>
        </p:nvSpPr>
        <p:spPr/>
        <p:txBody>
          <a:bodyPr/>
          <a:lstStyle/>
          <a:p>
            <a:fld id="{50049E44-D13C-C54E-8DA3-DB5207EAD25C}" type="slidenum">
              <a:rPr lang="en-US" smtClean="0"/>
              <a:t>4</a:t>
            </a:fld>
            <a:endParaRPr lang="en-US"/>
          </a:p>
        </p:txBody>
      </p:sp>
    </p:spTree>
    <p:extLst>
      <p:ext uri="{BB962C8B-B14F-4D97-AF65-F5344CB8AC3E}">
        <p14:creationId xmlns:p14="http://schemas.microsoft.com/office/powerpoint/2010/main" val="91514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5</a:t>
            </a:fld>
            <a:endParaRPr lang="en-US"/>
          </a:p>
        </p:txBody>
      </p:sp>
    </p:spTree>
    <p:extLst>
      <p:ext uri="{BB962C8B-B14F-4D97-AF65-F5344CB8AC3E}">
        <p14:creationId xmlns:p14="http://schemas.microsoft.com/office/powerpoint/2010/main" val="4174303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6</a:t>
            </a:fld>
            <a:endParaRPr lang="en-US"/>
          </a:p>
        </p:txBody>
      </p:sp>
    </p:spTree>
    <p:extLst>
      <p:ext uri="{BB962C8B-B14F-4D97-AF65-F5344CB8AC3E}">
        <p14:creationId xmlns:p14="http://schemas.microsoft.com/office/powerpoint/2010/main" val="2405156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OMOP (Observational Medical Outcomes Partnership) Common Data Model (CDM)</a:t>
            </a:r>
            <a:r>
              <a:rPr lang="en-US" b="0" i="0" u="none" strike="noStrike" dirty="0">
                <a:solidFill>
                  <a:srgbClr val="000000"/>
                </a:solidFill>
                <a:effectLst/>
                <a:latin typeface="Poppins" panose="020B0604020202020204" pitchFamily="34" charset="0"/>
              </a:rPr>
              <a:t>: A standardized data model designed to integrate diverse healthcare data sources into a common format.</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Standard Vocabulary</a:t>
            </a:r>
            <a:r>
              <a:rPr lang="en-US" b="0" i="0" u="none" strike="noStrike" dirty="0">
                <a:solidFill>
                  <a:srgbClr val="000000"/>
                </a:solidFill>
                <a:effectLst/>
                <a:latin typeface="Poppins" panose="020B0604020202020204" pitchFamily="34" charset="0"/>
              </a:rPr>
              <a:t>: OMOP utilizes a standardized vocabulary system, which includes standard concepts for drugs, conditions, procedures, and other clinical entities to ensure consistency across datasets.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Mapping to Standard Codes</a:t>
            </a:r>
            <a:r>
              <a:rPr lang="en-US" b="0" i="0" u="none" strike="noStrike" dirty="0">
                <a:solidFill>
                  <a:srgbClr val="000000"/>
                </a:solidFill>
                <a:effectLst/>
                <a:latin typeface="Poppins" panose="020B0604020202020204" pitchFamily="34" charset="0"/>
              </a:rPr>
              <a:t>: Local codes from different healthcare databases are mapped to OMOP standard codes to enable cross-database analyses.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Applications</a:t>
            </a:r>
            <a:r>
              <a:rPr lang="en-US" b="0" i="0" u="none" strike="noStrike" dirty="0">
                <a:solidFill>
                  <a:srgbClr val="000000"/>
                </a:solidFill>
                <a:effectLst/>
                <a:latin typeface="Poppins" panose="020B0604020202020204" pitchFamily="34" charset="0"/>
              </a:rPr>
              <a:t>: Widely used in observational health research, especially for large-scale data analyses, observational studies, and drug safety assessments.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Governance and Collaboration</a:t>
            </a:r>
            <a:r>
              <a:rPr lang="en-US" b="0" i="0" u="none" strike="noStrike" dirty="0">
                <a:solidFill>
                  <a:srgbClr val="000000"/>
                </a:solidFill>
                <a:effectLst/>
                <a:latin typeface="Poppins" panose="020B0604020202020204" pitchFamily="34" charset="0"/>
              </a:rPr>
              <a:t>: Managed by OHDSI (Observational Health Data Sciences and Informatics) community, fostering collaboration and consistency in healthcare research.</a:t>
            </a:r>
          </a:p>
          <a:p>
            <a:pPr lvl="1" algn="l">
              <a:buFont typeface="Arial" panose="020B0604020202020204" pitchFamily="34" charset="0"/>
              <a:buChar char="•"/>
            </a:pPr>
            <a:endParaRPr lang="en-US" b="0" i="0" u="none" strike="noStrike" dirty="0">
              <a:solidFill>
                <a:srgbClr val="000000"/>
              </a:solidFill>
              <a:effectLst/>
              <a:latin typeface="Poppins" panose="020B0604020202020204" pitchFamily="34" charset="0"/>
            </a:endParaRPr>
          </a:p>
          <a:p>
            <a:pPr lvl="0" algn="l">
              <a:buFont typeface="Arial" panose="020B0604020202020204" pitchFamily="34" charset="0"/>
              <a:buChar char="•"/>
            </a:pPr>
            <a:r>
              <a:rPr lang="en-US" b="0" i="0" u="none" strike="noStrike" dirty="0">
                <a:solidFill>
                  <a:srgbClr val="000000"/>
                </a:solidFill>
                <a:effectLst/>
                <a:latin typeface="Poppins" pitchFamily="2" charset="77"/>
              </a:rPr>
              <a:t>OMOP codes are crucial because they standardize diverse healthcare data, enabling consistent and comprehensive large-scale analyses, thus advancing research and improving patient outcomes through better data interoperability.</a:t>
            </a:r>
          </a:p>
          <a:p>
            <a:pPr lvl="0" algn="l">
              <a:buFont typeface="Arial" panose="020B0604020202020204" pitchFamily="34" charset="0"/>
              <a:buChar char="•"/>
            </a:pPr>
            <a:endParaRPr lang="en-US" b="0" i="0" u="none" strike="noStrike" dirty="0">
              <a:solidFill>
                <a:srgbClr val="000000"/>
              </a:solidFill>
              <a:effectLst/>
              <a:latin typeface="Poppins" pitchFamily="2" charset="77"/>
            </a:endParaRPr>
          </a:p>
          <a:p>
            <a:pPr lvl="0" algn="l">
              <a:buFont typeface="Arial" panose="020B0604020202020204" pitchFamily="34" charset="0"/>
              <a:buChar char="•"/>
            </a:pPr>
            <a:r>
              <a:rPr lang="en-US" b="0" i="0" u="none" strike="noStrike" dirty="0">
                <a:solidFill>
                  <a:srgbClr val="000000"/>
                </a:solidFill>
                <a:effectLst/>
                <a:latin typeface="Poppins" panose="020B0604020202020204" pitchFamily="34" charset="0"/>
              </a:rPr>
              <a:t>https://</a:t>
            </a:r>
            <a:r>
              <a:rPr lang="en-US" b="0" i="0" u="none" strike="noStrike" dirty="0" err="1">
                <a:solidFill>
                  <a:srgbClr val="000000"/>
                </a:solidFill>
                <a:effectLst/>
                <a:latin typeface="Poppins" panose="020B0604020202020204" pitchFamily="34" charset="0"/>
              </a:rPr>
              <a:t>athena.ohdsi.org</a:t>
            </a:r>
            <a:r>
              <a:rPr lang="en-US" b="0" i="0" u="none" strike="noStrike" dirty="0">
                <a:solidFill>
                  <a:srgbClr val="000000"/>
                </a:solidFill>
                <a:effectLst/>
                <a:latin typeface="Poppins" panose="020B0604020202020204" pitchFamily="34" charset="0"/>
              </a:rPr>
              <a:t>/search-terms/start – this is the </a:t>
            </a:r>
            <a:r>
              <a:rPr lang="en-US" sz="1200" b="1" i="0" u="none" strike="noStrike" kern="1200" dirty="0">
                <a:solidFill>
                  <a:schemeClr val="tx1"/>
                </a:solidFill>
                <a:effectLst/>
                <a:latin typeface="+mn-lt"/>
                <a:ea typeface="+mn-ea"/>
                <a:cs typeface="+mn-cs"/>
              </a:rPr>
              <a:t>search interface and central repository</a:t>
            </a:r>
            <a:r>
              <a:rPr lang="en-US" sz="1200" b="0" i="0" u="none" strike="noStrike" kern="1200" dirty="0">
                <a:solidFill>
                  <a:schemeClr val="tx1"/>
                </a:solidFill>
                <a:effectLst/>
                <a:latin typeface="+mn-lt"/>
                <a:ea typeface="+mn-ea"/>
                <a:cs typeface="+mn-cs"/>
              </a:rPr>
              <a:t> for the </a:t>
            </a:r>
            <a:r>
              <a:rPr lang="en-US" sz="1200" b="1" i="0" u="none" strike="noStrike" kern="1200" dirty="0">
                <a:solidFill>
                  <a:schemeClr val="tx1"/>
                </a:solidFill>
                <a:effectLst/>
                <a:latin typeface="+mn-lt"/>
                <a:ea typeface="+mn-ea"/>
                <a:cs typeface="+mn-cs"/>
              </a:rPr>
              <a:t>Standardized Vocabularies</a:t>
            </a:r>
            <a:r>
              <a:rPr lang="en-US" sz="1200" b="0" i="0" u="none" strike="noStrike" kern="1200" dirty="0">
                <a:solidFill>
                  <a:schemeClr val="tx1"/>
                </a:solidFill>
                <a:effectLst/>
                <a:latin typeface="+mn-lt"/>
                <a:ea typeface="+mn-ea"/>
                <a:cs typeface="+mn-cs"/>
              </a:rPr>
              <a:t> used to map medical codes into the </a:t>
            </a:r>
            <a:r>
              <a:rPr lang="en-US" sz="1200" b="1" i="0" u="none" strike="noStrike" kern="1200" dirty="0">
                <a:solidFill>
                  <a:schemeClr val="tx1"/>
                </a:solidFill>
                <a:effectLst/>
                <a:latin typeface="+mn-lt"/>
                <a:ea typeface="+mn-ea"/>
                <a:cs typeface="+mn-cs"/>
              </a:rPr>
              <a:t>OMOP Common Data Model</a:t>
            </a:r>
            <a:r>
              <a:rPr lang="en-US" sz="1200" b="0" i="0" u="none" strike="noStrike" kern="1200" dirty="0">
                <a:solidFill>
                  <a:schemeClr val="tx1"/>
                </a:solidFill>
                <a:effectLst/>
                <a:latin typeface="+mn-lt"/>
                <a:ea typeface="+mn-ea"/>
                <a:cs typeface="+mn-cs"/>
              </a:rPr>
              <a:t> for health research.</a:t>
            </a:r>
            <a:endParaRPr lang="en-US" b="0" i="0" u="none" strike="noStrike" dirty="0">
              <a:solidFill>
                <a:srgbClr val="000000"/>
              </a:solidFill>
              <a:effectLst/>
              <a:latin typeface="Poppins"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50049E44-D13C-C54E-8DA3-DB5207EAD25C}" type="slidenum">
              <a:rPr lang="en-US" smtClean="0"/>
              <a:t>7</a:t>
            </a:fld>
            <a:endParaRPr lang="en-US"/>
          </a:p>
        </p:txBody>
      </p:sp>
    </p:spTree>
    <p:extLst>
      <p:ext uri="{BB962C8B-B14F-4D97-AF65-F5344CB8AC3E}">
        <p14:creationId xmlns:p14="http://schemas.microsoft.com/office/powerpoint/2010/main" val="2968069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6085E-8D39-4309-C301-FECC2030A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86697-9DB0-5691-7F8F-70501E974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ECE15-555C-156F-B537-4C6787D866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venir Book" panose="02000503020000020003" pitchFamily="2" charset="0"/>
              </a:rPr>
              <a:t>Before joining this session everyone was asked to create a workspace – so we will do a quick overview of a workspace for your future research projects</a:t>
            </a:r>
          </a:p>
          <a:p>
            <a:endParaRPr lang="en-US" dirty="0"/>
          </a:p>
        </p:txBody>
      </p:sp>
      <p:sp>
        <p:nvSpPr>
          <p:cNvPr id="4" name="Slide Number Placeholder 3">
            <a:extLst>
              <a:ext uri="{FF2B5EF4-FFF2-40B4-BE49-F238E27FC236}">
                <a16:creationId xmlns:a16="http://schemas.microsoft.com/office/drawing/2014/main" id="{EF3A6E29-9E71-E95A-25D0-ADDA233900E4}"/>
              </a:ext>
            </a:extLst>
          </p:cNvPr>
          <p:cNvSpPr>
            <a:spLocks noGrp="1"/>
          </p:cNvSpPr>
          <p:nvPr>
            <p:ph type="sldNum" sz="quarter" idx="5"/>
          </p:nvPr>
        </p:nvSpPr>
        <p:spPr/>
        <p:txBody>
          <a:bodyPr/>
          <a:lstStyle/>
          <a:p>
            <a:fld id="{A5B4ED3A-914E-6443-A2E7-C28A873C6BCA}" type="slidenum">
              <a:rPr lang="en-US" smtClean="0"/>
              <a:t>8</a:t>
            </a:fld>
            <a:endParaRPr lang="en-US"/>
          </a:p>
        </p:txBody>
      </p:sp>
    </p:spTree>
    <p:extLst>
      <p:ext uri="{BB962C8B-B14F-4D97-AF65-F5344CB8AC3E}">
        <p14:creationId xmlns:p14="http://schemas.microsoft.com/office/powerpoint/2010/main" val="1610746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6234-AC3A-783E-CB11-D87D26EB6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C0A41-2D19-F033-7D4F-FB5D99A0A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968A9-450C-A615-7321-767E87E1B6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2DFB1-7DF1-437D-0855-22B7E0121553}"/>
              </a:ext>
            </a:extLst>
          </p:cNvPr>
          <p:cNvSpPr>
            <a:spLocks noGrp="1"/>
          </p:cNvSpPr>
          <p:nvPr>
            <p:ph type="sldNum" sz="quarter" idx="5"/>
          </p:nvPr>
        </p:nvSpPr>
        <p:spPr/>
        <p:txBody>
          <a:bodyPr/>
          <a:lstStyle/>
          <a:p>
            <a:fld id="{A5B4ED3A-914E-6443-A2E7-C28A873C6BCA}" type="slidenum">
              <a:rPr lang="en-US" smtClean="0"/>
              <a:t>9</a:t>
            </a:fld>
            <a:endParaRPr lang="en-US"/>
          </a:p>
        </p:txBody>
      </p:sp>
    </p:spTree>
    <p:extLst>
      <p:ext uri="{BB962C8B-B14F-4D97-AF65-F5344CB8AC3E}">
        <p14:creationId xmlns:p14="http://schemas.microsoft.com/office/powerpoint/2010/main" val="322056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93B9F-D434-46DC-5BEF-52C2653A0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220EF-04EC-56E8-8825-961DE75DF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24DD0-D74E-EDA3-6B40-929631E76B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52217-3C96-80B5-9078-CEA0C9D6271B}"/>
              </a:ext>
            </a:extLst>
          </p:cNvPr>
          <p:cNvSpPr>
            <a:spLocks noGrp="1"/>
          </p:cNvSpPr>
          <p:nvPr>
            <p:ph type="sldNum" sz="quarter" idx="5"/>
          </p:nvPr>
        </p:nvSpPr>
        <p:spPr/>
        <p:txBody>
          <a:bodyPr/>
          <a:lstStyle/>
          <a:p>
            <a:fld id="{A5B4ED3A-914E-6443-A2E7-C28A873C6BCA}" type="slidenum">
              <a:rPr lang="en-US" smtClean="0"/>
              <a:t>10</a:t>
            </a:fld>
            <a:endParaRPr lang="en-US"/>
          </a:p>
        </p:txBody>
      </p:sp>
    </p:spTree>
    <p:extLst>
      <p:ext uri="{BB962C8B-B14F-4D97-AF65-F5344CB8AC3E}">
        <p14:creationId xmlns:p14="http://schemas.microsoft.com/office/powerpoint/2010/main" val="3187412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584EC-A1EE-FF74-C17C-1956F17AA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42831-B970-270A-1263-824A8BDDD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B4EC6-72D8-4C9D-8784-40AA4D250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31765E-B2A3-5336-353C-9CF85B2E127B}"/>
              </a:ext>
            </a:extLst>
          </p:cNvPr>
          <p:cNvSpPr>
            <a:spLocks noGrp="1"/>
          </p:cNvSpPr>
          <p:nvPr>
            <p:ph type="sldNum" sz="quarter" idx="5"/>
          </p:nvPr>
        </p:nvSpPr>
        <p:spPr/>
        <p:txBody>
          <a:bodyPr/>
          <a:lstStyle/>
          <a:p>
            <a:fld id="{A5B4ED3A-914E-6443-A2E7-C28A873C6BCA}" type="slidenum">
              <a:rPr lang="en-US" smtClean="0"/>
              <a:t>11</a:t>
            </a:fld>
            <a:endParaRPr lang="en-US"/>
          </a:p>
        </p:txBody>
      </p:sp>
    </p:spTree>
    <p:extLst>
      <p:ext uri="{BB962C8B-B14F-4D97-AF65-F5344CB8AC3E}">
        <p14:creationId xmlns:p14="http://schemas.microsoft.com/office/powerpoint/2010/main" val="1168571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924E-23EB-39FD-469B-ECEBC0819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B805A-1F96-7E03-6E66-BD496565D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9AE6A-E064-34F5-FB82-3C6DDDAAC4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85B006-E8FB-1FBF-FAC1-C3DD29DAB471}"/>
              </a:ext>
            </a:extLst>
          </p:cNvPr>
          <p:cNvSpPr>
            <a:spLocks noGrp="1"/>
          </p:cNvSpPr>
          <p:nvPr>
            <p:ph type="sldNum" sz="quarter" idx="5"/>
          </p:nvPr>
        </p:nvSpPr>
        <p:spPr/>
        <p:txBody>
          <a:bodyPr/>
          <a:lstStyle/>
          <a:p>
            <a:fld id="{A5B4ED3A-914E-6443-A2E7-C28A873C6BCA}" type="slidenum">
              <a:rPr lang="en-US" smtClean="0"/>
              <a:t>12</a:t>
            </a:fld>
            <a:endParaRPr lang="en-US"/>
          </a:p>
        </p:txBody>
      </p:sp>
    </p:spTree>
    <p:extLst>
      <p:ext uri="{BB962C8B-B14F-4D97-AF65-F5344CB8AC3E}">
        <p14:creationId xmlns:p14="http://schemas.microsoft.com/office/powerpoint/2010/main" val="2847619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e475f50ea5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e475f50ea5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570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err="1">
                <a:solidFill>
                  <a:schemeClr val="tx1"/>
                </a:solidFill>
                <a:effectLst/>
                <a:latin typeface="+mn-lt"/>
                <a:ea typeface="+mn-ea"/>
                <a:cs typeface="+mn-cs"/>
              </a:rPr>
              <a:t>RxNorm</a:t>
            </a:r>
            <a:r>
              <a:rPr lang="en-US" sz="1200" b="1" i="1" kern="1200" dirty="0">
                <a:solidFill>
                  <a:schemeClr val="tx1"/>
                </a:solidFill>
                <a:effectLst/>
                <a:latin typeface="+mn-lt"/>
                <a:ea typeface="+mn-ea"/>
                <a:cs typeface="+mn-cs"/>
              </a:rPr>
              <a:t> = </a:t>
            </a:r>
            <a:r>
              <a:rPr lang="en-US" sz="1200" b="1" i="0" u="none" strike="noStrike" kern="1200" dirty="0">
                <a:solidFill>
                  <a:schemeClr val="tx1"/>
                </a:solidFill>
                <a:effectLst/>
                <a:latin typeface="+mn-lt"/>
                <a:ea typeface="+mn-ea"/>
                <a:cs typeface="+mn-cs"/>
              </a:rPr>
              <a:t>Normalized Names for Clinical Drugs</a:t>
            </a:r>
            <a:endParaRPr lang="en-US"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SNOMED-CT = </a:t>
            </a:r>
            <a:r>
              <a:rPr lang="en-US" sz="1200" b="1" i="0" u="none" strike="noStrike" kern="1200" dirty="0">
                <a:solidFill>
                  <a:schemeClr val="tx1"/>
                </a:solidFill>
                <a:effectLst/>
                <a:latin typeface="+mn-lt"/>
                <a:ea typeface="+mn-ea"/>
                <a:cs typeface="+mn-cs"/>
              </a:rPr>
              <a:t>Systematized Nomenclature of Medicine—Clinical Terms</a:t>
            </a:r>
            <a:endParaRPr lang="en-US"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LOINC =</a:t>
            </a:r>
            <a:r>
              <a:rPr lang="en-US" sz="1200" b="1" i="0" u="none" strike="noStrike" kern="1200" dirty="0">
                <a:solidFill>
                  <a:schemeClr val="tx1"/>
                </a:solidFill>
                <a:effectLst/>
                <a:latin typeface="+mn-lt"/>
                <a:ea typeface="+mn-ea"/>
                <a:cs typeface="+mn-cs"/>
              </a:rPr>
              <a:t>Logical Observation Identifiers, Names, and Codes</a:t>
            </a:r>
            <a:endParaRPr lang="en-US" sz="1200" kern="1200" dirty="0">
              <a:solidFill>
                <a:schemeClr val="tx1"/>
              </a:solidFill>
              <a:effectLst/>
              <a:latin typeface="+mn-lt"/>
              <a:ea typeface="+mn-ea"/>
              <a:cs typeface="+mn-cs"/>
            </a:endParaRPr>
          </a:p>
          <a:p>
            <a:endParaRPr lang="en-US" dirty="0"/>
          </a:p>
          <a:p>
            <a:endParaRPr lang="en-US" dirty="0"/>
          </a:p>
          <a:p>
            <a:r>
              <a:rPr lang="en-US" sz="1200" kern="1200" dirty="0">
                <a:solidFill>
                  <a:schemeClr val="tx1"/>
                </a:solidFill>
                <a:effectLst/>
                <a:latin typeface="+mn-lt"/>
                <a:ea typeface="+mn-ea"/>
                <a:cs typeface="+mn-cs"/>
              </a:rPr>
              <a:t>ATHENA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purpose of </a:t>
            </a:r>
            <a:r>
              <a:rPr lang="en-US" sz="1200" b="1" kern="1200" dirty="0">
                <a:solidFill>
                  <a:schemeClr val="tx1"/>
                </a:solidFill>
                <a:effectLst/>
                <a:latin typeface="+mn-lt"/>
                <a:ea typeface="+mn-ea"/>
                <a:cs typeface="+mn-cs"/>
              </a:rPr>
              <a:t>Athena</a:t>
            </a:r>
            <a:r>
              <a:rPr lang="en-US" sz="1200" kern="1200" dirty="0">
                <a:solidFill>
                  <a:schemeClr val="tx1"/>
                </a:solidFill>
                <a:effectLst/>
                <a:latin typeface="+mn-lt"/>
                <a:ea typeface="+mn-ea"/>
                <a:cs typeface="+mn-cs"/>
              </a:rPr>
              <a:t> is to serve as a public, searchable resource for the standardized vocabularies utilized within the OMOP Common Data Model (CDM).</a:t>
            </a:r>
          </a:p>
          <a:p>
            <a:r>
              <a:rPr lang="en-US" sz="1200" kern="1200" dirty="0">
                <a:solidFill>
                  <a:schemeClr val="tx1"/>
                </a:solidFill>
                <a:effectLst/>
                <a:latin typeface="+mn-lt"/>
                <a:ea typeface="+mn-ea"/>
                <a:cs typeface="+mn-cs"/>
              </a:rPr>
              <a:t>Specifically, Athena functions as:</a:t>
            </a:r>
          </a:p>
          <a:p>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A Searchable Database:</a:t>
            </a:r>
            <a:r>
              <a:rPr lang="en-US" sz="1200" kern="1200" dirty="0">
                <a:solidFill>
                  <a:schemeClr val="tx1"/>
                </a:solidFill>
                <a:effectLst/>
                <a:latin typeface="+mn-lt"/>
                <a:ea typeface="+mn-ea"/>
                <a:cs typeface="+mn-cs"/>
              </a:rPr>
              <a:t> Athena is a searchable database maintained by the Observational Health Data Sciences and Informatics (OHDSI) community, which manages OMOP.</a:t>
            </a:r>
          </a:p>
          <a:p>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A Vocabulary Explorer:</a:t>
            </a:r>
            <a:r>
              <a:rPr lang="en-US" sz="1200" kern="1200" dirty="0">
                <a:solidFill>
                  <a:schemeClr val="tx1"/>
                </a:solidFill>
                <a:effectLst/>
                <a:latin typeface="+mn-lt"/>
                <a:ea typeface="+mn-ea"/>
                <a:cs typeface="+mn-cs"/>
              </a:rPr>
              <a:t> Users can browse and explore the standardized vocabularies used in OMOP through this publicly available website.</a:t>
            </a:r>
          </a:p>
          <a:p>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A Mapping Tool:</a:t>
            </a:r>
            <a:r>
              <a:rPr lang="en-US" sz="1200" kern="1200" dirty="0">
                <a:solidFill>
                  <a:schemeClr val="tx1"/>
                </a:solidFill>
                <a:effectLst/>
                <a:latin typeface="+mn-lt"/>
                <a:ea typeface="+mn-ea"/>
                <a:cs typeface="+mn-cs"/>
              </a:rPr>
              <a:t> Its primary function is to help users </a:t>
            </a:r>
            <a:r>
              <a:rPr lang="en-US" sz="1200" b="1" kern="1200" dirty="0">
                <a:solidFill>
                  <a:schemeClr val="tx1"/>
                </a:solidFill>
                <a:effectLst/>
                <a:latin typeface="+mn-lt"/>
                <a:ea typeface="+mn-ea"/>
                <a:cs typeface="+mn-cs"/>
              </a:rPr>
              <a:t>identify terms and match them to their standard OMOP equivalent</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A Domain Navigator:</a:t>
            </a:r>
            <a:r>
              <a:rPr lang="en-US" sz="1200" kern="1200" dirty="0">
                <a:solidFill>
                  <a:schemeClr val="tx1"/>
                </a:solidFill>
                <a:effectLst/>
                <a:latin typeface="+mn-lt"/>
                <a:ea typeface="+mn-ea"/>
                <a:cs typeface="+mn-cs"/>
              </a:rPr>
              <a:t> Users can search the platform by typing terms into the search bar or by exploring topics organized according to the OMOP domain.</a:t>
            </a:r>
          </a:p>
          <a:p>
            <a:r>
              <a:rPr lang="en-US" sz="1200" kern="1200" dirty="0">
                <a:solidFill>
                  <a:schemeClr val="tx1"/>
                </a:solidFill>
                <a:effectLst/>
                <a:latin typeface="+mn-lt"/>
                <a:ea typeface="+mn-ea"/>
                <a:cs typeface="+mn-cs"/>
              </a:rPr>
              <a:t>In essence, Athena supports the fundamental OMOP goal of standardization by providing easy access to the standardized concepts necessary for analysis across different healthcare data sources.</a:t>
            </a:r>
          </a:p>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14</a:t>
            </a:fld>
            <a:endParaRPr lang="en-US"/>
          </a:p>
        </p:txBody>
      </p:sp>
    </p:spTree>
    <p:extLst>
      <p:ext uri="{BB962C8B-B14F-4D97-AF65-F5344CB8AC3E}">
        <p14:creationId xmlns:p14="http://schemas.microsoft.com/office/powerpoint/2010/main" val="2747185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C11C-968D-DF68-4702-C2A564248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5A654-A3AA-CD30-2ADC-37417299C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F5C62-DA3F-E4BE-8F18-392FFD9BDAD0}"/>
              </a:ext>
            </a:extLst>
          </p:cNvPr>
          <p:cNvSpPr>
            <a:spLocks noGrp="1"/>
          </p:cNvSpPr>
          <p:nvPr>
            <p:ph type="body" idx="1"/>
          </p:nvPr>
        </p:nvSpPr>
        <p:spPr/>
        <p:txBody>
          <a:bodyPr/>
          <a:lstStyle/>
          <a:p>
            <a:endParaRPr lang="en-US" dirty="0"/>
          </a:p>
          <a:p>
            <a:r>
              <a:rPr lang="en-US" sz="1200" b="1" i="0" u="none" strike="noStrike" kern="1200" dirty="0">
                <a:solidFill>
                  <a:schemeClr val="tx1"/>
                </a:solidFill>
                <a:effectLst/>
                <a:latin typeface="+mn-lt"/>
                <a:ea typeface="+mn-ea"/>
                <a:cs typeface="+mn-cs"/>
              </a:rPr>
              <a:t>Sources and Standardization for Condition and Procedure Domains</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1. What are the Sources?</a:t>
            </a:r>
          </a:p>
          <a:p>
            <a:r>
              <a:rPr lang="en-US" sz="1200" b="0" i="0" u="none" strike="noStrike" kern="1200" dirty="0">
                <a:solidFill>
                  <a:schemeClr val="tx1"/>
                </a:solidFill>
                <a:effectLst/>
                <a:latin typeface="+mn-lt"/>
                <a:ea typeface="+mn-ea"/>
                <a:cs typeface="+mn-cs"/>
              </a:rPr>
              <a:t>For the </a:t>
            </a:r>
            <a:r>
              <a:rPr lang="en-US" sz="1200" b="1" i="0" u="none" strike="noStrike" kern="1200" dirty="0">
                <a:solidFill>
                  <a:schemeClr val="tx1"/>
                </a:solidFill>
                <a:effectLst/>
                <a:latin typeface="+mn-lt"/>
                <a:ea typeface="+mn-ea"/>
                <a:cs typeface="+mn-cs"/>
              </a:rPr>
              <a:t>Condition</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Procedure</a:t>
            </a:r>
            <a:r>
              <a:rPr lang="en-US" sz="1200" b="0" i="0" u="none" strike="noStrike" kern="1200" dirty="0">
                <a:solidFill>
                  <a:schemeClr val="tx1"/>
                </a:solidFill>
                <a:effectLst/>
                <a:latin typeface="+mn-lt"/>
                <a:ea typeface="+mn-ea"/>
                <a:cs typeface="+mn-cs"/>
              </a:rPr>
              <a:t> domains, the data originates from a wide variety of </a:t>
            </a:r>
            <a:r>
              <a:rPr lang="en-US" sz="1200" b="1" i="0" u="none" strike="noStrike" kern="1200" dirty="0">
                <a:solidFill>
                  <a:schemeClr val="tx1"/>
                </a:solidFill>
                <a:effectLst/>
                <a:latin typeface="+mn-lt"/>
                <a:ea typeface="+mn-ea"/>
                <a:cs typeface="+mn-cs"/>
              </a:rPr>
              <a:t>Non-Standard</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Local Source Vocabularies</a:t>
            </a:r>
            <a:r>
              <a:rPr lang="en-US" sz="1200" b="0" i="0" u="none" strike="noStrike" kern="1200" dirty="0">
                <a:solidFill>
                  <a:schemeClr val="tx1"/>
                </a:solidFill>
                <a:effectLst/>
                <a:latin typeface="+mn-lt"/>
                <a:ea typeface="+mn-ea"/>
                <a:cs typeface="+mn-cs"/>
              </a:rPr>
              <a:t> used by hospitals and health systems.</a:t>
            </a:r>
          </a:p>
          <a:p>
            <a:r>
              <a:rPr lang="en-US" sz="1200" b="0" i="0" u="none" strike="noStrike" kern="1200" dirty="0">
                <a:solidFill>
                  <a:schemeClr val="tx1"/>
                </a:solidFill>
                <a:effectLst/>
                <a:latin typeface="+mn-lt"/>
                <a:ea typeface="+mn-ea"/>
                <a:cs typeface="+mn-cs"/>
              </a:rPr>
              <a:t>The most common sources that get mapped into the OMOP Standard Concepts are:</a:t>
            </a:r>
          </a:p>
          <a:p>
            <a:r>
              <a:rPr lang="en-US" sz="1200" b="1" i="0" u="none" strike="noStrike" kern="1200" dirty="0">
                <a:solidFill>
                  <a:schemeClr val="tx1"/>
                </a:solidFill>
                <a:effectLst/>
                <a:latin typeface="+mn-lt"/>
                <a:ea typeface="+mn-ea"/>
                <a:cs typeface="+mn-cs"/>
              </a:rPr>
              <a:t>ICD-9-CM</a:t>
            </a:r>
            <a:r>
              <a:rPr lang="en-US" sz="1200" b="0" i="0" u="none" strike="noStrike" kern="1200" dirty="0">
                <a:solidFill>
                  <a:schemeClr val="tx1"/>
                </a:solidFill>
                <a:effectLst/>
                <a:latin typeface="+mn-lt"/>
                <a:ea typeface="+mn-ea"/>
                <a:cs typeface="+mn-cs"/>
              </a:rPr>
              <a:t> (International Classification of Diseases, 9th Revision, Clinical Modification)</a:t>
            </a:r>
          </a:p>
          <a:p>
            <a:r>
              <a:rPr lang="en-US" sz="1200" b="1" i="0" u="none" strike="noStrike" kern="1200" dirty="0">
                <a:solidFill>
                  <a:schemeClr val="tx1"/>
                </a:solidFill>
                <a:effectLst/>
                <a:latin typeface="+mn-lt"/>
                <a:ea typeface="+mn-ea"/>
                <a:cs typeface="+mn-cs"/>
              </a:rPr>
              <a:t>ICD-10-CM</a:t>
            </a:r>
            <a:r>
              <a:rPr lang="en-US" sz="1200" b="0" i="0" u="none" strike="noStrike" kern="1200" dirty="0">
                <a:solidFill>
                  <a:schemeClr val="tx1"/>
                </a:solidFill>
                <a:effectLst/>
                <a:latin typeface="+mn-lt"/>
                <a:ea typeface="+mn-ea"/>
                <a:cs typeface="+mn-cs"/>
              </a:rPr>
              <a:t> (International Classification of Diseases, 10th Revision, Clinical Modification/Procedure Coding System)</a:t>
            </a:r>
          </a:p>
          <a:p>
            <a:r>
              <a:rPr lang="en-US" sz="1200" b="1" i="0" u="none" strike="noStrike" kern="1200" dirty="0">
                <a:solidFill>
                  <a:schemeClr val="tx1"/>
                </a:solidFill>
                <a:effectLst/>
                <a:latin typeface="+mn-lt"/>
                <a:ea typeface="+mn-ea"/>
                <a:cs typeface="+mn-cs"/>
              </a:rPr>
              <a:t>CPT4</a:t>
            </a:r>
            <a:r>
              <a:rPr lang="en-US" sz="1200" b="0" i="0" u="none" strike="noStrike" kern="1200" dirty="0">
                <a:solidFill>
                  <a:schemeClr val="tx1"/>
                </a:solidFill>
                <a:effectLst/>
                <a:latin typeface="+mn-lt"/>
                <a:ea typeface="+mn-ea"/>
                <a:cs typeface="+mn-cs"/>
              </a:rPr>
              <a:t> (Current Procedural Terminology, primarily for procedures)</a:t>
            </a:r>
          </a:p>
          <a:p>
            <a:r>
              <a:rPr lang="en-US" sz="1200" b="1" i="0" u="none" strike="noStrike" kern="1200" dirty="0">
                <a:solidFill>
                  <a:schemeClr val="tx1"/>
                </a:solidFill>
                <a:effectLst/>
                <a:latin typeface="+mn-lt"/>
                <a:ea typeface="+mn-ea"/>
                <a:cs typeface="+mn-cs"/>
              </a:rPr>
              <a:t>Local/Proprietary Codes</a:t>
            </a:r>
            <a:r>
              <a:rPr lang="en-US" sz="1200" b="0" i="0" u="none" strike="noStrike" kern="1200" dirty="0">
                <a:solidFill>
                  <a:schemeClr val="tx1"/>
                </a:solidFill>
                <a:effectLst/>
                <a:latin typeface="+mn-lt"/>
                <a:ea typeface="+mn-ea"/>
                <a:cs typeface="+mn-cs"/>
              </a:rPr>
              <a:t> (Codes unique to a specific institution or vendor)</a:t>
            </a:r>
          </a:p>
          <a:p>
            <a:r>
              <a:rPr lang="en-US" sz="1200" b="1" i="0" u="none" strike="noStrike" kern="1200" dirty="0">
                <a:solidFill>
                  <a:schemeClr val="tx1"/>
                </a:solidFill>
                <a:effectLst/>
                <a:latin typeface="+mn-lt"/>
                <a:ea typeface="+mn-ea"/>
                <a:cs typeface="+mn-cs"/>
              </a:rPr>
              <a:t>Source SNOMED CT</a:t>
            </a:r>
            <a:r>
              <a:rPr lang="en-US" sz="1200" b="0" i="0" u="none" strike="noStrike" kern="1200" dirty="0">
                <a:solidFill>
                  <a:schemeClr val="tx1"/>
                </a:solidFill>
                <a:effectLst/>
                <a:latin typeface="+mn-lt"/>
                <a:ea typeface="+mn-ea"/>
                <a:cs typeface="+mn-cs"/>
              </a:rPr>
              <a:t> (SNOMED codes used by the EHR, which are often already standard)</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2. Why is SNOMED CT the Standard?</a:t>
            </a:r>
          </a:p>
          <a:p>
            <a:r>
              <a:rPr lang="en-US" sz="1200" b="1" i="0" u="none" strike="noStrike" kern="1200" dirty="0">
                <a:solidFill>
                  <a:schemeClr val="tx1"/>
                </a:solidFill>
                <a:effectLst/>
                <a:latin typeface="+mn-lt"/>
                <a:ea typeface="+mn-ea"/>
                <a:cs typeface="+mn-cs"/>
              </a:rPr>
              <a:t>SNOMED CT</a:t>
            </a:r>
            <a:r>
              <a:rPr lang="en-US" sz="1200" b="0" i="0" u="none" strike="noStrike" kern="1200" dirty="0">
                <a:solidFill>
                  <a:schemeClr val="tx1"/>
                </a:solidFill>
                <a:effectLst/>
                <a:latin typeface="+mn-lt"/>
                <a:ea typeface="+mn-ea"/>
                <a:cs typeface="+mn-cs"/>
              </a:rPr>
              <a:t> (Systematized Nomenclature of Medicine - Clinical Terms) is designated as the primary OMOP Standard Vocabulary for these clinical domains because it offers the </a:t>
            </a:r>
            <a:r>
              <a:rPr lang="en-US" sz="1200" b="1" i="0" u="none" strike="noStrike" kern="1200" dirty="0">
                <a:solidFill>
                  <a:schemeClr val="tx1"/>
                </a:solidFill>
                <a:effectLst/>
                <a:latin typeface="+mn-lt"/>
                <a:ea typeface="+mn-ea"/>
                <a:cs typeface="+mn-cs"/>
              </a:rPr>
              <a:t>best balance of clinical precision, coverage, and structure</a:t>
            </a:r>
            <a:r>
              <a:rPr lang="en-US" sz="1200" b="0" i="0" u="none" strike="noStrike" kern="1200" dirty="0">
                <a:solidFill>
                  <a:schemeClr val="tx1"/>
                </a:solidFill>
                <a:effectLst/>
                <a:latin typeface="+mn-lt"/>
                <a:ea typeface="+mn-ea"/>
                <a:cs typeface="+mn-cs"/>
              </a:rPr>
              <a:t>:</a:t>
            </a:r>
          </a:p>
          <a:p>
            <a:r>
              <a:rPr lang="en-US" sz="1200" b="1" i="0" u="none" strike="noStrike" kern="1200" dirty="0">
                <a:solidFill>
                  <a:schemeClr val="tx1"/>
                </a:solidFill>
                <a:effectLst/>
                <a:latin typeface="+mn-lt"/>
                <a:ea typeface="+mn-ea"/>
                <a:cs typeface="+mn-cs"/>
              </a:rPr>
              <a:t>Clinical Granularity:</a:t>
            </a:r>
            <a:r>
              <a:rPr lang="en-US" sz="1200" b="0" i="0" u="none" strike="noStrike" kern="1200" dirty="0">
                <a:solidFill>
                  <a:schemeClr val="tx1"/>
                </a:solidFill>
                <a:effectLst/>
                <a:latin typeface="+mn-lt"/>
                <a:ea typeface="+mn-ea"/>
                <a:cs typeface="+mn-cs"/>
              </a:rPr>
              <a:t> SNOMED CT provides codes for fine-grained clinical details and subtle distinctions that are necessary for research, unlike ICD codes, which are optimized for billing and public health statistics.</a:t>
            </a:r>
          </a:p>
          <a:p>
            <a:r>
              <a:rPr lang="en-US" sz="1200" b="1" i="0" u="none" strike="noStrike" kern="1200" dirty="0">
                <a:solidFill>
                  <a:schemeClr val="tx1"/>
                </a:solidFill>
                <a:effectLst/>
                <a:latin typeface="+mn-lt"/>
                <a:ea typeface="+mn-ea"/>
                <a:cs typeface="+mn-cs"/>
              </a:rPr>
              <a:t>Hierarchical Structure:</a:t>
            </a:r>
            <a:r>
              <a:rPr lang="en-US" sz="1200" b="0" i="0" u="none" strike="noStrike" kern="1200" dirty="0">
                <a:solidFill>
                  <a:schemeClr val="tx1"/>
                </a:solidFill>
                <a:effectLst/>
                <a:latin typeface="+mn-lt"/>
                <a:ea typeface="+mn-ea"/>
                <a:cs typeface="+mn-cs"/>
              </a:rPr>
              <a:t> Its poly-hierarchical structure allows researchers to query data efficiently. For instance, a query can easily capture all specific types of </a:t>
            </a:r>
            <a:r>
              <a:rPr lang="en-US" sz="1200" b="1" i="0" u="none" strike="noStrike" kern="1200" dirty="0">
                <a:solidFill>
                  <a:schemeClr val="tx1"/>
                </a:solidFill>
                <a:effectLst/>
                <a:latin typeface="+mn-lt"/>
                <a:ea typeface="+mn-ea"/>
                <a:cs typeface="+mn-cs"/>
              </a:rPr>
              <a:t>Asthma</a:t>
            </a:r>
            <a:r>
              <a:rPr lang="en-US" sz="1200" b="0" i="0" u="none" strike="noStrike" kern="1200" dirty="0">
                <a:solidFill>
                  <a:schemeClr val="tx1"/>
                </a:solidFill>
                <a:effectLst/>
                <a:latin typeface="+mn-lt"/>
                <a:ea typeface="+mn-ea"/>
                <a:cs typeface="+mn-cs"/>
              </a:rPr>
              <a:t> (a broad SNOMED concept) without having to list every single source code (ICD-10 code) individually.</a:t>
            </a:r>
          </a:p>
          <a:p>
            <a:r>
              <a:rPr lang="en-US" sz="1200" b="1" i="0" u="none" strike="noStrike" kern="1200" dirty="0">
                <a:solidFill>
                  <a:schemeClr val="tx1"/>
                </a:solidFill>
                <a:effectLst/>
                <a:latin typeface="+mn-lt"/>
                <a:ea typeface="+mn-ea"/>
                <a:cs typeface="+mn-cs"/>
              </a:rPr>
              <a:t>Unified Global Standard:</a:t>
            </a:r>
            <a:r>
              <a:rPr lang="en-US" sz="1200" b="0" i="0" u="none" strike="noStrike" kern="1200" dirty="0">
                <a:solidFill>
                  <a:schemeClr val="tx1"/>
                </a:solidFill>
                <a:effectLst/>
                <a:latin typeface="+mn-lt"/>
                <a:ea typeface="+mn-ea"/>
                <a:cs typeface="+mn-cs"/>
              </a:rPr>
              <a:t> As a globally accepted clinical standard, it acts as a superior "target language" to harmonize data from diverse systems (like the various ICD and CPT versions) into one consistent, research-ready format.</a:t>
            </a:r>
          </a:p>
          <a:p>
            <a:endParaRPr lang="en-US" sz="1200" b="0"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3.  The Final Key (The "Why OMOP Concept ID?")</a:t>
            </a:r>
          </a:p>
          <a:p>
            <a:r>
              <a:rPr lang="en-US" sz="1200" b="0" i="0" u="none" strike="noStrike" kern="1200" dirty="0">
                <a:solidFill>
                  <a:schemeClr val="tx1"/>
                </a:solidFill>
                <a:effectLst/>
                <a:latin typeface="+mn-lt"/>
                <a:ea typeface="+mn-ea"/>
                <a:cs typeface="+mn-cs"/>
              </a:rPr>
              <a:t>All SNOMED Concepts are assigned a single, </a:t>
            </a:r>
            <a:r>
              <a:rPr lang="en-US" sz="1200" b="1" i="0" u="none" strike="noStrike" kern="1200" dirty="0">
                <a:solidFill>
                  <a:schemeClr val="tx1"/>
                </a:solidFill>
                <a:effectLst/>
                <a:latin typeface="+mn-lt"/>
                <a:ea typeface="+mn-ea"/>
                <a:cs typeface="+mn-cs"/>
              </a:rPr>
              <a:t>stable OMOP Concept ID</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This ID is used for analysis, ensuring that a patient coded with </a:t>
            </a:r>
            <a:r>
              <a:rPr lang="en-US" sz="1200" b="1" i="0" u="none" strike="noStrike" kern="1200" dirty="0">
                <a:solidFill>
                  <a:schemeClr val="tx1"/>
                </a:solidFill>
                <a:effectLst/>
                <a:latin typeface="+mn-lt"/>
                <a:ea typeface="+mn-ea"/>
                <a:cs typeface="+mn-cs"/>
              </a:rPr>
              <a:t>ICD-10</a:t>
            </a:r>
            <a:r>
              <a:rPr lang="en-US" sz="1200" b="0" i="0" u="none" strike="noStrike" kern="1200" dirty="0">
                <a:solidFill>
                  <a:schemeClr val="tx1"/>
                </a:solidFill>
                <a:effectLst/>
                <a:latin typeface="+mn-lt"/>
                <a:ea typeface="+mn-ea"/>
                <a:cs typeface="+mn-cs"/>
              </a:rPr>
              <a:t> in one site maps to the </a:t>
            </a:r>
            <a:r>
              <a:rPr lang="en-US" sz="1200" b="1" i="0" u="none" strike="noStrike" kern="1200" dirty="0">
                <a:solidFill>
                  <a:schemeClr val="tx1"/>
                </a:solidFill>
                <a:effectLst/>
                <a:latin typeface="+mn-lt"/>
                <a:ea typeface="+mn-ea"/>
                <a:cs typeface="+mn-cs"/>
              </a:rPr>
              <a:t>exact same ID</a:t>
            </a:r>
            <a:r>
              <a:rPr lang="en-US" sz="1200" b="0" i="0" u="none" strike="noStrike" kern="1200" dirty="0">
                <a:solidFill>
                  <a:schemeClr val="tx1"/>
                </a:solidFill>
                <a:effectLst/>
                <a:latin typeface="+mn-lt"/>
                <a:ea typeface="+mn-ea"/>
                <a:cs typeface="+mn-cs"/>
              </a:rPr>
              <a:t> as a patient coded with </a:t>
            </a:r>
            <a:r>
              <a:rPr lang="en-US" sz="1200" b="1" i="0" u="none" strike="noStrike" kern="1200" dirty="0">
                <a:solidFill>
                  <a:schemeClr val="tx1"/>
                </a:solidFill>
                <a:effectLst/>
                <a:latin typeface="+mn-lt"/>
                <a:ea typeface="+mn-ea"/>
                <a:cs typeface="+mn-cs"/>
              </a:rPr>
              <a:t>SNOMED CT</a:t>
            </a:r>
            <a:r>
              <a:rPr lang="en-US" sz="1200" b="0" i="0" u="none" strike="noStrike" kern="1200" dirty="0">
                <a:solidFill>
                  <a:schemeClr val="tx1"/>
                </a:solidFill>
                <a:effectLst/>
                <a:latin typeface="+mn-lt"/>
                <a:ea typeface="+mn-ea"/>
                <a:cs typeface="+mn-cs"/>
              </a:rPr>
              <a:t> in another site.</a:t>
            </a:r>
          </a:p>
          <a:p>
            <a:endParaRPr lang="en-US" sz="1200" b="0" i="0" u="none" strike="noStrike"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E58793E-6F9B-2721-C05F-7A842AC67831}"/>
              </a:ext>
            </a:extLst>
          </p:cNvPr>
          <p:cNvSpPr>
            <a:spLocks noGrp="1"/>
          </p:cNvSpPr>
          <p:nvPr>
            <p:ph type="sldNum" sz="quarter" idx="5"/>
          </p:nvPr>
        </p:nvSpPr>
        <p:spPr/>
        <p:txBody>
          <a:bodyPr/>
          <a:lstStyle/>
          <a:p>
            <a:fld id="{A5B4ED3A-914E-6443-A2E7-C28A873C6BCA}" type="slidenum">
              <a:rPr lang="en-US" smtClean="0"/>
              <a:t>15</a:t>
            </a:fld>
            <a:endParaRPr lang="en-US"/>
          </a:p>
        </p:txBody>
      </p:sp>
    </p:spTree>
    <p:extLst>
      <p:ext uri="{BB962C8B-B14F-4D97-AF65-F5344CB8AC3E}">
        <p14:creationId xmlns:p14="http://schemas.microsoft.com/office/powerpoint/2010/main" val="3665252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C038A-5C80-8A08-4808-D1C54CB64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94632-ED52-5C6F-9E1D-F6B071A26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FB9DA-5336-D47F-012D-3F6FDE3A05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52459-2CF9-F07B-C804-2816B327A957}"/>
              </a:ext>
            </a:extLst>
          </p:cNvPr>
          <p:cNvSpPr>
            <a:spLocks noGrp="1"/>
          </p:cNvSpPr>
          <p:nvPr>
            <p:ph type="sldNum" sz="quarter" idx="5"/>
          </p:nvPr>
        </p:nvSpPr>
        <p:spPr/>
        <p:txBody>
          <a:bodyPr/>
          <a:lstStyle/>
          <a:p>
            <a:fld id="{A5B4ED3A-914E-6443-A2E7-C28A873C6BCA}" type="slidenum">
              <a:rPr lang="en-US" smtClean="0"/>
              <a:t>16</a:t>
            </a:fld>
            <a:endParaRPr lang="en-US"/>
          </a:p>
        </p:txBody>
      </p:sp>
    </p:spTree>
    <p:extLst>
      <p:ext uri="{BB962C8B-B14F-4D97-AF65-F5344CB8AC3E}">
        <p14:creationId xmlns:p14="http://schemas.microsoft.com/office/powerpoint/2010/main" val="1716354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1274-1168-C1D8-F894-B223C56B1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71AE5-F4F8-D27F-5FB3-97715795B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52C47-690B-7180-7BE3-82B403874019}"/>
              </a:ext>
            </a:extLst>
          </p:cNvPr>
          <p:cNvSpPr>
            <a:spLocks noGrp="1"/>
          </p:cNvSpPr>
          <p:nvPr>
            <p:ph type="body" idx="1"/>
          </p:nvPr>
        </p:nvSpPr>
        <p:spPr/>
        <p:txBody>
          <a:bodyPr/>
          <a:lstStyle/>
          <a:p>
            <a:r>
              <a:rPr lang="en-US" b="1" dirty="0"/>
              <a:t>Persistent Disk:</a:t>
            </a:r>
            <a:r>
              <a:rPr lang="en-US" dirty="0"/>
              <a:t> Think of this as a virtual computer's hard drive. You are billed for the total space you set aside, like buying a 50 GB hard drive, even if you only use 10 GB. It is attached to your virtual machine and is best for active work.</a:t>
            </a:r>
          </a:p>
          <a:p>
            <a:endParaRPr lang="en-US" dirty="0"/>
          </a:p>
          <a:p>
            <a:r>
              <a:rPr lang="en-US" b="1" dirty="0"/>
              <a:t>Workspace Bucket:</a:t>
            </a:r>
            <a:r>
              <a:rPr lang="en-US" dirty="0"/>
              <a:t> Think of this as cloud storage, like Google Drive. You are only billed for data you store. It's a central, shared location for your team's files and is the most cost-effective option for long-term storage.</a:t>
            </a:r>
          </a:p>
          <a:p>
            <a:endParaRPr lang="en-US" dirty="0"/>
          </a:p>
        </p:txBody>
      </p:sp>
      <p:sp>
        <p:nvSpPr>
          <p:cNvPr id="4" name="Slide Number Placeholder 3">
            <a:extLst>
              <a:ext uri="{FF2B5EF4-FFF2-40B4-BE49-F238E27FC236}">
                <a16:creationId xmlns:a16="http://schemas.microsoft.com/office/drawing/2014/main" id="{46E64A09-E475-65A0-5F6C-976716F0B39E}"/>
              </a:ext>
            </a:extLst>
          </p:cNvPr>
          <p:cNvSpPr>
            <a:spLocks noGrp="1"/>
          </p:cNvSpPr>
          <p:nvPr>
            <p:ph type="sldNum" sz="quarter" idx="5"/>
          </p:nvPr>
        </p:nvSpPr>
        <p:spPr/>
        <p:txBody>
          <a:bodyPr/>
          <a:lstStyle/>
          <a:p>
            <a:fld id="{A5B4ED3A-914E-6443-A2E7-C28A873C6BCA}" type="slidenum">
              <a:rPr lang="en-US" smtClean="0"/>
              <a:t>17</a:t>
            </a:fld>
            <a:endParaRPr lang="en-US"/>
          </a:p>
        </p:txBody>
      </p:sp>
    </p:spTree>
    <p:extLst>
      <p:ext uri="{BB962C8B-B14F-4D97-AF65-F5344CB8AC3E}">
        <p14:creationId xmlns:p14="http://schemas.microsoft.com/office/powerpoint/2010/main" val="2962108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5B2FA-C36E-6B0D-F7BA-96BBD1F9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D0706-2BA6-8BE0-80EA-F9E4BE05F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5F995-EA77-D7CD-1E3E-B9BBA8D7F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E7184-1716-A775-F5A5-A916974C727D}"/>
              </a:ext>
            </a:extLst>
          </p:cNvPr>
          <p:cNvSpPr>
            <a:spLocks noGrp="1"/>
          </p:cNvSpPr>
          <p:nvPr>
            <p:ph type="sldNum" sz="quarter" idx="5"/>
          </p:nvPr>
        </p:nvSpPr>
        <p:spPr/>
        <p:txBody>
          <a:bodyPr/>
          <a:lstStyle/>
          <a:p>
            <a:fld id="{A5B4ED3A-914E-6443-A2E7-C28A873C6BCA}" type="slidenum">
              <a:rPr lang="en-US" smtClean="0"/>
              <a:t>18</a:t>
            </a:fld>
            <a:endParaRPr lang="en-US"/>
          </a:p>
        </p:txBody>
      </p:sp>
    </p:spTree>
    <p:extLst>
      <p:ext uri="{BB962C8B-B14F-4D97-AF65-F5344CB8AC3E}">
        <p14:creationId xmlns:p14="http://schemas.microsoft.com/office/powerpoint/2010/main" val="4253035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BA5C-125B-4BBC-F9ED-C13EA1353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A353F-E7CE-2DCD-7D22-672B5B9D6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3F3F2-D64B-7553-F6CC-21A6B6AB2F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FDDC05-009E-FB35-0ADE-E852C3154B80}"/>
              </a:ext>
            </a:extLst>
          </p:cNvPr>
          <p:cNvSpPr>
            <a:spLocks noGrp="1"/>
          </p:cNvSpPr>
          <p:nvPr>
            <p:ph type="sldNum" sz="quarter" idx="5"/>
          </p:nvPr>
        </p:nvSpPr>
        <p:spPr/>
        <p:txBody>
          <a:bodyPr/>
          <a:lstStyle/>
          <a:p>
            <a:fld id="{A5B4ED3A-914E-6443-A2E7-C28A873C6BCA}" type="slidenum">
              <a:rPr lang="en-US" smtClean="0"/>
              <a:t>19</a:t>
            </a:fld>
            <a:endParaRPr lang="en-US"/>
          </a:p>
        </p:txBody>
      </p:sp>
    </p:spTree>
    <p:extLst>
      <p:ext uri="{BB962C8B-B14F-4D97-AF65-F5344CB8AC3E}">
        <p14:creationId xmlns:p14="http://schemas.microsoft.com/office/powerpoint/2010/main" val="34958597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674D2-B904-E1B4-14C1-DE7200F61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89D66-8BDD-95DF-8A01-7BCD276CA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38DB9-FDC3-E571-FD37-CD01DDFD4FC9}"/>
              </a:ext>
            </a:extLst>
          </p:cNvPr>
          <p:cNvSpPr>
            <a:spLocks noGrp="1"/>
          </p:cNvSpPr>
          <p:nvPr>
            <p:ph type="body" idx="1"/>
          </p:nvPr>
        </p:nvSpPr>
        <p:spPr/>
        <p:txBody>
          <a:bodyPr/>
          <a:lstStyle/>
          <a:p>
            <a:r>
              <a:rPr lang="en-US" b="1" dirty="0"/>
              <a:t>Persistent Disk:</a:t>
            </a:r>
            <a:r>
              <a:rPr lang="en-US" dirty="0"/>
              <a:t> Think of this as a virtual computer's hard drive. You are billed for the total space you set aside, like buying a 50 GB hard drive, even if you only use 10 GB. It is attached to your virtual machine and is best for active work.</a:t>
            </a:r>
          </a:p>
          <a:p>
            <a:endParaRPr lang="en-US" dirty="0"/>
          </a:p>
          <a:p>
            <a:r>
              <a:rPr lang="en-US" b="1" dirty="0"/>
              <a:t>Workspace Bucket:</a:t>
            </a:r>
            <a:r>
              <a:rPr lang="en-US" dirty="0"/>
              <a:t> Think of this as cloud storage, like Google Drive. You are only billed for the amount of data you actually store. It's a central, shared location for your team's files and is the most cost-effective option for long-term storage.</a:t>
            </a:r>
          </a:p>
          <a:p>
            <a:endParaRPr lang="en-US" dirty="0"/>
          </a:p>
        </p:txBody>
      </p:sp>
      <p:sp>
        <p:nvSpPr>
          <p:cNvPr id="4" name="Slide Number Placeholder 3">
            <a:extLst>
              <a:ext uri="{FF2B5EF4-FFF2-40B4-BE49-F238E27FC236}">
                <a16:creationId xmlns:a16="http://schemas.microsoft.com/office/drawing/2014/main" id="{36F914F2-1967-82CB-BC6A-D9C3C37E05C9}"/>
              </a:ext>
            </a:extLst>
          </p:cNvPr>
          <p:cNvSpPr>
            <a:spLocks noGrp="1"/>
          </p:cNvSpPr>
          <p:nvPr>
            <p:ph type="sldNum" sz="quarter" idx="5"/>
          </p:nvPr>
        </p:nvSpPr>
        <p:spPr/>
        <p:txBody>
          <a:bodyPr/>
          <a:lstStyle/>
          <a:p>
            <a:fld id="{A5B4ED3A-914E-6443-A2E7-C28A873C6BCA}" type="slidenum">
              <a:rPr lang="en-US" smtClean="0"/>
              <a:t>20</a:t>
            </a:fld>
            <a:endParaRPr lang="en-US"/>
          </a:p>
        </p:txBody>
      </p:sp>
    </p:spTree>
    <p:extLst>
      <p:ext uri="{BB962C8B-B14F-4D97-AF65-F5344CB8AC3E}">
        <p14:creationId xmlns:p14="http://schemas.microsoft.com/office/powerpoint/2010/main" val="1634116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4F4E-4E9F-1755-BD25-65BE0582E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1A85C-3531-AE0C-7D31-9B78EF4268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D92C8-6C2B-8E58-FDE3-3FD658DBF1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07E7B5-7209-FB01-25AB-BCAA986DCC9C}"/>
              </a:ext>
            </a:extLst>
          </p:cNvPr>
          <p:cNvSpPr>
            <a:spLocks noGrp="1"/>
          </p:cNvSpPr>
          <p:nvPr>
            <p:ph type="sldNum" sz="quarter" idx="5"/>
          </p:nvPr>
        </p:nvSpPr>
        <p:spPr/>
        <p:txBody>
          <a:bodyPr/>
          <a:lstStyle/>
          <a:p>
            <a:fld id="{A5B4ED3A-914E-6443-A2E7-C28A873C6BCA}" type="slidenum">
              <a:rPr lang="en-US" smtClean="0"/>
              <a:t>21</a:t>
            </a:fld>
            <a:endParaRPr lang="en-US"/>
          </a:p>
        </p:txBody>
      </p:sp>
    </p:spTree>
    <p:extLst>
      <p:ext uri="{BB962C8B-B14F-4D97-AF65-F5344CB8AC3E}">
        <p14:creationId xmlns:p14="http://schemas.microsoft.com/office/powerpoint/2010/main" val="15167905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EE8C-70D8-C71A-D0A9-D83C23B58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3E43B-E646-D5CA-AEF4-9BA6FF607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DB11B-99B5-2EE2-F268-88CE06720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14629-3521-C622-08C1-893CC2DB7E3A}"/>
              </a:ext>
            </a:extLst>
          </p:cNvPr>
          <p:cNvSpPr>
            <a:spLocks noGrp="1"/>
          </p:cNvSpPr>
          <p:nvPr>
            <p:ph type="sldNum" sz="quarter" idx="5"/>
          </p:nvPr>
        </p:nvSpPr>
        <p:spPr/>
        <p:txBody>
          <a:bodyPr/>
          <a:lstStyle/>
          <a:p>
            <a:fld id="{50049E44-D13C-C54E-8DA3-DB5207EAD25C}" type="slidenum">
              <a:rPr lang="en-US" smtClean="0"/>
              <a:t>22</a:t>
            </a:fld>
            <a:endParaRPr lang="en-US"/>
          </a:p>
        </p:txBody>
      </p:sp>
    </p:spTree>
    <p:extLst>
      <p:ext uri="{BB962C8B-B14F-4D97-AF65-F5344CB8AC3E}">
        <p14:creationId xmlns:p14="http://schemas.microsoft.com/office/powerpoint/2010/main" val="2487818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23</a:t>
            </a:fld>
            <a:endParaRPr lang="en-US"/>
          </a:p>
        </p:txBody>
      </p:sp>
    </p:spTree>
    <p:extLst>
      <p:ext uri="{BB962C8B-B14F-4D97-AF65-F5344CB8AC3E}">
        <p14:creationId xmlns:p14="http://schemas.microsoft.com/office/powerpoint/2010/main" val="8572878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venir Book" panose="02000503020000020003" pitchFamily="2" charset="0"/>
              </a:rPr>
              <a:t>Example criteria:</a:t>
            </a:r>
          </a:p>
          <a:p>
            <a:pPr marL="285750" indent="-285750">
              <a:buFont typeface="Arial" panose="020B0604020202020204" pitchFamily="34" charset="0"/>
              <a:buChar char="•"/>
            </a:pPr>
            <a:r>
              <a:rPr lang="en-US" u="sng" dirty="0">
                <a:latin typeface="Avenir Book" panose="02000503020000020003" pitchFamily="2" charset="0"/>
              </a:rPr>
              <a:t>Race</a:t>
            </a:r>
            <a:r>
              <a:rPr lang="en-US" dirty="0">
                <a:latin typeface="Avenir Book" panose="02000503020000020003" pitchFamily="2" charset="0"/>
              </a:rPr>
              <a:t> -&gt; </a:t>
            </a:r>
            <a:r>
              <a:rPr lang="en-US" b="1" dirty="0">
                <a:latin typeface="Avenir Book" panose="02000503020000020003" pitchFamily="2" charset="0"/>
              </a:rPr>
              <a:t>White, Black, Asian </a:t>
            </a:r>
          </a:p>
          <a:p>
            <a:pPr marL="285750" indent="-285750">
              <a:buFont typeface="Arial" panose="020B0604020202020204" pitchFamily="34" charset="0"/>
              <a:buChar char="•"/>
            </a:pPr>
            <a:r>
              <a:rPr lang="en-US" u="sng" dirty="0">
                <a:latin typeface="Avenir Book" panose="02000503020000020003" pitchFamily="2" charset="0"/>
              </a:rPr>
              <a:t>Gender</a:t>
            </a:r>
            <a:r>
              <a:rPr lang="en-US" b="1" dirty="0">
                <a:latin typeface="Avenir Book" panose="02000503020000020003" pitchFamily="2" charset="0"/>
              </a:rPr>
              <a:t> -&gt; Men and Woman</a:t>
            </a:r>
          </a:p>
          <a:p>
            <a:pPr marL="285750" indent="-285750">
              <a:buFont typeface="Arial" panose="020B0604020202020204" pitchFamily="34" charset="0"/>
              <a:buChar char="•"/>
            </a:pPr>
            <a:r>
              <a:rPr lang="en-US" sz="1200" u="sng" dirty="0">
                <a:latin typeface="Avenir Book" panose="02000503020000020003" pitchFamily="2" charset="0"/>
              </a:rPr>
              <a:t>Age</a:t>
            </a:r>
            <a:r>
              <a:rPr lang="en-US" sz="1200" b="1" dirty="0">
                <a:latin typeface="Avenir Book" panose="02000503020000020003" pitchFamily="2" charset="0"/>
              </a:rPr>
              <a:t> -&gt; </a:t>
            </a:r>
            <a:r>
              <a:rPr lang="en-US" b="1" dirty="0">
                <a:latin typeface="Avenir Book" panose="02000503020000020003" pitchFamily="2" charset="0"/>
              </a:rPr>
              <a:t>25</a:t>
            </a:r>
            <a:r>
              <a:rPr lang="en-US" sz="1200" dirty="0">
                <a:latin typeface="Avenir Book" panose="02000503020000020003" pitchFamily="2" charset="0"/>
              </a:rPr>
              <a:t> </a:t>
            </a:r>
            <a:r>
              <a:rPr lang="en-US" b="1" dirty="0">
                <a:latin typeface="Avenir Book" panose="02000503020000020003" pitchFamily="2" charset="0"/>
              </a:rPr>
              <a:t>to 65 years ole</a:t>
            </a:r>
          </a:p>
          <a:p>
            <a:pPr marL="285750" indent="-285750">
              <a:buFont typeface="Arial" panose="020B0604020202020204" pitchFamily="34" charset="0"/>
              <a:buChar char="•"/>
            </a:pPr>
            <a:r>
              <a:rPr lang="en-US" sz="1200" u="sng" dirty="0">
                <a:latin typeface="Avenir Book" panose="02000503020000020003" pitchFamily="2" charset="0"/>
              </a:rPr>
              <a:t>Condition</a:t>
            </a:r>
            <a:r>
              <a:rPr lang="en-US" sz="1200" dirty="0">
                <a:latin typeface="Avenir Book" panose="02000503020000020003" pitchFamily="2" charset="0"/>
              </a:rPr>
              <a:t> - Diagnosed </a:t>
            </a:r>
            <a:r>
              <a:rPr lang="en-US" sz="1200" dirty="0">
                <a:highlight>
                  <a:srgbClr val="FFFF00"/>
                </a:highlight>
                <a:latin typeface="Avenir Book" panose="02000503020000020003" pitchFamily="2" charset="0"/>
              </a:rPr>
              <a:t>with/without </a:t>
            </a:r>
            <a:r>
              <a:rPr lang="en-US" sz="1200" b="1" dirty="0">
                <a:latin typeface="Avenir Book" panose="02000503020000020003" pitchFamily="2" charset="0"/>
              </a:rPr>
              <a:t>Diabetes</a:t>
            </a:r>
          </a:p>
          <a:p>
            <a:pPr marL="285750" indent="-285750">
              <a:buFont typeface="Arial" panose="020B0604020202020204" pitchFamily="34" charset="0"/>
              <a:buChar char="•"/>
            </a:pPr>
            <a:r>
              <a:rPr lang="en-US" sz="1200" u="sng" dirty="0">
                <a:latin typeface="Avenir Book" panose="02000503020000020003" pitchFamily="2" charset="0"/>
              </a:rPr>
              <a:t>Survey</a:t>
            </a:r>
            <a:r>
              <a:rPr lang="en-US" sz="1200" dirty="0">
                <a:latin typeface="Avenir Book" panose="02000503020000020003" pitchFamily="2" charset="0"/>
              </a:rPr>
              <a:t> –PTSD medications and PTSD medical provider</a:t>
            </a:r>
            <a:endParaRPr lang="en-US" sz="1200" b="1" dirty="0">
              <a:latin typeface="Avenir Book" panose="02000503020000020003" pitchFamily="2" charset="0"/>
            </a:endParaRPr>
          </a:p>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24</a:t>
            </a:fld>
            <a:endParaRPr lang="en-US"/>
          </a:p>
        </p:txBody>
      </p:sp>
    </p:spTree>
    <p:extLst>
      <p:ext uri="{BB962C8B-B14F-4D97-AF65-F5344CB8AC3E}">
        <p14:creationId xmlns:p14="http://schemas.microsoft.com/office/powerpoint/2010/main" val="2680724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B97C-4C1A-03B8-A3DD-B9C0A3A1C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A5B876-A50D-034D-9B14-0DDE736DB3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BEDA1-FE61-C5C1-BA54-C07E1E658C2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A83337E-EC2E-A055-1483-DE6E44A00D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01970-2584-87CC-E2B6-E0D6DA21658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597512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98E7-526F-D1A7-9EFC-B5E2F030F2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7A694-587E-6D13-689A-C7109140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60662-31C5-F3F4-E750-31898567E2C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6D408C-563D-75ED-E0D5-1B5847C6E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B8748-BBDA-C11A-ED71-885585953CD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218361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BAE8-4284-CA94-5CFE-FFBBB8287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2D64AB-7659-299C-850B-1C36A63966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23949E-A634-75FD-33B2-74FE7B0239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04B7182-B497-9455-BD6C-05C466A08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FE9AB-6A4B-7D0B-D1CC-DD3CCD6B780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25171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1C80-EB2C-F8D3-AAA6-8749A94066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437AA-97D4-45EE-4619-3AD2FA11BD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281501-60F6-F7E1-B983-A52A3DDF64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16908-516D-E7DC-F476-C59D5DD32FB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27502-5134-B776-FFDE-83B27025C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8BE9F-CE14-D105-9F68-AFC0A83FB8C0}"/>
              </a:ext>
            </a:extLst>
          </p:cNvPr>
          <p:cNvSpPr>
            <a:spLocks noGrp="1"/>
          </p:cNvSpPr>
          <p:nvPr>
            <p:ph type="sldNum" sz="quarter" idx="12"/>
          </p:nvPr>
        </p:nvSpPr>
        <p:spPr/>
        <p:txBody>
          <a:bodyPr/>
          <a:lstStyle/>
          <a:p>
            <a:fld id="{548469FB-C78A-B94B-B04A-B5BC8C934F85}" type="slidenum">
              <a:rPr lang="en-US" smtClean="0"/>
              <a:t>‹#›</a:t>
            </a:fld>
            <a:endParaRPr lang="en-US" dirty="0"/>
          </a:p>
        </p:txBody>
      </p:sp>
    </p:spTree>
    <p:extLst>
      <p:ext uri="{BB962C8B-B14F-4D97-AF65-F5344CB8AC3E}">
        <p14:creationId xmlns:p14="http://schemas.microsoft.com/office/powerpoint/2010/main" val="160284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7DB8-F1DB-CB2F-918A-6A6D10912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79869-EB07-5325-16E8-7191C57AAB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BB0C29-2E76-EA66-C222-8A7C6328F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0DC11-C03A-0CDB-EFF5-CE327382DD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E430CE-218F-8B4B-F86C-9C20A6839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2555C8-8E0D-AC4D-E85A-8E27E9B993C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643A247-ECD4-CBA0-EBD7-A5D45A5C86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6FC183-68CB-386A-E597-D2CAA031C839}"/>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330739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0F31-AA59-4934-89AD-A34DC2CC2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F9AD29-AC6C-96A9-FFBD-8AA505806BE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1147E0A-9E38-8B67-4624-3AABC055C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EFAB42-556B-C4E1-8EE0-B4AB3BCB7C7B}"/>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61349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C23C3-6C97-5B33-657B-4BE2CC02C96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4009330-B12B-6F5D-C9A2-E9EAE61921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73F0C-93BD-6E06-0F00-3544809C215E}"/>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105649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9BF4-0CC6-D361-AE31-5B9F05B02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699F95-E1BE-907F-152D-985FDEB65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1BA835-ADAD-7C04-2BBA-F1F360BBE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758C0-48B9-E14E-EA7C-443F2711603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41F910-0937-5947-A729-3A2BBB34B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3A5DEA-8E0B-2C59-3951-2C189845B27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43637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7244-5442-DA1D-81D3-66A24E661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769CD3-32BF-647C-C96E-D5E5DF26F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5B485-EA9C-58EE-331E-C94236264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8ECCA-E7FD-8295-497B-FE0A8EFA8C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B735F6B-319B-79BC-262D-A5CB6DC94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2C3440-1103-7FA3-0971-270A8C78F792}"/>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92830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E50A-06B4-00FE-058D-F65D96D7E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F63146-DBC6-A9CA-CAEA-A1CCA7AC3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FF714-3DBB-45E5-E3CF-C07E381C2F3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A940BF9-F466-47DB-60EF-74E006350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7DF60-BD61-0D9D-4F53-9D84A2E43527}"/>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993234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1509D8-31A0-70F4-29A7-7ED442BD93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B62898-FA6E-7840-FA29-62C83FC73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59DB9-5F9E-E3F3-3E22-102A75329C9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39D7E8-0A95-40E2-5D51-F1A0D93FC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320A7-6DDE-06AD-E1AB-6042D1F7457F}"/>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714055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with name and title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328A0A-C662-74EC-D228-434B49036BF5}"/>
              </a:ext>
            </a:extLst>
          </p:cNvPr>
          <p:cNvSpPr/>
          <p:nvPr userDrawn="1"/>
        </p:nvSpPr>
        <p:spPr>
          <a:xfrm>
            <a:off x="0" y="0"/>
            <a:ext cx="4043680" cy="69088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27BA40FD-F3BD-03E1-4F9A-24F5093BFD27}"/>
              </a:ext>
            </a:extLst>
          </p:cNvPr>
          <p:cNvSpPr>
            <a:spLocks noGrp="1"/>
          </p:cNvSpPr>
          <p:nvPr>
            <p:ph type="pic" sz="quarter" idx="12"/>
          </p:nvPr>
        </p:nvSpPr>
        <p:spPr>
          <a:xfrm>
            <a:off x="0" y="0"/>
            <a:ext cx="4044950" cy="6858000"/>
          </a:xfrm>
        </p:spPr>
        <p:txBody>
          <a:bodyPr/>
          <a:lstStyle/>
          <a:p>
            <a:endParaRPr lang="en-US" dirty="0"/>
          </a:p>
        </p:txBody>
      </p:sp>
      <p:sp>
        <p:nvSpPr>
          <p:cNvPr id="3" name="Text Placeholder 2">
            <a:extLst>
              <a:ext uri="{FF2B5EF4-FFF2-40B4-BE49-F238E27FC236}">
                <a16:creationId xmlns:a16="http://schemas.microsoft.com/office/drawing/2014/main" id="{E78AE731-F2CF-F141-4254-D13FFBB02056}"/>
              </a:ext>
            </a:extLst>
          </p:cNvPr>
          <p:cNvSpPr>
            <a:spLocks noGrp="1"/>
          </p:cNvSpPr>
          <p:nvPr>
            <p:ph type="body" sz="quarter" idx="10" hasCustomPrompt="1"/>
          </p:nvPr>
        </p:nvSpPr>
        <p:spPr>
          <a:xfrm>
            <a:off x="4598988" y="1311274"/>
            <a:ext cx="6423025" cy="1500187"/>
          </a:xfrm>
        </p:spPr>
        <p:txBody>
          <a:bodyPr>
            <a:noAutofit/>
          </a:bodyPr>
          <a:lstStyle>
            <a:lvl1pPr marL="0" indent="0">
              <a:buNone/>
              <a:defRPr sz="4800">
                <a:solidFill>
                  <a:schemeClr val="tx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Cover slide presentation title</a:t>
            </a:r>
          </a:p>
        </p:txBody>
      </p:sp>
      <p:sp>
        <p:nvSpPr>
          <p:cNvPr id="6" name="Text Placeholder 5">
            <a:extLst>
              <a:ext uri="{FF2B5EF4-FFF2-40B4-BE49-F238E27FC236}">
                <a16:creationId xmlns:a16="http://schemas.microsoft.com/office/drawing/2014/main" id="{38926FA2-06C0-DF0E-0BE4-60126FAB68AF}"/>
              </a:ext>
            </a:extLst>
          </p:cNvPr>
          <p:cNvSpPr>
            <a:spLocks noGrp="1"/>
          </p:cNvSpPr>
          <p:nvPr>
            <p:ph type="body" sz="quarter" idx="13" hasCustomPrompt="1"/>
          </p:nvPr>
        </p:nvSpPr>
        <p:spPr>
          <a:xfrm>
            <a:off x="4598988" y="3471040"/>
            <a:ext cx="5732462" cy="879475"/>
          </a:xfrm>
        </p:spPr>
        <p:txBody>
          <a:bodyPr>
            <a:normAutofit/>
          </a:bodyPr>
          <a:lstStyle>
            <a:lvl1pPr marL="0" indent="0">
              <a:buNone/>
              <a:defRPr sz="1500" b="0" i="1">
                <a:solidFill>
                  <a:schemeClr val="tx1"/>
                </a:solidFill>
                <a:latin typeface="YaleNew" panose="02000602050000020003" pitchFamily="2" charset="77"/>
              </a:defRPr>
            </a:lvl1pPr>
          </a:lstStyle>
          <a:p>
            <a:pPr lvl="0"/>
            <a:r>
              <a:rPr lang="en-US" dirty="0"/>
              <a:t>Position title or role, Presenting Organization</a:t>
            </a:r>
          </a:p>
        </p:txBody>
      </p:sp>
      <p:sp>
        <p:nvSpPr>
          <p:cNvPr id="12" name="Text Placeholder 11">
            <a:extLst>
              <a:ext uri="{FF2B5EF4-FFF2-40B4-BE49-F238E27FC236}">
                <a16:creationId xmlns:a16="http://schemas.microsoft.com/office/drawing/2014/main" id="{8D92629E-BF76-30D0-FEAC-BDCA393C8776}"/>
              </a:ext>
            </a:extLst>
          </p:cNvPr>
          <p:cNvSpPr>
            <a:spLocks noGrp="1"/>
          </p:cNvSpPr>
          <p:nvPr>
            <p:ph type="body" sz="quarter" idx="14" hasCustomPrompt="1"/>
          </p:nvPr>
        </p:nvSpPr>
        <p:spPr>
          <a:xfrm>
            <a:off x="4598988" y="3162300"/>
            <a:ext cx="5554662" cy="266700"/>
          </a:xfrm>
        </p:spPr>
        <p:txBody>
          <a:bodyPr>
            <a:normAutofit/>
          </a:bodyPr>
          <a:lstStyle>
            <a:lvl1pPr marL="0" indent="0">
              <a:buNone/>
              <a:defRPr sz="1200" b="0" i="0" spc="300">
                <a:latin typeface="YaleNew" panose="02000602050000020003" pitchFamily="2" charset="77"/>
                <a:cs typeface="Calibri" panose="020F0502020204030204" pitchFamily="34" charset="0"/>
              </a:defRPr>
            </a:lvl1pPr>
          </a:lstStyle>
          <a:p>
            <a:pPr lvl="0"/>
            <a:r>
              <a:rPr lang="en-US" dirty="0"/>
              <a:t>ALL CAPS • PRESENTER NAME HERE</a:t>
            </a:r>
          </a:p>
        </p:txBody>
      </p:sp>
      <p:sp>
        <p:nvSpPr>
          <p:cNvPr id="8" name="Picture Placeholder 5">
            <a:extLst>
              <a:ext uri="{FF2B5EF4-FFF2-40B4-BE49-F238E27FC236}">
                <a16:creationId xmlns:a16="http://schemas.microsoft.com/office/drawing/2014/main" id="{7EBB38DD-BEEE-0800-08EF-1371600DA7C9}"/>
              </a:ext>
            </a:extLst>
          </p:cNvPr>
          <p:cNvSpPr>
            <a:spLocks noGrp="1"/>
          </p:cNvSpPr>
          <p:nvPr>
            <p:ph type="pic" sz="quarter" idx="15" hasCustomPrompt="1"/>
          </p:nvPr>
        </p:nvSpPr>
        <p:spPr>
          <a:xfrm>
            <a:off x="4697844" y="5659438"/>
            <a:ext cx="3074987" cy="593725"/>
          </a:xfrm>
        </p:spPr>
        <p:txBody>
          <a:bodyPr/>
          <a:lstStyle/>
          <a:p>
            <a:r>
              <a:rPr lang="en-US" dirty="0"/>
              <a:t>Wordmark</a:t>
            </a:r>
          </a:p>
        </p:txBody>
      </p:sp>
    </p:spTree>
    <p:extLst>
      <p:ext uri="{BB962C8B-B14F-4D97-AF65-F5344CB8AC3E}">
        <p14:creationId xmlns:p14="http://schemas.microsoft.com/office/powerpoint/2010/main" val="656309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with pictur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C19243-FD55-0C4B-85ED-C961C8BBE12B}"/>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0748675B-48D6-79E2-5C34-D4B438BAC43D}"/>
              </a:ext>
            </a:extLst>
          </p:cNvPr>
          <p:cNvSpPr>
            <a:spLocks noGrp="1"/>
          </p:cNvSpPr>
          <p:nvPr>
            <p:ph type="pic" sz="quarter" idx="12"/>
          </p:nvPr>
        </p:nvSpPr>
        <p:spPr>
          <a:xfrm>
            <a:off x="4043680" y="0"/>
            <a:ext cx="8148320" cy="6858000"/>
          </a:xfrm>
        </p:spPr>
        <p:txBody>
          <a:bodyPr/>
          <a:lstStyle/>
          <a:p>
            <a:endParaRPr lang="en-US" dirty="0"/>
          </a:p>
        </p:txBody>
      </p:sp>
      <p:sp>
        <p:nvSpPr>
          <p:cNvPr id="3" name="Text Placeholder 2">
            <a:extLst>
              <a:ext uri="{FF2B5EF4-FFF2-40B4-BE49-F238E27FC236}">
                <a16:creationId xmlns:a16="http://schemas.microsoft.com/office/drawing/2014/main" id="{D8F8D125-6703-D6A3-E599-4C3C1DC56332}"/>
              </a:ext>
            </a:extLst>
          </p:cNvPr>
          <p:cNvSpPr>
            <a:spLocks noGrp="1"/>
          </p:cNvSpPr>
          <p:nvPr>
            <p:ph type="body" sz="quarter" idx="11" hasCustomPrompt="1"/>
          </p:nvPr>
        </p:nvSpPr>
        <p:spPr>
          <a:xfrm>
            <a:off x="494357" y="1597735"/>
            <a:ext cx="3034570"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Presentation section title</a:t>
            </a:r>
          </a:p>
        </p:txBody>
      </p:sp>
      <p:sp>
        <p:nvSpPr>
          <p:cNvPr id="6" name="Text Placeholder 11">
            <a:extLst>
              <a:ext uri="{FF2B5EF4-FFF2-40B4-BE49-F238E27FC236}">
                <a16:creationId xmlns:a16="http://schemas.microsoft.com/office/drawing/2014/main" id="{A1C18EDC-9FCD-1109-ADAE-E5F5E5125E06}"/>
              </a:ext>
            </a:extLst>
          </p:cNvPr>
          <p:cNvSpPr>
            <a:spLocks noGrp="1"/>
          </p:cNvSpPr>
          <p:nvPr>
            <p:ph type="body" sz="quarter" idx="15" hasCustomPrompt="1"/>
          </p:nvPr>
        </p:nvSpPr>
        <p:spPr>
          <a:xfrm>
            <a:off x="497984" y="3185056"/>
            <a:ext cx="3030943"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Date Placeholder 8">
            <a:extLst>
              <a:ext uri="{FF2B5EF4-FFF2-40B4-BE49-F238E27FC236}">
                <a16:creationId xmlns:a16="http://schemas.microsoft.com/office/drawing/2014/main" id="{A5A8D130-1C69-1BD2-F58D-F50B260A6987}"/>
              </a:ext>
            </a:extLst>
          </p:cNvPr>
          <p:cNvSpPr>
            <a:spLocks noGrp="1"/>
          </p:cNvSpPr>
          <p:nvPr>
            <p:ph type="dt" sz="half" idx="16"/>
          </p:nvPr>
        </p:nvSpPr>
        <p:spPr/>
        <p:txBody>
          <a:bodyPr/>
          <a:lstStyle/>
          <a:p>
            <a:endParaRPr lang="en-US"/>
          </a:p>
        </p:txBody>
      </p:sp>
      <p:sp>
        <p:nvSpPr>
          <p:cNvPr id="10" name="Footer Placeholder 9">
            <a:extLst>
              <a:ext uri="{FF2B5EF4-FFF2-40B4-BE49-F238E27FC236}">
                <a16:creationId xmlns:a16="http://schemas.microsoft.com/office/drawing/2014/main" id="{B20536CB-881F-59B7-31D9-62AE33FA4BE4}"/>
              </a:ext>
            </a:extLst>
          </p:cNvPr>
          <p:cNvSpPr>
            <a:spLocks noGrp="1"/>
          </p:cNvSpPr>
          <p:nvPr>
            <p:ph type="ftr" sz="quarter" idx="17"/>
          </p:nvPr>
        </p:nvSpPr>
        <p:spPr/>
        <p:txBody>
          <a:bodyPr/>
          <a:lstStyle/>
          <a:p>
            <a:endParaRPr lang="en-US"/>
          </a:p>
        </p:txBody>
      </p:sp>
      <p:sp>
        <p:nvSpPr>
          <p:cNvPr id="11" name="Slide Number Placeholder 10">
            <a:extLst>
              <a:ext uri="{FF2B5EF4-FFF2-40B4-BE49-F238E27FC236}">
                <a16:creationId xmlns:a16="http://schemas.microsoft.com/office/drawing/2014/main" id="{7776CA37-87B5-8A7A-347E-D52BED399904}"/>
              </a:ext>
            </a:extLst>
          </p:cNvPr>
          <p:cNvSpPr>
            <a:spLocks noGrp="1"/>
          </p:cNvSpPr>
          <p:nvPr>
            <p:ph type="sldNum" sz="quarter" idx="18"/>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751800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image with subtitl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27C2AB-62FC-D444-BDA2-B209A9D810D8}"/>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6750BC7C-018E-2D04-5C75-24EE70C9F2CD}"/>
              </a:ext>
            </a:extLst>
          </p:cNvPr>
          <p:cNvSpPr>
            <a:spLocks noGrp="1"/>
          </p:cNvSpPr>
          <p:nvPr>
            <p:ph type="body" sz="quarter" idx="11" hasCustomPrompt="1"/>
          </p:nvPr>
        </p:nvSpPr>
        <p:spPr>
          <a:xfrm>
            <a:off x="494357" y="1597735"/>
            <a:ext cx="2637726"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Gallery page title</a:t>
            </a:r>
          </a:p>
        </p:txBody>
      </p:sp>
      <p:sp>
        <p:nvSpPr>
          <p:cNvPr id="4" name="Text Placeholder 11">
            <a:extLst>
              <a:ext uri="{FF2B5EF4-FFF2-40B4-BE49-F238E27FC236}">
                <a16:creationId xmlns:a16="http://schemas.microsoft.com/office/drawing/2014/main" id="{27C36B33-7438-E96F-1BC4-32AA585A0C0B}"/>
              </a:ext>
            </a:extLst>
          </p:cNvPr>
          <p:cNvSpPr>
            <a:spLocks noGrp="1"/>
          </p:cNvSpPr>
          <p:nvPr>
            <p:ph type="body" sz="quarter" idx="15" hasCustomPrompt="1"/>
          </p:nvPr>
        </p:nvSpPr>
        <p:spPr>
          <a:xfrm>
            <a:off x="497984" y="3185056"/>
            <a:ext cx="2634099"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Picture Placeholder 11">
            <a:extLst>
              <a:ext uri="{FF2B5EF4-FFF2-40B4-BE49-F238E27FC236}">
                <a16:creationId xmlns:a16="http://schemas.microsoft.com/office/drawing/2014/main" id="{50FE3F16-A821-B3A7-DC00-E9D27FF81F19}"/>
              </a:ext>
            </a:extLst>
          </p:cNvPr>
          <p:cNvSpPr>
            <a:spLocks noGrp="1"/>
          </p:cNvSpPr>
          <p:nvPr>
            <p:ph type="pic" sz="quarter" idx="12"/>
          </p:nvPr>
        </p:nvSpPr>
        <p:spPr>
          <a:xfrm>
            <a:off x="4043680" y="10510"/>
            <a:ext cx="8148320" cy="6858000"/>
          </a:xfrm>
        </p:spPr>
        <p:txBody>
          <a:bodyPr/>
          <a:lstStyle/>
          <a:p>
            <a:endParaRPr lang="en-US" dirty="0"/>
          </a:p>
        </p:txBody>
      </p:sp>
      <p:sp>
        <p:nvSpPr>
          <p:cNvPr id="10" name="Text Placeholder 13">
            <a:extLst>
              <a:ext uri="{FF2B5EF4-FFF2-40B4-BE49-F238E27FC236}">
                <a16:creationId xmlns:a16="http://schemas.microsoft.com/office/drawing/2014/main" id="{DE249EE8-08AE-FE5A-918B-0D489684FAEB}"/>
              </a:ext>
            </a:extLst>
          </p:cNvPr>
          <p:cNvSpPr>
            <a:spLocks noGrp="1"/>
          </p:cNvSpPr>
          <p:nvPr>
            <p:ph type="body" sz="quarter" idx="16" hasCustomPrompt="1"/>
          </p:nvPr>
        </p:nvSpPr>
        <p:spPr>
          <a:xfrm>
            <a:off x="533469" y="6003579"/>
            <a:ext cx="3035300" cy="450850"/>
          </a:xfrm>
        </p:spPr>
        <p:txBody>
          <a:bodyPr>
            <a:normAutofit/>
          </a:bodyPr>
          <a:lstStyle>
            <a:lvl1pPr marL="0" indent="0">
              <a:buNone/>
              <a:defRPr sz="1200">
                <a:solidFill>
                  <a:schemeClr val="bg1"/>
                </a:solidFill>
                <a:latin typeface="+mn-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sz="1200" dirty="0"/>
              <a:t>Caption caption caption.</a:t>
            </a:r>
            <a:endParaRPr lang="en-US" dirty="0"/>
          </a:p>
        </p:txBody>
      </p:sp>
    </p:spTree>
    <p:extLst>
      <p:ext uri="{BB962C8B-B14F-4D97-AF65-F5344CB8AC3E}">
        <p14:creationId xmlns:p14="http://schemas.microsoft.com/office/powerpoint/2010/main" val="1945688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3466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49ADC4-D502-9A83-6384-9233334EFF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8A1307-9E8A-6474-361F-E233CD66D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AC099-F335-CB92-CCC4-9867E5A0C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DBE6948-D0AB-67B5-6861-F587A0B44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C3F612-68C7-BC6A-9EB2-EFBBBC06D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469FB-C78A-B94B-B04A-B5BC8C934F85}" type="slidenum">
              <a:rPr lang="en-US" smtClean="0"/>
              <a:t>‹#›</a:t>
            </a:fld>
            <a:endParaRPr lang="en-US"/>
          </a:p>
        </p:txBody>
      </p:sp>
    </p:spTree>
    <p:extLst>
      <p:ext uri="{BB962C8B-B14F-4D97-AF65-F5344CB8AC3E}">
        <p14:creationId xmlns:p14="http://schemas.microsoft.com/office/powerpoint/2010/main" val="55659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4" r:id="rId13"/>
    <p:sldLayoutId id="2147483675" r:id="rId14"/>
    <p:sldLayoutId id="2147483676"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thena.ohdsi.org/search-terms/start"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s://athena.ohdsi.org/search-terms/start"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support.researchallofus.org/hc/en-us/articles/360039539411-Getting-Started-and-What-to-Know-About-Costs"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hyperlink" Target="https://www.youtube.com/watch?v=xP1I9GQy5cg" TargetMode="External"/><Relationship Id="rId5" Type="http://schemas.openxmlformats.org/officeDocument/2006/relationships/hyperlink" Target="https://support.researchallofus.org/hc/en-us/articles/29349213795348-Setting-Up-Your-Google-Cloud-Platform-GCP-Billing-Account" TargetMode="Externa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hyperlink" Target="https://www.youtube.com/watch?v=xP1I9GQy5cg" TargetMode="External"/><Relationship Id="rId5" Type="http://schemas.openxmlformats.org/officeDocument/2006/relationships/hyperlink" Target="https://support.researchallofus.org/hc/en-us/articles/29349213795348-Setting-Up-Your-Google-Cloud-Platform-GCP-Billing-Account" TargetMode="External"/><Relationship Id="rId4" Type="http://schemas.openxmlformats.org/officeDocument/2006/relationships/hyperlink" Target="https://support.researchallofus.org/hc/en-us/articles/360039539411-Getting-Started-and-What-to-Know-About-Cost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2fHTK-lSa0" TargetMode="External"/><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hyperlink" Target="https://support.researchallofus.org/hc/en-us/categories/360002157352-Getting-Started" TargetMode="External"/><Relationship Id="rId3" Type="http://schemas.openxmlformats.org/officeDocument/2006/relationships/hyperlink" Target="https://www.researchallofus.org/publications/" TargetMode="External"/><Relationship Id="rId7" Type="http://schemas.openxmlformats.org/officeDocument/2006/relationships/hyperlink" Target="https://support.researchallofus.org/hc/en-us/articles/29349213795348-Setting-Up-Your-Google-Cloud-Platform-GCP-Billing-Account"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hyperlink" Target="https://www.youtube.com/watch?v=vrRbfC1p4qw" TargetMode="External"/><Relationship Id="rId5" Type="http://schemas.openxmlformats.org/officeDocument/2006/relationships/hyperlink" Target="https://www.youtube.com/watch?v=V1Gt3gputpU&amp;t=2326s" TargetMode="External"/><Relationship Id="rId4" Type="http://schemas.openxmlformats.org/officeDocument/2006/relationships/hyperlink" Target="https://www.youtube.com/watch?v=xP1I9GQy5c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7.svg"/></Relationships>
</file>

<file path=ppt/slides/_rels/slide23.xml.rels><?xml version="1.0" encoding="UTF-8" standalone="yes"?>
<Relationships xmlns="http://schemas.openxmlformats.org/package/2006/relationships"><Relationship Id="rId3" Type="http://schemas.openxmlformats.org/officeDocument/2006/relationships/hyperlink" Target="https://yalesurvey.ca1.qualtrics.com/jfe/form/SV_cZOk3RQmTrQLhYy"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Harkness Tower with a clock on it&#10;&#10;Description automatically generated">
            <a:extLst>
              <a:ext uri="{FF2B5EF4-FFF2-40B4-BE49-F238E27FC236}">
                <a16:creationId xmlns:a16="http://schemas.microsoft.com/office/drawing/2014/main" id="{4458EC05-FEAA-4B87-E8E9-F4758DF7F5D1}"/>
              </a:ext>
            </a:extLst>
          </p:cNvPr>
          <p:cNvPicPr>
            <a:picLocks noGrp="1" noChangeAspect="1"/>
          </p:cNvPicPr>
          <p:nvPr>
            <p:ph type="pic" sz="quarter" idx="12"/>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067E9D32-155A-42C2-3E4E-CF95336F72F4}"/>
              </a:ext>
            </a:extLst>
          </p:cNvPr>
          <p:cNvSpPr>
            <a:spLocks noGrp="1"/>
          </p:cNvSpPr>
          <p:nvPr>
            <p:ph type="body" sz="quarter" idx="10"/>
          </p:nvPr>
        </p:nvSpPr>
        <p:spPr>
          <a:xfrm>
            <a:off x="4539532" y="1098065"/>
            <a:ext cx="8081198" cy="2330935"/>
          </a:xfrm>
        </p:spPr>
        <p:txBody>
          <a:bodyPr/>
          <a:lstStyle/>
          <a:p>
            <a:r>
              <a:rPr lang="en-US" dirty="0">
                <a:latin typeface="Avenir Book" panose="02000503020000020003" pitchFamily="2" charset="0"/>
              </a:rPr>
              <a:t>All of Us Researcher Program: </a:t>
            </a:r>
          </a:p>
          <a:p>
            <a:r>
              <a:rPr lang="en-US" sz="4400" dirty="0">
                <a:solidFill>
                  <a:schemeClr val="tx2">
                    <a:lumMod val="75000"/>
                    <a:lumOff val="25000"/>
                  </a:schemeClr>
                </a:solidFill>
                <a:latin typeface="Avenir Book" panose="02000503020000020003" pitchFamily="2" charset="0"/>
              </a:rPr>
              <a:t>Cohort and Dataset Building</a:t>
            </a:r>
          </a:p>
          <a:p>
            <a:r>
              <a:rPr lang="en-US" sz="4400" dirty="0">
                <a:solidFill>
                  <a:schemeClr val="tx2">
                    <a:lumMod val="75000"/>
                    <a:lumOff val="25000"/>
                  </a:schemeClr>
                </a:solidFill>
                <a:latin typeface="Avenir Book" panose="02000503020000020003" pitchFamily="2" charset="0"/>
              </a:rPr>
              <a:t>Live Demonstration</a:t>
            </a:r>
          </a:p>
        </p:txBody>
      </p:sp>
      <p:sp>
        <p:nvSpPr>
          <p:cNvPr id="4" name="Text Placeholder 3">
            <a:extLst>
              <a:ext uri="{FF2B5EF4-FFF2-40B4-BE49-F238E27FC236}">
                <a16:creationId xmlns:a16="http://schemas.microsoft.com/office/drawing/2014/main" id="{037FB169-D746-444C-A487-68B7FECB9A10}"/>
              </a:ext>
            </a:extLst>
          </p:cNvPr>
          <p:cNvSpPr>
            <a:spLocks noGrp="1"/>
          </p:cNvSpPr>
          <p:nvPr>
            <p:ph type="body" sz="quarter" idx="13"/>
          </p:nvPr>
        </p:nvSpPr>
        <p:spPr>
          <a:xfrm>
            <a:off x="4790060" y="4460232"/>
            <a:ext cx="5732462" cy="879475"/>
          </a:xfrm>
        </p:spPr>
        <p:txBody>
          <a:bodyPr/>
          <a:lstStyle/>
          <a:p>
            <a:r>
              <a:rPr lang="en-US" dirty="0"/>
              <a:t>Biomedical Informatics Librarian, Cushing/Whitney Medical Library</a:t>
            </a:r>
          </a:p>
        </p:txBody>
      </p:sp>
      <p:sp>
        <p:nvSpPr>
          <p:cNvPr id="5" name="Text Placeholder 4">
            <a:extLst>
              <a:ext uri="{FF2B5EF4-FFF2-40B4-BE49-F238E27FC236}">
                <a16:creationId xmlns:a16="http://schemas.microsoft.com/office/drawing/2014/main" id="{1CE8B407-CDA5-C8A6-7744-CE476FDBA860}"/>
              </a:ext>
            </a:extLst>
          </p:cNvPr>
          <p:cNvSpPr>
            <a:spLocks noGrp="1"/>
          </p:cNvSpPr>
          <p:nvPr>
            <p:ph type="body" sz="quarter" idx="14"/>
          </p:nvPr>
        </p:nvSpPr>
        <p:spPr>
          <a:xfrm>
            <a:off x="4790060" y="4151492"/>
            <a:ext cx="5554662" cy="266700"/>
          </a:xfrm>
        </p:spPr>
        <p:txBody>
          <a:bodyPr/>
          <a:lstStyle/>
          <a:p>
            <a:r>
              <a:rPr lang="en-US" dirty="0"/>
              <a:t>MAXIMILIAN WEGENER, MPH</a:t>
            </a:r>
          </a:p>
        </p:txBody>
      </p:sp>
      <p:sp>
        <p:nvSpPr>
          <p:cNvPr id="6" name="Textbox 1">
            <a:extLst>
              <a:ext uri="{FF2B5EF4-FFF2-40B4-BE49-F238E27FC236}">
                <a16:creationId xmlns:a16="http://schemas.microsoft.com/office/drawing/2014/main" id="{DCB4424F-D13C-B37B-B534-D01171445A02}"/>
              </a:ext>
            </a:extLst>
          </p:cNvPr>
          <p:cNvSpPr txBox="1">
            <a:spLocks/>
          </p:cNvSpPr>
          <p:nvPr/>
        </p:nvSpPr>
        <p:spPr>
          <a:xfrm>
            <a:off x="4708384" y="6273800"/>
            <a:ext cx="2942549" cy="342522"/>
          </a:xfrm>
          <a:prstGeom prst="rect">
            <a:avLst/>
          </a:prstGeom>
        </p:spPr>
        <p:txBody>
          <a:bodyPr wrap="square" lIns="0" tIns="0" rIns="0" bIns="0" rtlCol="0">
            <a:noAutofit/>
          </a:bodyPr>
          <a:lstStyle/>
          <a:p>
            <a:pPr marL="12700" marR="0">
              <a:lnSpc>
                <a:spcPts val="1705"/>
              </a:lnSpc>
              <a:spcBef>
                <a:spcPts val="35"/>
              </a:spcBef>
            </a:pPr>
            <a:r>
              <a:rPr lang="en-US" sz="24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7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SCHOOL</a:t>
            </a:r>
            <a:r>
              <a:rPr lang="en-US" sz="1200" spc="1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OF</a:t>
            </a:r>
            <a:r>
              <a:rPr lang="en-US" sz="120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MEDICINE</a:t>
            </a:r>
            <a:endParaRPr lang="en-US" dirty="0">
              <a:effectLst/>
              <a:latin typeface="YaleNew" panose="02000602050000020003" pitchFamily="2" charset="77"/>
              <a:ea typeface="Arial" panose="020B0604020202020204" pitchFamily="34" charset="0"/>
            </a:endParaRPr>
          </a:p>
          <a:p>
            <a:pPr marL="376555" marR="0">
              <a:lnSpc>
                <a:spcPts val="785"/>
              </a:lnSpc>
            </a:pP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       Biomedical</a:t>
            </a:r>
            <a:r>
              <a:rPr lang="en-US" sz="1050" i="1" spc="3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Informatics</a:t>
            </a:r>
            <a:r>
              <a:rPr lang="en-US" sz="1050" i="1" spc="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212121"/>
                </a:solidFill>
                <a:effectLst/>
                <a:latin typeface="YaleNew" panose="02000602050000020003" pitchFamily="2" charset="77"/>
                <a:ea typeface="Arial" panose="020B0604020202020204" pitchFamily="34" charset="0"/>
                <a:cs typeface="Arial" panose="020B0604020202020204" pitchFamily="34" charset="0"/>
              </a:rPr>
              <a:t>and</a:t>
            </a:r>
            <a:r>
              <a:rPr lang="en-US" sz="1050" i="1" spc="2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Data</a:t>
            </a:r>
            <a:r>
              <a:rPr lang="en-US" sz="105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 Science</a:t>
            </a:r>
            <a:endParaRPr lang="en-US" dirty="0">
              <a:effectLst/>
              <a:latin typeface="YaleNew" panose="02000602050000020003" pitchFamily="2" charset="77"/>
              <a:ea typeface="Arial" panose="020B0604020202020204" pitchFamily="34" charset="0"/>
            </a:endParaRPr>
          </a:p>
        </p:txBody>
      </p:sp>
      <p:sp>
        <p:nvSpPr>
          <p:cNvPr id="8" name="Textbox 2">
            <a:extLst>
              <a:ext uri="{FF2B5EF4-FFF2-40B4-BE49-F238E27FC236}">
                <a16:creationId xmlns:a16="http://schemas.microsoft.com/office/drawing/2014/main" id="{2E796189-C640-B851-789E-23EE623573E5}"/>
              </a:ext>
            </a:extLst>
          </p:cNvPr>
          <p:cNvSpPr txBox="1">
            <a:spLocks/>
          </p:cNvSpPr>
          <p:nvPr/>
        </p:nvSpPr>
        <p:spPr>
          <a:xfrm>
            <a:off x="8102600" y="6169660"/>
            <a:ext cx="4287841" cy="462280"/>
          </a:xfrm>
          <a:prstGeom prst="rect">
            <a:avLst/>
          </a:prstGeom>
        </p:spPr>
        <p:txBody>
          <a:bodyPr wrap="square" lIns="0" tIns="0" rIns="0" bIns="0" rtlCol="0">
            <a:noAutofit/>
          </a:bodyPr>
          <a:lstStyle/>
          <a:p>
            <a:pPr marL="12700" marR="0">
              <a:spcBef>
                <a:spcPts val="40"/>
              </a:spcBef>
            </a:pPr>
            <a:r>
              <a:rPr lang="en-US" sz="2400"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16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arvey</a:t>
            </a:r>
            <a:r>
              <a:rPr lang="en-US" sz="1200" i="1" spc="-8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Cushing</a:t>
            </a:r>
            <a:r>
              <a:rPr lang="en-US" sz="1200" i="1" spc="-10" dirty="0">
                <a:solidFill>
                  <a:srgbClr val="5B5B5B"/>
                </a:solidFill>
                <a:effectLst/>
                <a:latin typeface="YaleNew" panose="02000602050000020003" pitchFamily="2" charset="77"/>
                <a:ea typeface="Arial" panose="020B0604020202020204" pitchFamily="34" charset="0"/>
                <a:cs typeface="Arial" panose="020B0604020202020204" pitchFamily="34" charset="0"/>
              </a:rPr>
              <a:t>/</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John</a:t>
            </a:r>
            <a:r>
              <a:rPr lang="en-US" sz="1200" i="1" spc="4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ay</a:t>
            </a:r>
            <a:r>
              <a:rPr lang="en-US" sz="1200" i="1" spc="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Whitney</a:t>
            </a:r>
            <a:r>
              <a:rPr lang="en-US" sz="1200" i="1" spc="-1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Medical</a:t>
            </a:r>
            <a:r>
              <a:rPr lang="en-US" sz="1200" i="1" spc="90"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Library</a:t>
            </a:r>
            <a:endParaRPr lang="en-US" dirty="0">
              <a:effectLst/>
              <a:latin typeface="YaleNew" panose="02000602050000020003" pitchFamily="2" charset="77"/>
              <a:ea typeface="Arial" panose="020B0604020202020204" pitchFamily="34" charset="0"/>
            </a:endParaRPr>
          </a:p>
        </p:txBody>
      </p:sp>
    </p:spTree>
    <p:extLst>
      <p:ext uri="{BB962C8B-B14F-4D97-AF65-F5344CB8AC3E}">
        <p14:creationId xmlns:p14="http://schemas.microsoft.com/office/powerpoint/2010/main" val="3091722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04E8-FE71-7102-7561-05F046E7A718}"/>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FB4190B-27CA-E911-E62B-858FB9E062DC}"/>
              </a:ext>
            </a:extLst>
          </p:cNvPr>
          <p:cNvSpPr>
            <a:spLocks noGrp="1"/>
          </p:cNvSpPr>
          <p:nvPr>
            <p:ph type="pic" sz="quarter" idx="12"/>
          </p:nvPr>
        </p:nvSpPr>
        <p:spPr>
          <a:xfrm>
            <a:off x="4535424" y="493776"/>
            <a:ext cx="7198433" cy="5614416"/>
          </a:xfrm>
        </p:spPr>
        <p:txBody>
          <a:bodyPr>
            <a:normAutofit/>
          </a:bodyPr>
          <a:lstStyle/>
          <a:p>
            <a:pPr marL="0" indent="0" algn="ctr">
              <a:lnSpc>
                <a:spcPct val="200000"/>
              </a:lnSpc>
              <a:spcBef>
                <a:spcPts val="0"/>
              </a:spcBef>
              <a:buNone/>
            </a:pPr>
            <a:r>
              <a:rPr lang="en-US" sz="3600" b="1" dirty="0">
                <a:latin typeface="Avenir Book" panose="02000503020000020003" pitchFamily="2" charset="0"/>
              </a:rPr>
              <a:t>To participate in this course, you must have an active All of Us account, controlled tier access, and provide proof of your account to me before the course </a:t>
            </a:r>
            <a:r>
              <a:rPr lang="en-US" sz="3600" b="1">
                <a:latin typeface="Avenir Book" panose="02000503020000020003" pitchFamily="2" charset="0"/>
              </a:rPr>
              <a:t>begins.</a:t>
            </a:r>
            <a:endParaRPr lang="en-US" sz="3600" b="1" dirty="0">
              <a:latin typeface="Avenir Book" panose="02000503020000020003" pitchFamily="2" charset="0"/>
            </a:endParaRPr>
          </a:p>
        </p:txBody>
      </p:sp>
      <p:sp>
        <p:nvSpPr>
          <p:cNvPr id="3" name="Text Placeholder 2">
            <a:extLst>
              <a:ext uri="{FF2B5EF4-FFF2-40B4-BE49-F238E27FC236}">
                <a16:creationId xmlns:a16="http://schemas.microsoft.com/office/drawing/2014/main" id="{1857C7A0-5DE4-540F-C3DA-F3A1D0A8FDF2}"/>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Prerequisites</a:t>
            </a:r>
          </a:p>
        </p:txBody>
      </p:sp>
      <p:sp>
        <p:nvSpPr>
          <p:cNvPr id="6" name="Slide Number Placeholder 5">
            <a:extLst>
              <a:ext uri="{FF2B5EF4-FFF2-40B4-BE49-F238E27FC236}">
                <a16:creationId xmlns:a16="http://schemas.microsoft.com/office/drawing/2014/main" id="{ED04705E-0536-8195-659A-45C71DEAB971}"/>
              </a:ext>
            </a:extLst>
          </p:cNvPr>
          <p:cNvSpPr>
            <a:spLocks noGrp="1"/>
          </p:cNvSpPr>
          <p:nvPr>
            <p:ph type="sldNum" sz="quarter" idx="18"/>
          </p:nvPr>
        </p:nvSpPr>
        <p:spPr/>
        <p:txBody>
          <a:bodyPr/>
          <a:lstStyle/>
          <a:p>
            <a:fld id="{548469FB-C78A-B94B-B04A-B5BC8C934F85}" type="slidenum">
              <a:rPr lang="en-US" smtClean="0"/>
              <a:t>2</a:t>
            </a:fld>
            <a:endParaRPr lang="en-US"/>
          </a:p>
        </p:txBody>
      </p:sp>
    </p:spTree>
    <p:extLst>
      <p:ext uri="{BB962C8B-B14F-4D97-AF65-F5344CB8AC3E}">
        <p14:creationId xmlns:p14="http://schemas.microsoft.com/office/powerpoint/2010/main" val="245096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FC4E79-F871-E420-2F3D-1783E74D6CE9}"/>
              </a:ext>
            </a:extLst>
          </p:cNvPr>
          <p:cNvSpPr>
            <a:spLocks noGrp="1"/>
          </p:cNvSpPr>
          <p:nvPr>
            <p:ph type="body" sz="quarter" idx="11"/>
          </p:nvPr>
        </p:nvSpPr>
        <p:spPr>
          <a:xfrm>
            <a:off x="494357" y="1597735"/>
            <a:ext cx="2799176" cy="1376693"/>
          </a:xfrm>
        </p:spPr>
        <p:txBody>
          <a:bodyPr/>
          <a:lstStyle/>
          <a:p>
            <a:r>
              <a:rPr lang="en-US" dirty="0">
                <a:latin typeface="YaleNew" panose="02000602050000020003" pitchFamily="2" charset="77"/>
              </a:rPr>
              <a:t>Course Progression</a:t>
            </a:r>
          </a:p>
        </p:txBody>
      </p:sp>
      <p:sp>
        <p:nvSpPr>
          <p:cNvPr id="3" name="Text Placeholder 2">
            <a:extLst>
              <a:ext uri="{FF2B5EF4-FFF2-40B4-BE49-F238E27FC236}">
                <a16:creationId xmlns:a16="http://schemas.microsoft.com/office/drawing/2014/main" id="{71B5483B-BCF3-D349-9AFC-4D735C342F5C}"/>
              </a:ext>
            </a:extLst>
          </p:cNvPr>
          <p:cNvSpPr>
            <a:spLocks noGrp="1"/>
          </p:cNvSpPr>
          <p:nvPr>
            <p:ph type="body" sz="quarter" idx="15"/>
          </p:nvPr>
        </p:nvSpPr>
        <p:spPr/>
        <p:txBody>
          <a:bodyPr/>
          <a:lstStyle/>
          <a:p>
            <a:r>
              <a:rPr lang="en-US" dirty="0"/>
              <a:t>Current Level and Future Directions</a:t>
            </a:r>
          </a:p>
        </p:txBody>
      </p:sp>
      <p:pic>
        <p:nvPicPr>
          <p:cNvPr id="5" name="Picture 4">
            <a:extLst>
              <a:ext uri="{FF2B5EF4-FFF2-40B4-BE49-F238E27FC236}">
                <a16:creationId xmlns:a16="http://schemas.microsoft.com/office/drawing/2014/main" id="{5A79692B-B363-8FEE-FB0F-E9FE978DCA11}"/>
              </a:ext>
            </a:extLst>
          </p:cNvPr>
          <p:cNvPicPr>
            <a:picLocks noChangeAspect="1"/>
          </p:cNvPicPr>
          <p:nvPr/>
        </p:nvPicPr>
        <p:blipFill>
          <a:blip r:embed="rId3"/>
          <a:stretch>
            <a:fillRect/>
          </a:stretch>
        </p:blipFill>
        <p:spPr>
          <a:xfrm>
            <a:off x="4175998" y="2380422"/>
            <a:ext cx="7919008" cy="2136714"/>
          </a:xfrm>
          <a:prstGeom prst="rect">
            <a:avLst/>
          </a:prstGeom>
          <a:ln w="3175">
            <a:solidFill>
              <a:schemeClr val="tx1"/>
            </a:solidFill>
          </a:ln>
        </p:spPr>
      </p:pic>
    </p:spTree>
    <p:extLst>
      <p:ext uri="{BB962C8B-B14F-4D97-AF65-F5344CB8AC3E}">
        <p14:creationId xmlns:p14="http://schemas.microsoft.com/office/powerpoint/2010/main" val="1333447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2B09E-4533-1894-D1FA-E3C88C3350A1}"/>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894E374-38FA-B11E-986A-5D2F05C75D59}"/>
              </a:ext>
            </a:extLst>
          </p:cNvPr>
          <p:cNvSpPr>
            <a:spLocks noGrp="1"/>
          </p:cNvSpPr>
          <p:nvPr>
            <p:ph type="pic" sz="quarter" idx="12"/>
          </p:nvPr>
        </p:nvSpPr>
        <p:spPr>
          <a:xfrm>
            <a:off x="4548851" y="296862"/>
            <a:ext cx="6835816" cy="6264275"/>
          </a:xfrm>
        </p:spPr>
        <p:txBody>
          <a:bodyPr>
            <a:normAutofit fontScale="92500" lnSpcReduction="10000"/>
          </a:bodyPr>
          <a:lstStyle/>
          <a:p>
            <a:pPr marL="514350" indent="-514350">
              <a:lnSpc>
                <a:spcPct val="200000"/>
              </a:lnSpc>
              <a:spcBef>
                <a:spcPts val="0"/>
              </a:spcBef>
              <a:buFont typeface="+mj-lt"/>
              <a:buAutoNum type="arabicPeriod"/>
            </a:pPr>
            <a:r>
              <a:rPr lang="en-US" sz="3200" dirty="0">
                <a:latin typeface="Avenir Book" panose="02000503020000020003" pitchFamily="2" charset="0"/>
              </a:rPr>
              <a:t>Learning objectives</a:t>
            </a:r>
          </a:p>
          <a:p>
            <a:pPr marL="514350" indent="-514350">
              <a:lnSpc>
                <a:spcPct val="200000"/>
              </a:lnSpc>
              <a:spcBef>
                <a:spcPts val="0"/>
              </a:spcBef>
              <a:buFont typeface="+mj-lt"/>
              <a:buAutoNum type="arabicPeriod"/>
            </a:pPr>
            <a:r>
              <a:rPr lang="en-US" sz="3200" dirty="0">
                <a:latin typeface="Avenir Book" panose="02000503020000020003" pitchFamily="2" charset="0"/>
              </a:rPr>
              <a:t>Quick overview</a:t>
            </a:r>
          </a:p>
          <a:p>
            <a:pPr marL="514350" indent="-514350">
              <a:lnSpc>
                <a:spcPct val="200000"/>
              </a:lnSpc>
              <a:spcBef>
                <a:spcPts val="0"/>
              </a:spcBef>
              <a:buFont typeface="+mj-lt"/>
              <a:buAutoNum type="arabicPeriod"/>
            </a:pPr>
            <a:r>
              <a:rPr lang="en-US" sz="3200" dirty="0">
                <a:latin typeface="Avenir Book" panose="02000503020000020003" pitchFamily="2" charset="0"/>
              </a:rPr>
              <a:t>Creating and Sharing a workspace</a:t>
            </a:r>
          </a:p>
          <a:p>
            <a:pPr marL="514350" indent="-514350">
              <a:lnSpc>
                <a:spcPct val="200000"/>
              </a:lnSpc>
              <a:spcBef>
                <a:spcPts val="0"/>
              </a:spcBef>
              <a:buFont typeface="+mj-lt"/>
              <a:buAutoNum type="arabicPeriod"/>
            </a:pPr>
            <a:r>
              <a:rPr lang="en-US" sz="3200" dirty="0">
                <a:latin typeface="Avenir Book" panose="02000503020000020003" pitchFamily="2" charset="0"/>
              </a:rPr>
              <a:t>Data storage and billing</a:t>
            </a:r>
          </a:p>
          <a:p>
            <a:pPr marL="514350" indent="-514350">
              <a:lnSpc>
                <a:spcPct val="200000"/>
              </a:lnSpc>
              <a:spcBef>
                <a:spcPts val="0"/>
              </a:spcBef>
              <a:buFont typeface="+mj-lt"/>
              <a:buAutoNum type="arabicPeriod"/>
            </a:pPr>
            <a:r>
              <a:rPr lang="en-US" sz="3200" dirty="0">
                <a:latin typeface="Avenir Book" panose="02000503020000020003" pitchFamily="2" charset="0"/>
              </a:rPr>
              <a:t>Cohort builder</a:t>
            </a:r>
          </a:p>
          <a:p>
            <a:pPr marL="514350" indent="-514350">
              <a:lnSpc>
                <a:spcPct val="200000"/>
              </a:lnSpc>
              <a:spcBef>
                <a:spcPts val="0"/>
              </a:spcBef>
              <a:buFont typeface="+mj-lt"/>
              <a:buAutoNum type="arabicPeriod"/>
            </a:pPr>
            <a:r>
              <a:rPr lang="en-US" sz="3200" dirty="0">
                <a:latin typeface="Avenir Book" panose="02000503020000020003" pitchFamily="2" charset="0"/>
              </a:rPr>
              <a:t>Dataset builder</a:t>
            </a:r>
          </a:p>
          <a:p>
            <a:pPr marL="514350" indent="-514350">
              <a:lnSpc>
                <a:spcPct val="200000"/>
              </a:lnSpc>
              <a:spcBef>
                <a:spcPts val="0"/>
              </a:spcBef>
              <a:buFont typeface="+mj-lt"/>
              <a:buAutoNum type="arabicPeriod"/>
            </a:pPr>
            <a:r>
              <a:rPr lang="en-US" sz="3200" dirty="0">
                <a:latin typeface="Avenir Book" panose="02000503020000020003" pitchFamily="2" charset="0"/>
              </a:rPr>
              <a:t>Data analysis</a:t>
            </a:r>
          </a:p>
          <a:p>
            <a:pPr>
              <a:lnSpc>
                <a:spcPct val="200000"/>
              </a:lnSpc>
              <a:spcBef>
                <a:spcPts val="0"/>
              </a:spcBef>
            </a:pPr>
            <a:endParaRPr lang="en-US" sz="3200" dirty="0">
              <a:latin typeface="Avenir Book" panose="02000503020000020003" pitchFamily="2" charset="0"/>
            </a:endParaRPr>
          </a:p>
        </p:txBody>
      </p:sp>
      <p:sp>
        <p:nvSpPr>
          <p:cNvPr id="3" name="Text Placeholder 2">
            <a:extLst>
              <a:ext uri="{FF2B5EF4-FFF2-40B4-BE49-F238E27FC236}">
                <a16:creationId xmlns:a16="http://schemas.microsoft.com/office/drawing/2014/main" id="{30200B02-BA85-00D8-9AEA-403AD9035863}"/>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Agenda</a:t>
            </a:r>
          </a:p>
        </p:txBody>
      </p:sp>
      <p:sp>
        <p:nvSpPr>
          <p:cNvPr id="6" name="Slide Number Placeholder 5">
            <a:extLst>
              <a:ext uri="{FF2B5EF4-FFF2-40B4-BE49-F238E27FC236}">
                <a16:creationId xmlns:a16="http://schemas.microsoft.com/office/drawing/2014/main" id="{30D0F931-C9F8-391F-1E2D-C2329E69790A}"/>
              </a:ext>
            </a:extLst>
          </p:cNvPr>
          <p:cNvSpPr>
            <a:spLocks noGrp="1"/>
          </p:cNvSpPr>
          <p:nvPr>
            <p:ph type="sldNum" sz="quarter" idx="18"/>
          </p:nvPr>
        </p:nvSpPr>
        <p:spPr/>
        <p:txBody>
          <a:bodyPr/>
          <a:lstStyle/>
          <a:p>
            <a:fld id="{548469FB-C78A-B94B-B04A-B5BC8C934F85}" type="slidenum">
              <a:rPr lang="en-US" smtClean="0"/>
              <a:t>4</a:t>
            </a:fld>
            <a:endParaRPr lang="en-US"/>
          </a:p>
        </p:txBody>
      </p:sp>
    </p:spTree>
    <p:extLst>
      <p:ext uri="{BB962C8B-B14F-4D97-AF65-F5344CB8AC3E}">
        <p14:creationId xmlns:p14="http://schemas.microsoft.com/office/powerpoint/2010/main" val="2215625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4502552" y="874261"/>
            <a:ext cx="7191464" cy="5195733"/>
          </a:xfrm>
        </p:spPr>
        <p:txBody>
          <a:bodyPr>
            <a:normAutofit/>
          </a:bodyPr>
          <a:lstStyle/>
          <a:p>
            <a:pPr marL="0" indent="0">
              <a:lnSpc>
                <a:spcPct val="100000"/>
              </a:lnSpc>
              <a:spcBef>
                <a:spcPts val="0"/>
              </a:spcBef>
              <a:buNone/>
            </a:pPr>
            <a:r>
              <a:rPr lang="en-US" sz="3000" dirty="0">
                <a:latin typeface="Avenir Book" panose="02000503020000020003" pitchFamily="2" charset="0"/>
              </a:rPr>
              <a:t>Create and manage a workspace </a:t>
            </a:r>
          </a:p>
          <a:p>
            <a:pPr marL="0" indent="0">
              <a:lnSpc>
                <a:spcPct val="100000"/>
              </a:lnSpc>
              <a:spcBef>
                <a:spcPts val="0"/>
              </a:spcBef>
              <a:buNone/>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Share and collaborate within workspaces</a:t>
            </a:r>
          </a:p>
          <a:p>
            <a:pPr>
              <a:lnSpc>
                <a:spcPct val="100000"/>
              </a:lnSpc>
              <a:spcBef>
                <a:spcPts val="0"/>
              </a:spcBef>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Build cohorts and datasets</a:t>
            </a:r>
          </a:p>
          <a:p>
            <a:pPr>
              <a:lnSpc>
                <a:spcPct val="100000"/>
              </a:lnSpc>
              <a:spcBef>
                <a:spcPts val="0"/>
              </a:spcBef>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Navigate the analysis environment and run basic data cleaning and manipulations</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p:txBody>
          <a:bodyPr/>
          <a:lstStyle/>
          <a:p>
            <a:r>
              <a:rPr lang="en-US" dirty="0">
                <a:latin typeface="YaleNew" panose="02000602050000020003" pitchFamily="2" charset="77"/>
              </a:rPr>
              <a:t>Learning</a:t>
            </a:r>
          </a:p>
          <a:p>
            <a:r>
              <a:rPr lang="en-US" dirty="0">
                <a:latin typeface="YaleNew" panose="02000602050000020003" pitchFamily="2" charset="77"/>
              </a:rPr>
              <a:t>Objectives</a:t>
            </a:r>
          </a:p>
        </p:txBody>
      </p:sp>
      <p:sp>
        <p:nvSpPr>
          <p:cNvPr id="4" name="Text Placeholder 3">
            <a:extLst>
              <a:ext uri="{FF2B5EF4-FFF2-40B4-BE49-F238E27FC236}">
                <a16:creationId xmlns:a16="http://schemas.microsoft.com/office/drawing/2014/main" id="{1CC9A701-DDC6-F93D-058B-9F0D97EB1A84}"/>
              </a:ext>
            </a:extLst>
          </p:cNvPr>
          <p:cNvSpPr>
            <a:spLocks noGrp="1"/>
          </p:cNvSpPr>
          <p:nvPr>
            <p:ph type="body" sz="quarter" idx="15"/>
          </p:nvPr>
        </p:nvSpPr>
        <p:spPr>
          <a:xfrm>
            <a:off x="497984" y="3185056"/>
            <a:ext cx="3030943" cy="574144"/>
          </a:xfrm>
        </p:spPr>
        <p:txBody>
          <a:bodyPr/>
          <a:lstStyle/>
          <a:p>
            <a:r>
              <a:rPr lang="en-US" i="0" dirty="0">
                <a:cs typeface="+mn-cs"/>
              </a:rPr>
              <a:t>By the end of this course, participants will be able to:</a:t>
            </a:r>
          </a:p>
        </p:txBody>
      </p:sp>
      <p:sp>
        <p:nvSpPr>
          <p:cNvPr id="5" name="Slide Number Placeholder 4">
            <a:extLst>
              <a:ext uri="{FF2B5EF4-FFF2-40B4-BE49-F238E27FC236}">
                <a16:creationId xmlns:a16="http://schemas.microsoft.com/office/drawing/2014/main" id="{DD651F43-F33E-D73A-4158-B22BE6C5B9BB}"/>
              </a:ext>
            </a:extLst>
          </p:cNvPr>
          <p:cNvSpPr>
            <a:spLocks noGrp="1"/>
          </p:cNvSpPr>
          <p:nvPr>
            <p:ph type="sldNum" sz="quarter" idx="18"/>
          </p:nvPr>
        </p:nvSpPr>
        <p:spPr/>
        <p:txBody>
          <a:bodyPr/>
          <a:lstStyle/>
          <a:p>
            <a:fld id="{548469FB-C78A-B94B-B04A-B5BC8C934F85}" type="slidenum">
              <a:rPr lang="en-US" smtClean="0"/>
              <a:t>5</a:t>
            </a:fld>
            <a:endParaRPr lang="en-US"/>
          </a:p>
        </p:txBody>
      </p:sp>
    </p:spTree>
    <p:extLst>
      <p:ext uri="{BB962C8B-B14F-4D97-AF65-F5344CB8AC3E}">
        <p14:creationId xmlns:p14="http://schemas.microsoft.com/office/powerpoint/2010/main" val="3472341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4718613" y="941648"/>
            <a:ext cx="6803553" cy="4763625"/>
          </a:xfrm>
        </p:spPr>
        <p:txBody>
          <a:bodyPr>
            <a:normAutofit lnSpcReduction="10000"/>
          </a:bodyPr>
          <a:lstStyle/>
          <a:p>
            <a:pPr marL="0" lvl="1" indent="0">
              <a:lnSpc>
                <a:spcPct val="100000"/>
              </a:lnSpc>
              <a:spcBef>
                <a:spcPts val="0"/>
              </a:spcBef>
              <a:buNone/>
            </a:pPr>
            <a:r>
              <a:rPr lang="en-US" sz="3200" dirty="0">
                <a:latin typeface="Avenir Book" panose="02000503020000020003" pitchFamily="2" charset="0"/>
              </a:rPr>
              <a:t>A national initiative by the NIH</a:t>
            </a:r>
          </a:p>
          <a:p>
            <a:pPr marL="514350" lvl="1" indent="-514350">
              <a:lnSpc>
                <a:spcPct val="100000"/>
              </a:lnSpc>
              <a:spcBef>
                <a:spcPts val="0"/>
              </a:spcBef>
              <a:buFont typeface="+mj-lt"/>
              <a:buAutoNum type="arabicPeriod"/>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Launched in 2018</a:t>
            </a:r>
          </a:p>
          <a:p>
            <a:pPr marL="514350" lvl="1" indent="-514350">
              <a:lnSpc>
                <a:spcPct val="100000"/>
              </a:lnSpc>
              <a:spcBef>
                <a:spcPts val="0"/>
              </a:spcBef>
              <a:buFont typeface="+mj-lt"/>
              <a:buAutoNum type="arabicPeriod"/>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To gather health data from over 1 million people</a:t>
            </a:r>
          </a:p>
          <a:p>
            <a:pPr marL="514350" lvl="1" indent="-514350">
              <a:lnSpc>
                <a:spcPct val="100000"/>
              </a:lnSpc>
              <a:spcBef>
                <a:spcPts val="0"/>
              </a:spcBef>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Eligible participants join voluntarily</a:t>
            </a:r>
          </a:p>
          <a:p>
            <a:pPr marL="914400" lvl="2" indent="-457200">
              <a:lnSpc>
                <a:spcPct val="100000"/>
              </a:lnSpc>
              <a:spcBef>
                <a:spcPts val="0"/>
              </a:spcBef>
            </a:pPr>
            <a:r>
              <a:rPr lang="en-US" sz="2800" dirty="0">
                <a:latin typeface="Avenir Book" panose="02000503020000020003" pitchFamily="2" charset="0"/>
              </a:rPr>
              <a:t>signing up via </a:t>
            </a:r>
            <a:r>
              <a:rPr lang="en-US" sz="2800" dirty="0" err="1">
                <a:latin typeface="Avenir Book" panose="02000503020000020003" pitchFamily="2" charset="0"/>
              </a:rPr>
              <a:t>JoinAllofUs.org</a:t>
            </a:r>
            <a:r>
              <a:rPr lang="en-US" sz="2800" dirty="0">
                <a:latin typeface="Avenir Book" panose="02000503020000020003" pitchFamily="2" charset="0"/>
              </a:rPr>
              <a:t>  </a:t>
            </a:r>
          </a:p>
          <a:p>
            <a:pPr marL="914400" lvl="2" indent="-457200">
              <a:lnSpc>
                <a:spcPct val="100000"/>
              </a:lnSpc>
              <a:spcBef>
                <a:spcPts val="0"/>
              </a:spcBef>
            </a:pPr>
            <a:r>
              <a:rPr lang="en-US" sz="2800" dirty="0">
                <a:latin typeface="Avenir Book" panose="02000503020000020003" pitchFamily="2" charset="0"/>
              </a:rPr>
              <a:t>participating health care provider</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a:xfrm>
            <a:off x="333650" y="1208871"/>
            <a:ext cx="3290797" cy="1643569"/>
          </a:xfrm>
        </p:spPr>
        <p:txBody>
          <a:bodyPr/>
          <a:lstStyle/>
          <a:p>
            <a:r>
              <a:rPr lang="en-US" dirty="0">
                <a:latin typeface="YaleNew" panose="02000602050000020003" pitchFamily="2" charset="77"/>
              </a:rPr>
              <a:t>About the All of Us Research Program</a:t>
            </a:r>
          </a:p>
        </p:txBody>
      </p:sp>
      <p:sp>
        <p:nvSpPr>
          <p:cNvPr id="5" name="Text Placeholder 3">
            <a:extLst>
              <a:ext uri="{FF2B5EF4-FFF2-40B4-BE49-F238E27FC236}">
                <a16:creationId xmlns:a16="http://schemas.microsoft.com/office/drawing/2014/main" id="{C3DC4C43-10E2-A436-4B10-13DA9807914C}"/>
              </a:ext>
            </a:extLst>
          </p:cNvPr>
          <p:cNvSpPr>
            <a:spLocks noGrp="1"/>
          </p:cNvSpPr>
          <p:nvPr>
            <p:ph type="body" sz="quarter" idx="15"/>
          </p:nvPr>
        </p:nvSpPr>
        <p:spPr>
          <a:xfrm>
            <a:off x="333650" y="3056761"/>
            <a:ext cx="3030943" cy="266700"/>
          </a:xfrm>
        </p:spPr>
        <p:txBody>
          <a:bodyPr/>
          <a:lstStyle/>
          <a:p>
            <a:r>
              <a:rPr lang="en-US" dirty="0">
                <a:solidFill>
                  <a:schemeClr val="bg1"/>
                </a:solidFill>
              </a:rPr>
              <a:t>Overview</a:t>
            </a:r>
            <a:endParaRPr lang="en-US" dirty="0"/>
          </a:p>
        </p:txBody>
      </p:sp>
      <p:sp>
        <p:nvSpPr>
          <p:cNvPr id="4" name="Slide Number Placeholder 3">
            <a:extLst>
              <a:ext uri="{FF2B5EF4-FFF2-40B4-BE49-F238E27FC236}">
                <a16:creationId xmlns:a16="http://schemas.microsoft.com/office/drawing/2014/main" id="{B1DB4A70-C844-1D95-B05C-A52BB049F1CB}"/>
              </a:ext>
            </a:extLst>
          </p:cNvPr>
          <p:cNvSpPr>
            <a:spLocks noGrp="1"/>
          </p:cNvSpPr>
          <p:nvPr>
            <p:ph type="sldNum" sz="quarter" idx="18"/>
          </p:nvPr>
        </p:nvSpPr>
        <p:spPr/>
        <p:txBody>
          <a:bodyPr/>
          <a:lstStyle/>
          <a:p>
            <a:fld id="{548469FB-C78A-B94B-B04A-B5BC8C934F85}" type="slidenum">
              <a:rPr lang="en-US" smtClean="0"/>
              <a:t>6</a:t>
            </a:fld>
            <a:endParaRPr lang="en-US"/>
          </a:p>
        </p:txBody>
      </p:sp>
    </p:spTree>
    <p:extLst>
      <p:ext uri="{BB962C8B-B14F-4D97-AF65-F5344CB8AC3E}">
        <p14:creationId xmlns:p14="http://schemas.microsoft.com/office/powerpoint/2010/main" val="1167524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E6B3-8EE3-55C5-FDCC-780E2923CA9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140D547-A06A-7220-77A7-A2468D67292A}"/>
              </a:ext>
            </a:extLst>
          </p:cNvPr>
          <p:cNvSpPr>
            <a:spLocks noGrp="1"/>
          </p:cNvSpPr>
          <p:nvPr>
            <p:ph type="body" sz="quarter" idx="15"/>
          </p:nvPr>
        </p:nvSpPr>
        <p:spPr>
          <a:xfrm>
            <a:off x="448368" y="3843978"/>
            <a:ext cx="2760849" cy="1739274"/>
          </a:xfrm>
        </p:spPr>
        <p:txBody>
          <a:bodyPr/>
          <a:lstStyle/>
          <a:p>
            <a:r>
              <a:rPr lang="en-US" b="1" i="0" dirty="0"/>
              <a:t>Data Sources</a:t>
            </a:r>
            <a:endParaRPr lang="en-US" b="1" i="0" dirty="0">
              <a:solidFill>
                <a:schemeClr val="bg1"/>
              </a:solidFill>
            </a:endParaRPr>
          </a:p>
          <a:p>
            <a:r>
              <a:rPr lang="en-US" dirty="0">
                <a:solidFill>
                  <a:schemeClr val="bg1"/>
                </a:solidFill>
              </a:rPr>
              <a:t>Surveys</a:t>
            </a:r>
          </a:p>
          <a:p>
            <a:r>
              <a:rPr lang="en-US" dirty="0"/>
              <a:t>EHR</a:t>
            </a:r>
          </a:p>
          <a:p>
            <a:r>
              <a:rPr lang="en-US" dirty="0"/>
              <a:t>Wearables</a:t>
            </a:r>
          </a:p>
          <a:p>
            <a:r>
              <a:rPr lang="en-US" dirty="0"/>
              <a:t>Physical measurements</a:t>
            </a:r>
          </a:p>
          <a:p>
            <a:r>
              <a:rPr lang="en-US" dirty="0"/>
              <a:t>Genomic</a:t>
            </a:r>
          </a:p>
        </p:txBody>
      </p:sp>
      <p:pic>
        <p:nvPicPr>
          <p:cNvPr id="13" name="Picture 12">
            <a:extLst>
              <a:ext uri="{FF2B5EF4-FFF2-40B4-BE49-F238E27FC236}">
                <a16:creationId xmlns:a16="http://schemas.microsoft.com/office/drawing/2014/main" id="{0CF58E1C-EBA7-C06D-D6AD-55338E377056}"/>
              </a:ext>
            </a:extLst>
          </p:cNvPr>
          <p:cNvPicPr>
            <a:picLocks noChangeAspect="1"/>
          </p:cNvPicPr>
          <p:nvPr/>
        </p:nvPicPr>
        <p:blipFill>
          <a:blip r:embed="rId3"/>
          <a:stretch>
            <a:fillRect/>
          </a:stretch>
        </p:blipFill>
        <p:spPr>
          <a:xfrm>
            <a:off x="5272222" y="538916"/>
            <a:ext cx="823777" cy="934284"/>
          </a:xfrm>
          <a:prstGeom prst="rect">
            <a:avLst/>
          </a:prstGeom>
        </p:spPr>
      </p:pic>
      <p:pic>
        <p:nvPicPr>
          <p:cNvPr id="15" name="Picture 14">
            <a:extLst>
              <a:ext uri="{FF2B5EF4-FFF2-40B4-BE49-F238E27FC236}">
                <a16:creationId xmlns:a16="http://schemas.microsoft.com/office/drawing/2014/main" id="{B94CD5E7-3F23-AFE5-4C72-D56D60DC6FDC}"/>
              </a:ext>
            </a:extLst>
          </p:cNvPr>
          <p:cNvPicPr>
            <a:picLocks noChangeAspect="1"/>
          </p:cNvPicPr>
          <p:nvPr/>
        </p:nvPicPr>
        <p:blipFill>
          <a:blip r:embed="rId4"/>
          <a:stretch>
            <a:fillRect/>
          </a:stretch>
        </p:blipFill>
        <p:spPr>
          <a:xfrm>
            <a:off x="5308601" y="5442201"/>
            <a:ext cx="787400" cy="775554"/>
          </a:xfrm>
          <a:prstGeom prst="rect">
            <a:avLst/>
          </a:prstGeom>
        </p:spPr>
      </p:pic>
      <p:pic>
        <p:nvPicPr>
          <p:cNvPr id="16" name="Picture 15">
            <a:extLst>
              <a:ext uri="{FF2B5EF4-FFF2-40B4-BE49-F238E27FC236}">
                <a16:creationId xmlns:a16="http://schemas.microsoft.com/office/drawing/2014/main" id="{A8453839-938A-D49B-C79F-48D5FBC3C151}"/>
              </a:ext>
            </a:extLst>
          </p:cNvPr>
          <p:cNvPicPr>
            <a:picLocks noChangeAspect="1"/>
          </p:cNvPicPr>
          <p:nvPr/>
        </p:nvPicPr>
        <p:blipFill>
          <a:blip r:embed="rId5"/>
          <a:stretch>
            <a:fillRect/>
          </a:stretch>
        </p:blipFill>
        <p:spPr>
          <a:xfrm>
            <a:off x="5295900" y="1854200"/>
            <a:ext cx="764897" cy="790642"/>
          </a:xfrm>
          <a:prstGeom prst="rect">
            <a:avLst/>
          </a:prstGeom>
        </p:spPr>
      </p:pic>
      <p:pic>
        <p:nvPicPr>
          <p:cNvPr id="17" name="Picture 16">
            <a:extLst>
              <a:ext uri="{FF2B5EF4-FFF2-40B4-BE49-F238E27FC236}">
                <a16:creationId xmlns:a16="http://schemas.microsoft.com/office/drawing/2014/main" id="{45FBDBE0-1952-928D-E61D-3E3EAF22B875}"/>
              </a:ext>
            </a:extLst>
          </p:cNvPr>
          <p:cNvPicPr>
            <a:picLocks noChangeAspect="1"/>
          </p:cNvPicPr>
          <p:nvPr/>
        </p:nvPicPr>
        <p:blipFill>
          <a:blip r:embed="rId6"/>
          <a:stretch>
            <a:fillRect/>
          </a:stretch>
        </p:blipFill>
        <p:spPr>
          <a:xfrm>
            <a:off x="5308600" y="3060702"/>
            <a:ext cx="774700" cy="783276"/>
          </a:xfrm>
          <a:prstGeom prst="rect">
            <a:avLst/>
          </a:prstGeom>
        </p:spPr>
      </p:pic>
      <p:pic>
        <p:nvPicPr>
          <p:cNvPr id="18" name="Picture 17">
            <a:extLst>
              <a:ext uri="{FF2B5EF4-FFF2-40B4-BE49-F238E27FC236}">
                <a16:creationId xmlns:a16="http://schemas.microsoft.com/office/drawing/2014/main" id="{3ACF5F3E-182F-2DE7-018B-35ED2F52254D}"/>
              </a:ext>
            </a:extLst>
          </p:cNvPr>
          <p:cNvPicPr>
            <a:picLocks noChangeAspect="1"/>
          </p:cNvPicPr>
          <p:nvPr/>
        </p:nvPicPr>
        <p:blipFill>
          <a:blip r:embed="rId7"/>
          <a:stretch>
            <a:fillRect/>
          </a:stretch>
        </p:blipFill>
        <p:spPr>
          <a:xfrm>
            <a:off x="5308601" y="4307001"/>
            <a:ext cx="774699" cy="673770"/>
          </a:xfrm>
          <a:prstGeom prst="rect">
            <a:avLst/>
          </a:prstGeom>
        </p:spPr>
      </p:pic>
      <p:sp>
        <p:nvSpPr>
          <p:cNvPr id="2" name="TextBox 1">
            <a:extLst>
              <a:ext uri="{FF2B5EF4-FFF2-40B4-BE49-F238E27FC236}">
                <a16:creationId xmlns:a16="http://schemas.microsoft.com/office/drawing/2014/main" id="{35478091-A925-DD36-14D8-A4E68CFB1AA1}"/>
              </a:ext>
            </a:extLst>
          </p:cNvPr>
          <p:cNvSpPr txBox="1"/>
          <p:nvPr/>
        </p:nvSpPr>
        <p:spPr>
          <a:xfrm>
            <a:off x="6242252" y="602214"/>
            <a:ext cx="4163227" cy="830997"/>
          </a:xfrm>
          <a:prstGeom prst="rect">
            <a:avLst/>
          </a:prstGeom>
          <a:noFill/>
        </p:spPr>
        <p:txBody>
          <a:bodyPr wrap="square" rtlCol="0">
            <a:spAutoFit/>
          </a:bodyPr>
          <a:lstStyle/>
          <a:p>
            <a:r>
              <a:rPr lang="en-US" sz="2400" dirty="0">
                <a:latin typeface="Avenir Book" panose="02000503020000020003" pitchFamily="2" charset="0"/>
              </a:rPr>
              <a:t>Lifestyles, medical history, healthcare access, etc.</a:t>
            </a:r>
          </a:p>
        </p:txBody>
      </p:sp>
      <p:sp>
        <p:nvSpPr>
          <p:cNvPr id="5" name="TextBox 4">
            <a:extLst>
              <a:ext uri="{FF2B5EF4-FFF2-40B4-BE49-F238E27FC236}">
                <a16:creationId xmlns:a16="http://schemas.microsoft.com/office/drawing/2014/main" id="{C32D17A5-5BCC-AB54-593B-ACF4711CE273}"/>
              </a:ext>
            </a:extLst>
          </p:cNvPr>
          <p:cNvSpPr txBox="1"/>
          <p:nvPr/>
        </p:nvSpPr>
        <p:spPr>
          <a:xfrm>
            <a:off x="6242252" y="1608237"/>
            <a:ext cx="5342832" cy="1200329"/>
          </a:xfrm>
          <a:prstGeom prst="rect">
            <a:avLst/>
          </a:prstGeom>
          <a:noFill/>
        </p:spPr>
        <p:txBody>
          <a:bodyPr wrap="square" rtlCol="0">
            <a:spAutoFit/>
          </a:bodyPr>
          <a:lstStyle/>
          <a:p>
            <a:r>
              <a:rPr lang="en-US" sz="2400" dirty="0">
                <a:latin typeface="Avenir Book" panose="02000503020000020003" pitchFamily="2" charset="0"/>
              </a:rPr>
              <a:t>Standardized using Observational Medical Outcomes Partnership (OMOP) Common Data Model (CDM)</a:t>
            </a:r>
          </a:p>
        </p:txBody>
      </p:sp>
      <p:sp>
        <p:nvSpPr>
          <p:cNvPr id="6" name="TextBox 5">
            <a:extLst>
              <a:ext uri="{FF2B5EF4-FFF2-40B4-BE49-F238E27FC236}">
                <a16:creationId xmlns:a16="http://schemas.microsoft.com/office/drawing/2014/main" id="{D8E7F936-82CE-9357-ABD5-30ED407B38DE}"/>
              </a:ext>
            </a:extLst>
          </p:cNvPr>
          <p:cNvSpPr txBox="1"/>
          <p:nvPr/>
        </p:nvSpPr>
        <p:spPr>
          <a:xfrm>
            <a:off x="6275729" y="4219224"/>
            <a:ext cx="4953000" cy="830997"/>
          </a:xfrm>
          <a:prstGeom prst="rect">
            <a:avLst/>
          </a:prstGeom>
          <a:noFill/>
        </p:spPr>
        <p:txBody>
          <a:bodyPr wrap="square" rtlCol="0">
            <a:spAutoFit/>
          </a:bodyPr>
          <a:lstStyle/>
          <a:p>
            <a:r>
              <a:rPr lang="en-US" sz="2400" dirty="0">
                <a:latin typeface="Avenir Book" panose="02000503020000020003" pitchFamily="2" charset="0"/>
              </a:rPr>
              <a:t>Sources: EHRs, self-reported height and weight, in-person visits.</a:t>
            </a:r>
          </a:p>
        </p:txBody>
      </p:sp>
      <p:sp>
        <p:nvSpPr>
          <p:cNvPr id="7" name="TextBox 6">
            <a:extLst>
              <a:ext uri="{FF2B5EF4-FFF2-40B4-BE49-F238E27FC236}">
                <a16:creationId xmlns:a16="http://schemas.microsoft.com/office/drawing/2014/main" id="{C947B692-90DF-81BF-5093-FB92D26B5A64}"/>
              </a:ext>
            </a:extLst>
          </p:cNvPr>
          <p:cNvSpPr txBox="1"/>
          <p:nvPr/>
        </p:nvSpPr>
        <p:spPr>
          <a:xfrm>
            <a:off x="6275729" y="5380590"/>
            <a:ext cx="5567423" cy="830997"/>
          </a:xfrm>
          <a:prstGeom prst="rect">
            <a:avLst/>
          </a:prstGeom>
          <a:noFill/>
        </p:spPr>
        <p:txBody>
          <a:bodyPr wrap="square" rtlCol="0">
            <a:spAutoFit/>
          </a:bodyPr>
          <a:lstStyle/>
          <a:p>
            <a:r>
              <a:rPr lang="en-US" sz="2400" dirty="0">
                <a:latin typeface="Avenir Book" panose="02000503020000020003" pitchFamily="2" charset="0"/>
              </a:rPr>
              <a:t>Whole genome sequencing and genotyping from blood, saliva, &amp; urine</a:t>
            </a:r>
          </a:p>
        </p:txBody>
      </p:sp>
      <p:sp>
        <p:nvSpPr>
          <p:cNvPr id="8" name="TextBox 7">
            <a:extLst>
              <a:ext uri="{FF2B5EF4-FFF2-40B4-BE49-F238E27FC236}">
                <a16:creationId xmlns:a16="http://schemas.microsoft.com/office/drawing/2014/main" id="{7507DC60-A8D7-5E02-B87B-20F360EAAEA3}"/>
              </a:ext>
            </a:extLst>
          </p:cNvPr>
          <p:cNvSpPr txBox="1"/>
          <p:nvPr/>
        </p:nvSpPr>
        <p:spPr>
          <a:xfrm>
            <a:off x="6252579" y="3094716"/>
            <a:ext cx="4152900" cy="830997"/>
          </a:xfrm>
          <a:prstGeom prst="rect">
            <a:avLst/>
          </a:prstGeom>
          <a:noFill/>
        </p:spPr>
        <p:txBody>
          <a:bodyPr wrap="square" rtlCol="0">
            <a:spAutoFit/>
          </a:bodyPr>
          <a:lstStyle/>
          <a:p>
            <a:r>
              <a:rPr lang="en-US" sz="2400" dirty="0">
                <a:latin typeface="Avenir Book" panose="02000503020000020003" pitchFamily="2" charset="0"/>
              </a:rPr>
              <a:t>Heart rate, activity, or sleep data from devices like Fitbit</a:t>
            </a:r>
          </a:p>
        </p:txBody>
      </p:sp>
      <p:sp>
        <p:nvSpPr>
          <p:cNvPr id="19" name="Slide Number Placeholder 18">
            <a:extLst>
              <a:ext uri="{FF2B5EF4-FFF2-40B4-BE49-F238E27FC236}">
                <a16:creationId xmlns:a16="http://schemas.microsoft.com/office/drawing/2014/main" id="{48F0FDCE-758D-9DD7-3411-33D696C9085A}"/>
              </a:ext>
            </a:extLst>
          </p:cNvPr>
          <p:cNvSpPr>
            <a:spLocks noGrp="1"/>
          </p:cNvSpPr>
          <p:nvPr>
            <p:ph type="sldNum" sz="quarter" idx="18"/>
          </p:nvPr>
        </p:nvSpPr>
        <p:spPr/>
        <p:txBody>
          <a:bodyPr/>
          <a:lstStyle/>
          <a:p>
            <a:fld id="{548469FB-C78A-B94B-B04A-B5BC8C934F85}" type="slidenum">
              <a:rPr lang="en-US" smtClean="0"/>
              <a:t>7</a:t>
            </a:fld>
            <a:endParaRPr lang="en-US"/>
          </a:p>
        </p:txBody>
      </p:sp>
      <p:sp>
        <p:nvSpPr>
          <p:cNvPr id="14" name="Text Placeholder 2">
            <a:extLst>
              <a:ext uri="{FF2B5EF4-FFF2-40B4-BE49-F238E27FC236}">
                <a16:creationId xmlns:a16="http://schemas.microsoft.com/office/drawing/2014/main" id="{55C26CC0-6228-C8B5-BBBB-301F35229717}"/>
              </a:ext>
            </a:extLst>
          </p:cNvPr>
          <p:cNvSpPr txBox="1">
            <a:spLocks/>
          </p:cNvSpPr>
          <p:nvPr/>
        </p:nvSpPr>
        <p:spPr>
          <a:xfrm>
            <a:off x="448368" y="1194028"/>
            <a:ext cx="3290797"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About the All of Us Research Program</a:t>
            </a:r>
          </a:p>
        </p:txBody>
      </p:sp>
      <p:sp>
        <p:nvSpPr>
          <p:cNvPr id="20" name="Text Placeholder 3">
            <a:extLst>
              <a:ext uri="{FF2B5EF4-FFF2-40B4-BE49-F238E27FC236}">
                <a16:creationId xmlns:a16="http://schemas.microsoft.com/office/drawing/2014/main" id="{42D83761-2D5B-4FF8-6DCB-20CEA97F50B1}"/>
              </a:ext>
            </a:extLst>
          </p:cNvPr>
          <p:cNvSpPr txBox="1">
            <a:spLocks/>
          </p:cNvSpPr>
          <p:nvPr/>
        </p:nvSpPr>
        <p:spPr>
          <a:xfrm>
            <a:off x="448368" y="3053425"/>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Overview</a:t>
            </a:r>
          </a:p>
        </p:txBody>
      </p:sp>
    </p:spTree>
    <p:extLst>
      <p:ext uri="{BB962C8B-B14F-4D97-AF65-F5344CB8AC3E}">
        <p14:creationId xmlns:p14="http://schemas.microsoft.com/office/powerpoint/2010/main" val="206509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98789-D12C-F8BA-C55C-CEDDFCB32938}"/>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A2C836B-95EF-C9F8-E4B9-42E1BEBFED70}"/>
              </a:ext>
            </a:extLst>
          </p:cNvPr>
          <p:cNvSpPr>
            <a:spLocks noGrp="1"/>
          </p:cNvSpPr>
          <p:nvPr>
            <p:ph type="pic" sz="quarter" idx="12"/>
          </p:nvPr>
        </p:nvSpPr>
        <p:spPr>
          <a:xfrm>
            <a:off x="4224759" y="267852"/>
            <a:ext cx="7445347" cy="5163078"/>
          </a:xfrm>
        </p:spPr>
        <p:txBody>
          <a:bodyPr>
            <a:noAutofit/>
          </a:bodyPr>
          <a:lstStyle/>
          <a:p>
            <a:pPr marL="0" indent="0">
              <a:lnSpc>
                <a:spcPct val="100000"/>
              </a:lnSpc>
              <a:spcBef>
                <a:spcPts val="0"/>
              </a:spcBef>
              <a:buNone/>
            </a:pPr>
            <a:r>
              <a:rPr lang="en-US" dirty="0">
                <a:latin typeface="Avenir Book" panose="02000503020000020003" pitchFamily="2" charset="0"/>
              </a:rPr>
              <a:t>You create a new workspace from the AoU work bench</a:t>
            </a:r>
          </a:p>
          <a:p>
            <a:pPr marL="0" indent="0">
              <a:lnSpc>
                <a:spcPct val="100000"/>
              </a:lnSpc>
              <a:spcBef>
                <a:spcPts val="0"/>
              </a:spcBef>
              <a:buNone/>
            </a:pPr>
            <a:endParaRPr lang="en-US" dirty="0">
              <a:latin typeface="Avenir Book" panose="02000503020000020003" pitchFamily="2" charset="0"/>
            </a:endParaRPr>
          </a:p>
          <a:p>
            <a:pPr marL="0" indent="0">
              <a:lnSpc>
                <a:spcPct val="100000"/>
              </a:lnSpc>
              <a:spcBef>
                <a:spcPts val="0"/>
              </a:spcBef>
              <a:buNone/>
            </a:pPr>
            <a:r>
              <a:rPr lang="en-US" dirty="0">
                <a:latin typeface="Avenir Book" panose="02000503020000020003" pitchFamily="2" charset="0"/>
              </a:rPr>
              <a:t>This takes you to a form that asks for the following information:</a:t>
            </a:r>
          </a:p>
          <a:p>
            <a:pPr lvl="1">
              <a:lnSpc>
                <a:spcPct val="100000"/>
              </a:lnSpc>
              <a:spcBef>
                <a:spcPts val="0"/>
              </a:spcBef>
            </a:pPr>
            <a:r>
              <a:rPr lang="en-US" dirty="0">
                <a:latin typeface="Avenir Book" panose="02000503020000020003" pitchFamily="2" charset="0"/>
              </a:rPr>
              <a:t>Intended use of AoU data</a:t>
            </a:r>
          </a:p>
          <a:p>
            <a:pPr lvl="1">
              <a:lnSpc>
                <a:spcPct val="100000"/>
              </a:lnSpc>
              <a:spcBef>
                <a:spcPts val="0"/>
              </a:spcBef>
            </a:pPr>
            <a:r>
              <a:rPr lang="en-US" dirty="0">
                <a:latin typeface="Avenir Book" panose="02000503020000020003" pitchFamily="2" charset="0"/>
              </a:rPr>
              <a:t>Workspace Name</a:t>
            </a:r>
          </a:p>
          <a:p>
            <a:pPr lvl="1">
              <a:lnSpc>
                <a:spcPct val="100000"/>
              </a:lnSpc>
              <a:spcBef>
                <a:spcPts val="0"/>
              </a:spcBef>
            </a:pPr>
            <a:r>
              <a:rPr lang="en-US" dirty="0">
                <a:latin typeface="Avenir Book" panose="02000503020000020003" pitchFamily="2" charset="0"/>
              </a:rPr>
              <a:t>Data Access Tier</a:t>
            </a:r>
          </a:p>
          <a:p>
            <a:pPr lvl="1">
              <a:lnSpc>
                <a:spcPct val="100000"/>
              </a:lnSpc>
              <a:spcBef>
                <a:spcPts val="0"/>
              </a:spcBef>
            </a:pPr>
            <a:r>
              <a:rPr lang="en-US" dirty="0">
                <a:latin typeface="Avenir Book" panose="02000503020000020003" pitchFamily="2" charset="0"/>
              </a:rPr>
              <a:t>Billing Information (optional at this point)</a:t>
            </a:r>
          </a:p>
          <a:p>
            <a:pPr lvl="1">
              <a:lnSpc>
                <a:spcPct val="100000"/>
              </a:lnSpc>
              <a:spcBef>
                <a:spcPts val="0"/>
              </a:spcBef>
            </a:pPr>
            <a:r>
              <a:rPr lang="en-US" dirty="0">
                <a:latin typeface="Avenir Book" panose="02000503020000020003" pitchFamily="2" charset="0"/>
              </a:rPr>
              <a:t>Research Use Statement</a:t>
            </a:r>
          </a:p>
          <a:p>
            <a:pPr lvl="1">
              <a:lnSpc>
                <a:spcPct val="100000"/>
              </a:lnSpc>
              <a:spcBef>
                <a:spcPts val="0"/>
              </a:spcBef>
            </a:pPr>
            <a:r>
              <a:rPr lang="en-US" dirty="0">
                <a:latin typeface="Avenir Book" panose="02000503020000020003" pitchFamily="2" charset="0"/>
              </a:rPr>
              <a:t>Population of Interest</a:t>
            </a:r>
          </a:p>
          <a:p>
            <a:pPr>
              <a:lnSpc>
                <a:spcPct val="100000"/>
              </a:lnSpc>
              <a:spcBef>
                <a:spcPts val="0"/>
              </a:spcBef>
              <a:buFont typeface="Courier New" panose="02070309020205020404" pitchFamily="49" charset="0"/>
              <a:buChar char="o"/>
            </a:pPr>
            <a:endParaRPr lang="en-US" dirty="0">
              <a:latin typeface="Avenir Book" panose="02000503020000020003" pitchFamily="2" charset="0"/>
            </a:endParaRPr>
          </a:p>
          <a:p>
            <a:pPr marL="0" indent="0">
              <a:lnSpc>
                <a:spcPct val="100000"/>
              </a:lnSpc>
              <a:spcBef>
                <a:spcPts val="0"/>
              </a:spcBef>
              <a:buNone/>
            </a:pPr>
            <a:r>
              <a:rPr lang="en-US" b="1" dirty="0">
                <a:latin typeface="Avenir Book" panose="02000503020000020003" pitchFamily="2" charset="0"/>
              </a:rPr>
              <a:t>Note: The information is publicly available but can be updated anytime</a:t>
            </a:r>
          </a:p>
        </p:txBody>
      </p:sp>
      <p:sp>
        <p:nvSpPr>
          <p:cNvPr id="3" name="Text Placeholder 2">
            <a:extLst>
              <a:ext uri="{FF2B5EF4-FFF2-40B4-BE49-F238E27FC236}">
                <a16:creationId xmlns:a16="http://schemas.microsoft.com/office/drawing/2014/main" id="{941E5295-504E-06E5-D9A8-23A9A5CBCDA0}"/>
              </a:ext>
            </a:extLst>
          </p:cNvPr>
          <p:cNvSpPr>
            <a:spLocks noGrp="1"/>
          </p:cNvSpPr>
          <p:nvPr>
            <p:ph type="body" sz="quarter" idx="11"/>
          </p:nvPr>
        </p:nvSpPr>
        <p:spPr/>
        <p:txBody>
          <a:bodyPr/>
          <a:lstStyle/>
          <a:p>
            <a:r>
              <a:rPr lang="en-US" dirty="0">
                <a:latin typeface="YaleNew" panose="02000602050000020003" pitchFamily="2" charset="77"/>
              </a:rPr>
              <a:t>Creating a Workspace</a:t>
            </a:r>
          </a:p>
        </p:txBody>
      </p:sp>
      <p:sp>
        <p:nvSpPr>
          <p:cNvPr id="4" name="Text Placeholder 3">
            <a:extLst>
              <a:ext uri="{FF2B5EF4-FFF2-40B4-BE49-F238E27FC236}">
                <a16:creationId xmlns:a16="http://schemas.microsoft.com/office/drawing/2014/main" id="{8F4142BB-8AA0-7962-392A-E7D75FF5C744}"/>
              </a:ext>
            </a:extLst>
          </p:cNvPr>
          <p:cNvSpPr>
            <a:spLocks noGrp="1"/>
          </p:cNvSpPr>
          <p:nvPr>
            <p:ph type="body" sz="quarter" idx="15"/>
          </p:nvPr>
        </p:nvSpPr>
        <p:spPr>
          <a:xfrm>
            <a:off x="497984" y="2796291"/>
            <a:ext cx="3030943" cy="574144"/>
          </a:xfrm>
        </p:spPr>
        <p:txBody>
          <a:bodyPr/>
          <a:lstStyle/>
          <a:p>
            <a:r>
              <a:rPr lang="en-US" i="0" dirty="0">
                <a:cs typeface="+mn-cs"/>
              </a:rPr>
              <a:t>Overview</a:t>
            </a:r>
          </a:p>
        </p:txBody>
      </p:sp>
      <p:sp>
        <p:nvSpPr>
          <p:cNvPr id="5" name="Slide Number Placeholder 4">
            <a:extLst>
              <a:ext uri="{FF2B5EF4-FFF2-40B4-BE49-F238E27FC236}">
                <a16:creationId xmlns:a16="http://schemas.microsoft.com/office/drawing/2014/main" id="{438CD969-FA59-F978-39CD-1C12780F3D79}"/>
              </a:ext>
            </a:extLst>
          </p:cNvPr>
          <p:cNvSpPr>
            <a:spLocks noGrp="1"/>
          </p:cNvSpPr>
          <p:nvPr>
            <p:ph type="sldNum" sz="quarter" idx="18"/>
          </p:nvPr>
        </p:nvSpPr>
        <p:spPr/>
        <p:txBody>
          <a:bodyPr/>
          <a:lstStyle/>
          <a:p>
            <a:fld id="{548469FB-C78A-B94B-B04A-B5BC8C934F85}" type="slidenum">
              <a:rPr lang="en-US" smtClean="0"/>
              <a:t>8</a:t>
            </a:fld>
            <a:endParaRPr lang="en-US" dirty="0"/>
          </a:p>
        </p:txBody>
      </p:sp>
      <p:pic>
        <p:nvPicPr>
          <p:cNvPr id="6" name="Picture 5">
            <a:extLst>
              <a:ext uri="{FF2B5EF4-FFF2-40B4-BE49-F238E27FC236}">
                <a16:creationId xmlns:a16="http://schemas.microsoft.com/office/drawing/2014/main" id="{F1A65144-9D4B-F4C1-DC6D-9F9E3F5F5FA3}"/>
              </a:ext>
            </a:extLst>
          </p:cNvPr>
          <p:cNvPicPr>
            <a:picLocks noChangeAspect="1"/>
          </p:cNvPicPr>
          <p:nvPr/>
        </p:nvPicPr>
        <p:blipFill>
          <a:blip r:embed="rId3"/>
          <a:stretch>
            <a:fillRect/>
          </a:stretch>
        </p:blipFill>
        <p:spPr>
          <a:xfrm>
            <a:off x="46344" y="4061709"/>
            <a:ext cx="3930595" cy="2139308"/>
          </a:xfrm>
          <a:prstGeom prst="rect">
            <a:avLst/>
          </a:prstGeom>
          <a:ln w="3175">
            <a:solidFill>
              <a:schemeClr val="tx1"/>
            </a:solidFill>
          </a:ln>
        </p:spPr>
      </p:pic>
    </p:spTree>
    <p:extLst>
      <p:ext uri="{BB962C8B-B14F-4D97-AF65-F5344CB8AC3E}">
        <p14:creationId xmlns:p14="http://schemas.microsoft.com/office/powerpoint/2010/main" val="3906718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728DE-F80A-8DBD-D943-F2476335E64A}"/>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E682C57-D543-F24B-FDEE-8F91727E4CF3}"/>
              </a:ext>
            </a:extLst>
          </p:cNvPr>
          <p:cNvSpPr>
            <a:spLocks noGrp="1"/>
          </p:cNvSpPr>
          <p:nvPr>
            <p:ph type="pic" sz="quarter" idx="12"/>
          </p:nvPr>
        </p:nvSpPr>
        <p:spPr>
          <a:xfrm>
            <a:off x="5076967" y="1132764"/>
            <a:ext cx="6819286" cy="5648282"/>
          </a:xfrm>
        </p:spPr>
        <p:txBody>
          <a:bodyPr>
            <a:normAutofit/>
          </a:bodyPr>
          <a:lstStyle/>
          <a:p>
            <a:pPr marL="457200" indent="-457200">
              <a:lnSpc>
                <a:spcPct val="100000"/>
              </a:lnSpc>
              <a:spcBef>
                <a:spcPts val="0"/>
              </a:spcBef>
              <a:buFont typeface="+mj-lt"/>
              <a:buAutoNum type="arabicPeriod"/>
            </a:pPr>
            <a:r>
              <a:rPr lang="en-US" sz="2000" dirty="0">
                <a:latin typeface="Avenir Book" panose="02000503020000020003" pitchFamily="2" charset="0"/>
              </a:rPr>
              <a:t>Build your own SQL query within </a:t>
            </a:r>
            <a:r>
              <a:rPr lang="en-US" sz="2000" dirty="0" err="1">
                <a:latin typeface="Avenir Book" panose="02000503020000020003" pitchFamily="2" charset="0"/>
              </a:rPr>
              <a:t>Jupyter</a:t>
            </a:r>
            <a:r>
              <a:rPr lang="en-US" sz="2000" dirty="0">
                <a:latin typeface="Avenir Book" panose="02000503020000020003" pitchFamily="2" charset="0"/>
              </a:rPr>
              <a:t> Notebooks</a:t>
            </a:r>
            <a:br>
              <a:rPr lang="en-US" sz="2000" dirty="0">
                <a:latin typeface="Avenir Book" panose="02000503020000020003" pitchFamily="2" charset="0"/>
              </a:rPr>
            </a:br>
            <a:endParaRPr lang="en-US" sz="2000" dirty="0">
              <a:latin typeface="Avenir Book" panose="02000503020000020003" pitchFamily="2" charset="0"/>
            </a:endParaRPr>
          </a:p>
          <a:p>
            <a:pPr marL="457200" indent="-457200">
              <a:lnSpc>
                <a:spcPct val="100000"/>
              </a:lnSpc>
              <a:spcBef>
                <a:spcPts val="0"/>
              </a:spcBef>
              <a:buFont typeface="+mj-lt"/>
              <a:buAutoNum type="arabicPeriod"/>
            </a:pPr>
            <a:endParaRPr lang="en-US" sz="1100" dirty="0">
              <a:latin typeface="Avenir Book" panose="02000503020000020003" pitchFamily="2" charset="0"/>
            </a:endParaRPr>
          </a:p>
          <a:p>
            <a:pPr marL="457200" indent="-457200">
              <a:lnSpc>
                <a:spcPct val="100000"/>
              </a:lnSpc>
              <a:spcBef>
                <a:spcPts val="0"/>
              </a:spcBef>
              <a:buFont typeface="+mj-lt"/>
              <a:buAutoNum type="arabicPeriod"/>
            </a:pPr>
            <a:r>
              <a:rPr lang="en-US" sz="2000" b="1" dirty="0">
                <a:latin typeface="Avenir Book" panose="02000503020000020003" pitchFamily="2" charset="0"/>
              </a:rPr>
              <a:t>Cohort Builder + Dataset Builder</a:t>
            </a:r>
          </a:p>
          <a:p>
            <a:pPr lvl="1">
              <a:lnSpc>
                <a:spcPct val="100000"/>
              </a:lnSpc>
              <a:spcBef>
                <a:spcPts val="0"/>
              </a:spcBef>
            </a:pPr>
            <a:r>
              <a:rPr lang="en-US" sz="1800" dirty="0">
                <a:latin typeface="Avenir Book" panose="02000503020000020003" pitchFamily="2" charset="0"/>
              </a:rPr>
              <a:t>Click and choose</a:t>
            </a:r>
          </a:p>
          <a:p>
            <a:pPr lvl="1">
              <a:lnSpc>
                <a:spcPct val="100000"/>
              </a:lnSpc>
              <a:spcBef>
                <a:spcPts val="0"/>
              </a:spcBef>
            </a:pPr>
            <a:r>
              <a:rPr lang="en-US" sz="1800" dirty="0">
                <a:latin typeface="Avenir Book" panose="02000503020000020003" pitchFamily="2" charset="0"/>
              </a:rPr>
              <a:t>Better for non-SQL users</a:t>
            </a:r>
          </a:p>
          <a:p>
            <a:pPr lvl="1">
              <a:lnSpc>
                <a:spcPct val="100000"/>
              </a:lnSpc>
              <a:spcBef>
                <a:spcPts val="0"/>
              </a:spcBef>
            </a:pPr>
            <a:r>
              <a:rPr lang="en-US" sz="1800" dirty="0">
                <a:latin typeface="Avenir Book" panose="02000503020000020003" pitchFamily="2" charset="0"/>
              </a:rPr>
              <a:t>Less processing</a:t>
            </a:r>
          </a:p>
          <a:p>
            <a:pPr lvl="1">
              <a:lnSpc>
                <a:spcPct val="100000"/>
              </a:lnSpc>
              <a:spcBef>
                <a:spcPts val="0"/>
              </a:spcBef>
            </a:pPr>
            <a:r>
              <a:rPr lang="en-US" sz="1800" dirty="0">
                <a:latin typeface="Avenir Book" panose="02000503020000020003" pitchFamily="2" charset="0"/>
              </a:rPr>
              <a:t>Better for limiting data to what you need</a:t>
            </a:r>
          </a:p>
          <a:p>
            <a:pPr marL="971550" lvl="2" indent="-514350">
              <a:lnSpc>
                <a:spcPct val="120000"/>
              </a:lnSpc>
              <a:spcBef>
                <a:spcPts val="0"/>
              </a:spcBef>
            </a:pPr>
            <a:endParaRPr lang="en-US" dirty="0">
              <a:latin typeface="Avenir Book" panose="02000503020000020003" pitchFamily="2" charset="0"/>
            </a:endParaRPr>
          </a:p>
          <a:p>
            <a:pPr marL="457200" lvl="2" indent="0">
              <a:lnSpc>
                <a:spcPct val="120000"/>
              </a:lnSpc>
              <a:spcBef>
                <a:spcPts val="0"/>
              </a:spcBef>
              <a:buNone/>
            </a:pPr>
            <a:endParaRPr lang="en-US" dirty="0">
              <a:latin typeface="Avenir Book" panose="02000503020000020003" pitchFamily="2" charset="0"/>
            </a:endParaRPr>
          </a:p>
        </p:txBody>
      </p:sp>
      <p:sp>
        <p:nvSpPr>
          <p:cNvPr id="4" name="Text Placeholder 3">
            <a:extLst>
              <a:ext uri="{FF2B5EF4-FFF2-40B4-BE49-F238E27FC236}">
                <a16:creationId xmlns:a16="http://schemas.microsoft.com/office/drawing/2014/main" id="{8B67F723-A1E3-6E93-B272-5F191AADB712}"/>
              </a:ext>
            </a:extLst>
          </p:cNvPr>
          <p:cNvSpPr>
            <a:spLocks noGrp="1"/>
          </p:cNvSpPr>
          <p:nvPr>
            <p:ph type="body" sz="quarter" idx="15"/>
          </p:nvPr>
        </p:nvSpPr>
        <p:spPr>
          <a:xfrm>
            <a:off x="299836" y="3683650"/>
            <a:ext cx="3030943" cy="1342047"/>
          </a:xfrm>
        </p:spPr>
        <p:txBody>
          <a:bodyPr/>
          <a:lstStyle/>
          <a:p>
            <a:r>
              <a:rPr lang="en-US" b="1" i="0" dirty="0"/>
              <a:t>Accessing Data</a:t>
            </a:r>
            <a:endParaRPr lang="en-US" i="0" dirty="0">
              <a:solidFill>
                <a:schemeClr val="bg1"/>
              </a:solidFill>
            </a:endParaRPr>
          </a:p>
          <a:p>
            <a:r>
              <a:rPr lang="en-US" dirty="0">
                <a:solidFill>
                  <a:schemeClr val="bg1"/>
                </a:solidFill>
              </a:rPr>
              <a:t>Two options</a:t>
            </a:r>
            <a:endParaRPr lang="en-US" dirty="0"/>
          </a:p>
        </p:txBody>
      </p:sp>
      <p:sp>
        <p:nvSpPr>
          <p:cNvPr id="6" name="Slide Number Placeholder 5">
            <a:extLst>
              <a:ext uri="{FF2B5EF4-FFF2-40B4-BE49-F238E27FC236}">
                <a16:creationId xmlns:a16="http://schemas.microsoft.com/office/drawing/2014/main" id="{8A6E966B-44CE-EFF2-2727-686AC7BD2930}"/>
              </a:ext>
            </a:extLst>
          </p:cNvPr>
          <p:cNvSpPr>
            <a:spLocks noGrp="1"/>
          </p:cNvSpPr>
          <p:nvPr>
            <p:ph type="sldNum" sz="quarter" idx="18"/>
          </p:nvPr>
        </p:nvSpPr>
        <p:spPr/>
        <p:txBody>
          <a:bodyPr/>
          <a:lstStyle/>
          <a:p>
            <a:fld id="{548469FB-C78A-B94B-B04A-B5BC8C934F85}" type="slidenum">
              <a:rPr lang="en-US" smtClean="0"/>
              <a:t>9</a:t>
            </a:fld>
            <a:endParaRPr lang="en-US"/>
          </a:p>
        </p:txBody>
      </p:sp>
      <p:pic>
        <p:nvPicPr>
          <p:cNvPr id="5" name="Picture 4">
            <a:extLst>
              <a:ext uri="{FF2B5EF4-FFF2-40B4-BE49-F238E27FC236}">
                <a16:creationId xmlns:a16="http://schemas.microsoft.com/office/drawing/2014/main" id="{0935A675-8DBD-9DFD-B6C5-979DEEB9D92F}"/>
              </a:ext>
            </a:extLst>
          </p:cNvPr>
          <p:cNvPicPr>
            <a:picLocks noChangeAspect="1"/>
          </p:cNvPicPr>
          <p:nvPr/>
        </p:nvPicPr>
        <p:blipFill>
          <a:blip r:embed="rId3"/>
          <a:srcRect l="-331" t="26977"/>
          <a:stretch/>
        </p:blipFill>
        <p:spPr>
          <a:xfrm>
            <a:off x="5538400" y="3894778"/>
            <a:ext cx="4978844" cy="2396839"/>
          </a:xfrm>
          <a:prstGeom prst="rect">
            <a:avLst/>
          </a:prstGeom>
        </p:spPr>
      </p:pic>
      <p:sp>
        <p:nvSpPr>
          <p:cNvPr id="7" name="Text Placeholder 2">
            <a:extLst>
              <a:ext uri="{FF2B5EF4-FFF2-40B4-BE49-F238E27FC236}">
                <a16:creationId xmlns:a16="http://schemas.microsoft.com/office/drawing/2014/main" id="{DB7E0BE1-3D62-B148-0E48-F77F94E32CC3}"/>
              </a:ext>
            </a:extLst>
          </p:cNvPr>
          <p:cNvSpPr txBox="1">
            <a:spLocks/>
          </p:cNvSpPr>
          <p:nvPr/>
        </p:nvSpPr>
        <p:spPr>
          <a:xfrm>
            <a:off x="318440" y="1107709"/>
            <a:ext cx="3290797"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About the All of Us Research Program</a:t>
            </a:r>
          </a:p>
        </p:txBody>
      </p:sp>
      <p:sp>
        <p:nvSpPr>
          <p:cNvPr id="8" name="Text Placeholder 3">
            <a:extLst>
              <a:ext uri="{FF2B5EF4-FFF2-40B4-BE49-F238E27FC236}">
                <a16:creationId xmlns:a16="http://schemas.microsoft.com/office/drawing/2014/main" id="{AC63EFF3-566D-5494-AF4B-51D9F4D5A4C5}"/>
              </a:ext>
            </a:extLst>
          </p:cNvPr>
          <p:cNvSpPr txBox="1">
            <a:spLocks/>
          </p:cNvSpPr>
          <p:nvPr/>
        </p:nvSpPr>
        <p:spPr>
          <a:xfrm>
            <a:off x="318440" y="2914535"/>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Overview</a:t>
            </a:r>
          </a:p>
        </p:txBody>
      </p:sp>
      <p:sp>
        <p:nvSpPr>
          <p:cNvPr id="9" name="Oval 8">
            <a:extLst>
              <a:ext uri="{FF2B5EF4-FFF2-40B4-BE49-F238E27FC236}">
                <a16:creationId xmlns:a16="http://schemas.microsoft.com/office/drawing/2014/main" id="{284E9F5A-C9E2-5ACE-BA95-B0AC08F17B9D}"/>
              </a:ext>
            </a:extLst>
          </p:cNvPr>
          <p:cNvSpPr/>
          <p:nvPr/>
        </p:nvSpPr>
        <p:spPr>
          <a:xfrm>
            <a:off x="5008187" y="1883193"/>
            <a:ext cx="462988" cy="465778"/>
          </a:xfrm>
          <a:prstGeom prst="ellipse">
            <a:avLst/>
          </a:prstGeom>
          <a:noFill/>
          <a:ln>
            <a:solidFill>
              <a:srgbClr val="197C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1402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0730D-5F99-151C-8D41-B39EF585E022}"/>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FDC6CE0-8420-0C81-4A25-D7443EA32982}"/>
              </a:ext>
            </a:extLst>
          </p:cNvPr>
          <p:cNvSpPr>
            <a:spLocks noGrp="1"/>
          </p:cNvSpPr>
          <p:nvPr>
            <p:ph type="pic" sz="quarter" idx="12"/>
          </p:nvPr>
        </p:nvSpPr>
        <p:spPr>
          <a:xfrm>
            <a:off x="5072418" y="772990"/>
            <a:ext cx="6323463" cy="4044670"/>
          </a:xfrm>
        </p:spPr>
        <p:txBody>
          <a:bodyPr>
            <a:normAutofit/>
          </a:bodyPr>
          <a:lstStyle/>
          <a:p>
            <a:pPr>
              <a:lnSpc>
                <a:spcPct val="100000"/>
              </a:lnSpc>
              <a:spcBef>
                <a:spcPts val="0"/>
              </a:spcBef>
            </a:pPr>
            <a:r>
              <a:rPr lang="en-US" sz="2000" dirty="0">
                <a:latin typeface="Avenir Book" panose="02000503020000020003" pitchFamily="2" charset="0"/>
              </a:rPr>
              <a:t>Subset your study population from all participants based on specified criteria using AND/OR operators</a:t>
            </a:r>
          </a:p>
          <a:p>
            <a:pPr lvl="1">
              <a:lnSpc>
                <a:spcPct val="100000"/>
              </a:lnSpc>
              <a:spcBef>
                <a:spcPts val="0"/>
              </a:spcBef>
              <a:buFont typeface="Courier New" panose="02070309020205020404" pitchFamily="49" charset="0"/>
              <a:buChar char="o"/>
            </a:pPr>
            <a:r>
              <a:rPr lang="en-US" sz="1800" dirty="0">
                <a:latin typeface="Avenir Book" panose="02000503020000020003" pitchFamily="2" charset="0"/>
              </a:rPr>
              <a:t>Demographics, conditions, measurements, medications, procedures, and surveys</a:t>
            </a:r>
          </a:p>
          <a:p>
            <a:pPr lvl="1">
              <a:lnSpc>
                <a:spcPct val="100000"/>
              </a:lnSpc>
              <a:spcBef>
                <a:spcPts val="0"/>
              </a:spcBef>
              <a:buFont typeface="Courier New" panose="02070309020205020404" pitchFamily="49" charset="0"/>
              <a:buChar char="o"/>
            </a:pPr>
            <a:endParaRPr lang="en-US" sz="1800"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Easily select inclusion and exclusion criteria</a:t>
            </a:r>
            <a:br>
              <a:rPr lang="en-US" sz="2000" dirty="0">
                <a:latin typeface="Avenir Book" panose="02000503020000020003" pitchFamily="2" charset="0"/>
              </a:rPr>
            </a:br>
            <a:endParaRPr lang="en-US" sz="2000"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Add temporal events </a:t>
            </a:r>
          </a:p>
          <a:p>
            <a:pPr lvl="1">
              <a:lnSpc>
                <a:spcPct val="100000"/>
              </a:lnSpc>
              <a:spcBef>
                <a:spcPts val="0"/>
              </a:spcBef>
              <a:buFont typeface="Courier New" panose="02070309020205020404" pitchFamily="49" charset="0"/>
              <a:buChar char="o"/>
            </a:pPr>
            <a:r>
              <a:rPr lang="en-US" sz="1800" dirty="0">
                <a:latin typeface="Avenir Book" panose="02000503020000020003" pitchFamily="2" charset="0"/>
              </a:rPr>
              <a:t>Illness occurs N days before medication was prescribed</a:t>
            </a:r>
          </a:p>
          <a:p>
            <a:pPr marL="457200" lvl="2" indent="0">
              <a:lnSpc>
                <a:spcPct val="120000"/>
              </a:lnSpc>
              <a:spcBef>
                <a:spcPts val="0"/>
              </a:spcBef>
              <a:buNone/>
            </a:pPr>
            <a:endParaRPr lang="en-US" sz="2400" dirty="0">
              <a:latin typeface="Avenir Book" panose="02000503020000020003" pitchFamily="2" charset="0"/>
            </a:endParaRPr>
          </a:p>
          <a:p>
            <a:pPr marL="457200" lvl="2" indent="0">
              <a:lnSpc>
                <a:spcPct val="120000"/>
              </a:lnSpc>
              <a:spcBef>
                <a:spcPts val="0"/>
              </a:spcBef>
              <a:buNone/>
            </a:pPr>
            <a:endParaRPr lang="en-US" sz="2400" dirty="0">
              <a:latin typeface="Avenir Book" panose="02000503020000020003" pitchFamily="2" charset="0"/>
            </a:endParaRPr>
          </a:p>
        </p:txBody>
      </p:sp>
      <p:sp>
        <p:nvSpPr>
          <p:cNvPr id="4" name="Text Placeholder 3">
            <a:extLst>
              <a:ext uri="{FF2B5EF4-FFF2-40B4-BE49-F238E27FC236}">
                <a16:creationId xmlns:a16="http://schemas.microsoft.com/office/drawing/2014/main" id="{C2852A16-863C-741B-8467-E0F4FBF33E49}"/>
              </a:ext>
            </a:extLst>
          </p:cNvPr>
          <p:cNvSpPr>
            <a:spLocks noGrp="1"/>
          </p:cNvSpPr>
          <p:nvPr>
            <p:ph type="body" sz="quarter" idx="15"/>
          </p:nvPr>
        </p:nvSpPr>
        <p:spPr>
          <a:xfrm>
            <a:off x="568656" y="3330054"/>
            <a:ext cx="2760849" cy="270772"/>
          </a:xfrm>
        </p:spPr>
        <p:txBody>
          <a:bodyPr/>
          <a:lstStyle/>
          <a:p>
            <a:r>
              <a:rPr lang="en-US" dirty="0">
                <a:solidFill>
                  <a:schemeClr val="bg1"/>
                </a:solidFill>
              </a:rPr>
              <a:t>Cohort builder</a:t>
            </a:r>
            <a:endParaRPr lang="en-US" dirty="0"/>
          </a:p>
        </p:txBody>
      </p:sp>
      <p:sp>
        <p:nvSpPr>
          <p:cNvPr id="6" name="Slide Number Placeholder 5">
            <a:extLst>
              <a:ext uri="{FF2B5EF4-FFF2-40B4-BE49-F238E27FC236}">
                <a16:creationId xmlns:a16="http://schemas.microsoft.com/office/drawing/2014/main" id="{C3AF76C4-8D97-CB27-9429-0D538717198E}"/>
              </a:ext>
            </a:extLst>
          </p:cNvPr>
          <p:cNvSpPr>
            <a:spLocks noGrp="1"/>
          </p:cNvSpPr>
          <p:nvPr>
            <p:ph type="sldNum" sz="quarter" idx="18"/>
          </p:nvPr>
        </p:nvSpPr>
        <p:spPr/>
        <p:txBody>
          <a:bodyPr/>
          <a:lstStyle/>
          <a:p>
            <a:fld id="{548469FB-C78A-B94B-B04A-B5BC8C934F85}" type="slidenum">
              <a:rPr lang="en-US" smtClean="0"/>
              <a:t>10</a:t>
            </a:fld>
            <a:endParaRPr lang="en-US"/>
          </a:p>
        </p:txBody>
      </p:sp>
      <p:sp>
        <p:nvSpPr>
          <p:cNvPr id="7" name="TextBox 6">
            <a:extLst>
              <a:ext uri="{FF2B5EF4-FFF2-40B4-BE49-F238E27FC236}">
                <a16:creationId xmlns:a16="http://schemas.microsoft.com/office/drawing/2014/main" id="{20166998-8E29-B59E-0AC6-67C25E4B7748}"/>
              </a:ext>
            </a:extLst>
          </p:cNvPr>
          <p:cNvSpPr txBox="1"/>
          <p:nvPr/>
        </p:nvSpPr>
        <p:spPr>
          <a:xfrm>
            <a:off x="5181600" y="4141738"/>
            <a:ext cx="4787900" cy="2031325"/>
          </a:xfrm>
          <a:prstGeom prst="rect">
            <a:avLst/>
          </a:prstGeom>
          <a:noFill/>
        </p:spPr>
        <p:txBody>
          <a:bodyPr wrap="square" rtlCol="0">
            <a:spAutoFit/>
          </a:bodyPr>
          <a:lstStyle/>
          <a:p>
            <a:r>
              <a:rPr lang="en-US" sz="1800" dirty="0">
                <a:latin typeface="Avenir Book" panose="02000503020000020003" pitchFamily="2" charset="0"/>
              </a:rPr>
              <a:t>Example criteria:</a:t>
            </a:r>
          </a:p>
          <a:p>
            <a:pPr marL="285750" indent="-285750">
              <a:buFont typeface="Arial" panose="020B0604020202020204" pitchFamily="34" charset="0"/>
              <a:buChar char="•"/>
            </a:pPr>
            <a:r>
              <a:rPr lang="en-US" u="sng" dirty="0">
                <a:latin typeface="Avenir Book" panose="02000503020000020003" pitchFamily="2" charset="0"/>
              </a:rPr>
              <a:t>Race</a:t>
            </a:r>
            <a:r>
              <a:rPr lang="en-US" dirty="0">
                <a:latin typeface="Avenir Book" panose="02000503020000020003" pitchFamily="2" charset="0"/>
              </a:rPr>
              <a:t> -&gt; </a:t>
            </a:r>
            <a:r>
              <a:rPr lang="en-US" b="1" dirty="0">
                <a:latin typeface="Avenir Book" panose="02000503020000020003" pitchFamily="2" charset="0"/>
              </a:rPr>
              <a:t>Asian, Black, White </a:t>
            </a:r>
          </a:p>
          <a:p>
            <a:pPr marL="285750" indent="-285750">
              <a:buFont typeface="Arial" panose="020B0604020202020204" pitchFamily="34" charset="0"/>
              <a:buChar char="•"/>
            </a:pPr>
            <a:r>
              <a:rPr lang="en-US" u="sng" dirty="0">
                <a:latin typeface="Avenir Book" panose="02000503020000020003" pitchFamily="2" charset="0"/>
              </a:rPr>
              <a:t>Sex</a:t>
            </a:r>
            <a:r>
              <a:rPr lang="en-US" b="1" dirty="0">
                <a:latin typeface="Avenir Book" panose="02000503020000020003" pitchFamily="2" charset="0"/>
              </a:rPr>
              <a:t> -&gt; Woman</a:t>
            </a:r>
          </a:p>
          <a:p>
            <a:pPr marL="285750" indent="-285750">
              <a:buFont typeface="Arial" panose="020B0604020202020204" pitchFamily="34" charset="0"/>
              <a:buChar char="•"/>
            </a:pPr>
            <a:r>
              <a:rPr lang="en-US" sz="1800" u="sng" dirty="0">
                <a:latin typeface="Avenir Book" panose="02000503020000020003" pitchFamily="2" charset="0"/>
              </a:rPr>
              <a:t>Age</a:t>
            </a:r>
            <a:r>
              <a:rPr lang="en-US" sz="1800" b="1" dirty="0">
                <a:latin typeface="Avenir Book" panose="02000503020000020003" pitchFamily="2" charset="0"/>
              </a:rPr>
              <a:t> -&gt; 65</a:t>
            </a:r>
            <a:r>
              <a:rPr lang="en-US" sz="1800" dirty="0">
                <a:latin typeface="Avenir Book" panose="02000503020000020003" pitchFamily="2" charset="0"/>
              </a:rPr>
              <a:t> </a:t>
            </a:r>
            <a:r>
              <a:rPr lang="en-US" sz="1800" b="1" dirty="0">
                <a:latin typeface="Avenir Book" panose="02000503020000020003" pitchFamily="2" charset="0"/>
              </a:rPr>
              <a:t>or older</a:t>
            </a:r>
            <a:endParaRPr lang="en-US" b="1" dirty="0">
              <a:latin typeface="Avenir Book" panose="02000503020000020003" pitchFamily="2" charset="0"/>
            </a:endParaRPr>
          </a:p>
          <a:p>
            <a:pPr marL="285750" indent="-285750">
              <a:buFont typeface="Arial" panose="020B0604020202020204" pitchFamily="34" charset="0"/>
              <a:buChar char="•"/>
            </a:pPr>
            <a:r>
              <a:rPr lang="en-US" sz="1800" u="sng" dirty="0">
                <a:latin typeface="Avenir Book" panose="02000503020000020003" pitchFamily="2" charset="0"/>
              </a:rPr>
              <a:t>Condition</a:t>
            </a:r>
            <a:r>
              <a:rPr lang="en-US" sz="1800" dirty="0">
                <a:latin typeface="Avenir Book" panose="02000503020000020003" pitchFamily="2" charset="0"/>
              </a:rPr>
              <a:t> - Diagnosed with </a:t>
            </a:r>
            <a:r>
              <a:rPr lang="en-US" sz="1800" b="1" dirty="0">
                <a:latin typeface="Avenir Book" panose="02000503020000020003" pitchFamily="2" charset="0"/>
              </a:rPr>
              <a:t>breast cancer </a:t>
            </a:r>
          </a:p>
          <a:p>
            <a:pPr marL="285750" indent="-285750">
              <a:buFont typeface="Arial" panose="020B0604020202020204" pitchFamily="34" charset="0"/>
              <a:buChar char="•"/>
            </a:pPr>
            <a:r>
              <a:rPr lang="en-US" sz="1800" u="sng" dirty="0">
                <a:latin typeface="Avenir Book" panose="02000503020000020003" pitchFamily="2" charset="0"/>
              </a:rPr>
              <a:t>Medication</a:t>
            </a:r>
            <a:r>
              <a:rPr lang="en-US" sz="1800" dirty="0">
                <a:latin typeface="Avenir Book" panose="02000503020000020003" pitchFamily="2" charset="0"/>
              </a:rPr>
              <a:t> -Taking </a:t>
            </a:r>
            <a:r>
              <a:rPr lang="en-US" sz="1800" b="1" dirty="0">
                <a:latin typeface="Avenir Book" panose="02000503020000020003" pitchFamily="2" charset="0"/>
              </a:rPr>
              <a:t>tamoxifen</a:t>
            </a:r>
          </a:p>
          <a:p>
            <a:endParaRPr lang="en-US" dirty="0">
              <a:latin typeface="Avenir Book" panose="02000503020000020003" pitchFamily="2" charset="0"/>
            </a:endParaRPr>
          </a:p>
        </p:txBody>
      </p:sp>
      <p:pic>
        <p:nvPicPr>
          <p:cNvPr id="5" name="Picture 4">
            <a:extLst>
              <a:ext uri="{FF2B5EF4-FFF2-40B4-BE49-F238E27FC236}">
                <a16:creationId xmlns:a16="http://schemas.microsoft.com/office/drawing/2014/main" id="{7F8720A1-3574-226E-B734-6860BDE79275}"/>
              </a:ext>
            </a:extLst>
          </p:cNvPr>
          <p:cNvPicPr>
            <a:picLocks noChangeAspect="1"/>
          </p:cNvPicPr>
          <p:nvPr/>
        </p:nvPicPr>
        <p:blipFill>
          <a:blip r:embed="rId3"/>
          <a:stretch>
            <a:fillRect/>
          </a:stretch>
        </p:blipFill>
        <p:spPr>
          <a:xfrm>
            <a:off x="609600" y="3890981"/>
            <a:ext cx="2870579" cy="2655112"/>
          </a:xfrm>
          <a:prstGeom prst="rect">
            <a:avLst/>
          </a:prstGeom>
        </p:spPr>
      </p:pic>
      <p:sp>
        <p:nvSpPr>
          <p:cNvPr id="10" name="Text Placeholder 2">
            <a:extLst>
              <a:ext uri="{FF2B5EF4-FFF2-40B4-BE49-F238E27FC236}">
                <a16:creationId xmlns:a16="http://schemas.microsoft.com/office/drawing/2014/main" id="{67E2200D-F983-A369-C1D3-DB6D7220E03E}"/>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YaleNew" panose="02000602050000020003" pitchFamily="2" charset="77"/>
              </a:rPr>
              <a:t>Accessing </a:t>
            </a:r>
          </a:p>
          <a:p>
            <a:r>
              <a:rPr lang="en-US">
                <a:latin typeface="YaleNew" panose="02000602050000020003" pitchFamily="2" charset="77"/>
              </a:rPr>
              <a:t>Data</a:t>
            </a:r>
            <a:endParaRPr lang="en-US" dirty="0">
              <a:latin typeface="YaleNew" panose="02000602050000020003" pitchFamily="2" charset="77"/>
            </a:endParaRPr>
          </a:p>
        </p:txBody>
      </p:sp>
    </p:spTree>
    <p:extLst>
      <p:ext uri="{BB962C8B-B14F-4D97-AF65-F5344CB8AC3E}">
        <p14:creationId xmlns:p14="http://schemas.microsoft.com/office/powerpoint/2010/main" val="1560389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4AB19-6E99-41F9-D9B4-7950A594430A}"/>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ABF16E6-87D5-F7C0-25AE-6AB4544D211E}"/>
              </a:ext>
            </a:extLst>
          </p:cNvPr>
          <p:cNvSpPr>
            <a:spLocks noGrp="1"/>
          </p:cNvSpPr>
          <p:nvPr>
            <p:ph type="pic" sz="quarter" idx="12"/>
          </p:nvPr>
        </p:nvSpPr>
        <p:spPr>
          <a:xfrm>
            <a:off x="5181601" y="491318"/>
            <a:ext cx="6459940" cy="6289727"/>
          </a:xfrm>
        </p:spPr>
        <p:txBody>
          <a:bodyPr>
            <a:normAutofit/>
          </a:bodyPr>
          <a:lstStyle/>
          <a:p>
            <a:pPr>
              <a:lnSpc>
                <a:spcPct val="120000"/>
              </a:lnSpc>
              <a:spcBef>
                <a:spcPts val="0"/>
              </a:spcBef>
            </a:pPr>
            <a:r>
              <a:rPr lang="en" sz="2000" dirty="0">
                <a:latin typeface="Avenir Book" panose="02000503020000020003" pitchFamily="2" charset="0"/>
              </a:rPr>
              <a:t>Variables to include in your analysis</a:t>
            </a:r>
          </a:p>
          <a:p>
            <a:pPr algn="l">
              <a:lnSpc>
                <a:spcPct val="120000"/>
              </a:lnSpc>
              <a:spcBef>
                <a:spcPts val="0"/>
              </a:spcBef>
            </a:pPr>
            <a:r>
              <a:rPr lang="en-US" sz="2000" dirty="0">
                <a:latin typeface="Avenir Book" panose="02000503020000020003" pitchFamily="2" charset="0"/>
              </a:rPr>
              <a:t>Describe information from medical record </a:t>
            </a:r>
          </a:p>
          <a:p>
            <a:pPr lvl="1">
              <a:lnSpc>
                <a:spcPct val="120000"/>
              </a:lnSpc>
              <a:spcBef>
                <a:spcPts val="0"/>
              </a:spcBef>
              <a:buFont typeface="Courier New" panose="02070309020205020404" pitchFamily="49" charset="0"/>
              <a:buChar char="o"/>
            </a:pPr>
            <a:r>
              <a:rPr lang="en-US" sz="1800" dirty="0">
                <a:latin typeface="Avenir Book" panose="02000503020000020003" pitchFamily="2" charset="0"/>
              </a:rPr>
              <a:t>Demographics, conditions, prescription, physical measurements, etc.</a:t>
            </a:r>
          </a:p>
          <a:p>
            <a:pPr algn="l">
              <a:lnSpc>
                <a:spcPct val="120000"/>
              </a:lnSpc>
              <a:spcBef>
                <a:spcPts val="0"/>
              </a:spcBef>
            </a:pPr>
            <a:r>
              <a:rPr lang="en-US" sz="2000" dirty="0">
                <a:latin typeface="Avenir Book" panose="02000503020000020003" pitchFamily="2" charset="0"/>
              </a:rPr>
              <a:t>Organized into </a:t>
            </a:r>
            <a:r>
              <a:rPr lang="en-US" sz="2000" i="1" dirty="0">
                <a:latin typeface="Avenir Book" panose="02000503020000020003" pitchFamily="2" charset="0"/>
              </a:rPr>
              <a:t>concept domains </a:t>
            </a:r>
            <a:r>
              <a:rPr lang="en-US" sz="2000" dirty="0">
                <a:latin typeface="Avenir Book" panose="02000503020000020003" pitchFamily="2" charset="0"/>
              </a:rPr>
              <a:t>which are the subject areas for each concept</a:t>
            </a:r>
          </a:p>
          <a:p>
            <a:pPr>
              <a:lnSpc>
                <a:spcPct val="120000"/>
              </a:lnSpc>
              <a:spcBef>
                <a:spcPts val="0"/>
              </a:spcBef>
            </a:pPr>
            <a:endParaRPr lang="en-US" dirty="0">
              <a:latin typeface="Avenir Book" panose="02000503020000020003" pitchFamily="2" charset="0"/>
            </a:endParaRPr>
          </a:p>
          <a:p>
            <a:pPr marL="457200" lvl="2" indent="0">
              <a:lnSpc>
                <a:spcPct val="120000"/>
              </a:lnSpc>
              <a:spcBef>
                <a:spcPts val="0"/>
              </a:spcBef>
              <a:buNone/>
            </a:pPr>
            <a:endParaRPr lang="en-US" sz="2800" dirty="0">
              <a:latin typeface="Avenir Book" panose="02000503020000020003" pitchFamily="2" charset="0"/>
            </a:endParaRPr>
          </a:p>
        </p:txBody>
      </p:sp>
      <p:sp>
        <p:nvSpPr>
          <p:cNvPr id="6" name="Slide Number Placeholder 5">
            <a:extLst>
              <a:ext uri="{FF2B5EF4-FFF2-40B4-BE49-F238E27FC236}">
                <a16:creationId xmlns:a16="http://schemas.microsoft.com/office/drawing/2014/main" id="{186125D9-FA8E-68B3-4CFB-A5FEFC3435DB}"/>
              </a:ext>
            </a:extLst>
          </p:cNvPr>
          <p:cNvSpPr>
            <a:spLocks noGrp="1"/>
          </p:cNvSpPr>
          <p:nvPr>
            <p:ph type="sldNum" sz="quarter" idx="18"/>
          </p:nvPr>
        </p:nvSpPr>
        <p:spPr/>
        <p:txBody>
          <a:bodyPr/>
          <a:lstStyle/>
          <a:p>
            <a:fld id="{548469FB-C78A-B94B-B04A-B5BC8C934F85}" type="slidenum">
              <a:rPr lang="en-US" smtClean="0"/>
              <a:t>11</a:t>
            </a:fld>
            <a:endParaRPr lang="en-US"/>
          </a:p>
        </p:txBody>
      </p:sp>
      <p:pic>
        <p:nvPicPr>
          <p:cNvPr id="5" name="Picture 4">
            <a:extLst>
              <a:ext uri="{FF2B5EF4-FFF2-40B4-BE49-F238E27FC236}">
                <a16:creationId xmlns:a16="http://schemas.microsoft.com/office/drawing/2014/main" id="{C5321EC1-A8C3-B238-9449-99A562BF2878}"/>
              </a:ext>
            </a:extLst>
          </p:cNvPr>
          <p:cNvPicPr>
            <a:picLocks noChangeAspect="1"/>
          </p:cNvPicPr>
          <p:nvPr/>
        </p:nvPicPr>
        <p:blipFill>
          <a:blip r:embed="rId3"/>
          <a:srcRect r="2752"/>
          <a:stretch/>
        </p:blipFill>
        <p:spPr>
          <a:xfrm>
            <a:off x="609600" y="4149569"/>
            <a:ext cx="2874409" cy="2042349"/>
          </a:xfrm>
          <a:prstGeom prst="rect">
            <a:avLst/>
          </a:prstGeom>
        </p:spPr>
      </p:pic>
      <p:graphicFrame>
        <p:nvGraphicFramePr>
          <p:cNvPr id="12" name="Table 11">
            <a:extLst>
              <a:ext uri="{FF2B5EF4-FFF2-40B4-BE49-F238E27FC236}">
                <a16:creationId xmlns:a16="http://schemas.microsoft.com/office/drawing/2014/main" id="{1E9DAF62-6E05-51BF-000C-91874F0B6251}"/>
              </a:ext>
            </a:extLst>
          </p:cNvPr>
          <p:cNvGraphicFramePr>
            <a:graphicFrameLocks noGrp="1"/>
          </p:cNvGraphicFramePr>
          <p:nvPr/>
        </p:nvGraphicFramePr>
        <p:xfrm>
          <a:off x="5181600" y="2920621"/>
          <a:ext cx="6428095" cy="3470009"/>
        </p:xfrm>
        <a:graphic>
          <a:graphicData uri="http://schemas.openxmlformats.org/drawingml/2006/table">
            <a:tbl>
              <a:tblPr/>
              <a:tblGrid>
                <a:gridCol w="1529842">
                  <a:extLst>
                    <a:ext uri="{9D8B030D-6E8A-4147-A177-3AD203B41FA5}">
                      <a16:colId xmlns:a16="http://schemas.microsoft.com/office/drawing/2014/main" val="2211983636"/>
                    </a:ext>
                  </a:extLst>
                </a:gridCol>
                <a:gridCol w="4898253">
                  <a:extLst>
                    <a:ext uri="{9D8B030D-6E8A-4147-A177-3AD203B41FA5}">
                      <a16:colId xmlns:a16="http://schemas.microsoft.com/office/drawing/2014/main" val="719298210"/>
                    </a:ext>
                  </a:extLst>
                </a:gridCol>
              </a:tblGrid>
              <a:tr h="275809">
                <a:tc>
                  <a:txBody>
                    <a:bodyPr/>
                    <a:lstStyle/>
                    <a:p>
                      <a:pPr algn="ctr" fontAlgn="b"/>
                      <a:r>
                        <a:rPr lang="en-US" sz="1400" b="1" i="0" u="none" strike="noStrike" dirty="0">
                          <a:solidFill>
                            <a:srgbClr val="000000"/>
                          </a:solidFill>
                          <a:effectLst/>
                          <a:latin typeface="Avenir Book" panose="02000503020000020003" pitchFamily="2" charset="0"/>
                        </a:rPr>
                        <a:t>Domain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1" i="0" u="none" strike="noStrike" dirty="0">
                          <a:solidFill>
                            <a:srgbClr val="000000"/>
                          </a:solidFill>
                          <a:effectLst/>
                          <a:latin typeface="Avenir Book" panose="02000503020000020003" pitchFamily="2" charset="0"/>
                        </a:rPr>
                        <a:t>Description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7741599"/>
                  </a:ext>
                </a:extLst>
              </a:tr>
              <a:tr h="275809">
                <a:tc>
                  <a:txBody>
                    <a:bodyPr/>
                    <a:lstStyle/>
                    <a:p>
                      <a:pPr algn="ctr" fontAlgn="b"/>
                      <a:r>
                        <a:rPr lang="en-US" sz="1400" b="0" i="0" u="sng" strike="noStrike" dirty="0">
                          <a:solidFill>
                            <a:srgbClr val="000000"/>
                          </a:solidFill>
                          <a:effectLst/>
                          <a:latin typeface="Avenir Book" panose="02000503020000020003" pitchFamily="2" charset="0"/>
                        </a:rPr>
                        <a:t>Conditions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Listed by ICD9 or ICD10 or SNOMED standard 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965196"/>
                  </a:ext>
                </a:extLst>
              </a:tr>
              <a:tr h="275809">
                <a:tc>
                  <a:txBody>
                    <a:bodyPr/>
                    <a:lstStyle/>
                    <a:p>
                      <a:pPr algn="ctr" fontAlgn="b"/>
                      <a:r>
                        <a:rPr lang="en-US" sz="1400" b="0" i="0" u="none" strike="noStrike" dirty="0">
                          <a:solidFill>
                            <a:srgbClr val="000000"/>
                          </a:solidFill>
                          <a:effectLst/>
                          <a:latin typeface="Avenir Book" panose="02000503020000020003" pitchFamily="2" charset="0"/>
                        </a:rPr>
                        <a:t>Procedures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Listed by ICD9, ICD10, CPT, or SNOMED standard 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533423810"/>
                  </a:ext>
                </a:extLst>
              </a:tr>
              <a:tr h="471477">
                <a:tc>
                  <a:txBody>
                    <a:bodyPr/>
                    <a:lstStyle/>
                    <a:p>
                      <a:pPr algn="ctr" fontAlgn="b"/>
                      <a:r>
                        <a:rPr lang="en-US" sz="1400" b="0" i="0" u="none" strike="noStrike" dirty="0">
                          <a:solidFill>
                            <a:srgbClr val="000000"/>
                          </a:solidFill>
                          <a:effectLst/>
                          <a:latin typeface="Avenir Book" panose="02000503020000020003" pitchFamily="2" charset="0"/>
                        </a:rPr>
                        <a:t>Drugs or Medications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Listed by ingredient and organized by therapeutic uses.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1311838"/>
                  </a:ext>
                </a:extLst>
              </a:tr>
              <a:tr h="539829">
                <a:tc>
                  <a:txBody>
                    <a:bodyPr/>
                    <a:lstStyle/>
                    <a:p>
                      <a:pPr algn="ctr" fontAlgn="b"/>
                      <a:r>
                        <a:rPr lang="en-US" sz="1400" b="1" i="0" u="none" strike="noStrike" dirty="0">
                          <a:solidFill>
                            <a:srgbClr val="000000"/>
                          </a:solidFill>
                          <a:effectLst/>
                          <a:latin typeface="Avenir Book" panose="02000503020000020003" pitchFamily="2" charset="0"/>
                        </a:rPr>
                        <a:t>Measurements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1" i="0" u="none" strike="noStrike" dirty="0">
                          <a:solidFill>
                            <a:srgbClr val="000000"/>
                          </a:solidFill>
                          <a:effectLst/>
                          <a:latin typeface="Avenir Book" panose="02000503020000020003" pitchFamily="2" charset="0"/>
                        </a:rPr>
                        <a:t>Laboratory tests and vital signs, organized in the LOINC code hierarchy.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729871641"/>
                  </a:ext>
                </a:extLst>
              </a:tr>
              <a:tr h="275809">
                <a:tc>
                  <a:txBody>
                    <a:bodyPr/>
                    <a:lstStyle/>
                    <a:p>
                      <a:pPr algn="ctr" fontAlgn="b"/>
                      <a:r>
                        <a:rPr lang="en-US" sz="1400" b="0" i="0" u="none" strike="noStrike" dirty="0">
                          <a:solidFill>
                            <a:srgbClr val="000000"/>
                          </a:solidFill>
                          <a:effectLst/>
                          <a:latin typeface="Avenir Book" panose="02000503020000020003" pitchFamily="2" charset="0"/>
                        </a:rPr>
                        <a:t>Visits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Type of facility where medical care was received (ED, OP, IP).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9946854"/>
                  </a:ext>
                </a:extLst>
              </a:tr>
              <a:tr h="539829">
                <a:tc>
                  <a:txBody>
                    <a:bodyPr/>
                    <a:lstStyle/>
                    <a:p>
                      <a:pPr algn="ctr" fontAlgn="b"/>
                      <a:r>
                        <a:rPr lang="en-US" sz="1400" b="0" i="0" u="none" strike="noStrike" dirty="0">
                          <a:solidFill>
                            <a:srgbClr val="000000"/>
                          </a:solidFill>
                          <a:effectLst/>
                          <a:latin typeface="Avenir Book" panose="02000503020000020003" pitchFamily="2" charset="0"/>
                        </a:rPr>
                        <a:t>Surveys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Questions and associated response options for participant-completed surveys.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296057304"/>
                  </a:ext>
                </a:extLst>
              </a:tr>
              <a:tr h="539829">
                <a:tc>
                  <a:txBody>
                    <a:bodyPr/>
                    <a:lstStyle/>
                    <a:p>
                      <a:pPr algn="ctr" fontAlgn="b"/>
                      <a:r>
                        <a:rPr lang="en-US" sz="1400" b="0" i="0" u="none" strike="noStrike" dirty="0">
                          <a:solidFill>
                            <a:srgbClr val="000000"/>
                          </a:solidFill>
                          <a:effectLst/>
                          <a:latin typeface="Avenir Book" panose="02000503020000020003" pitchFamily="2" charset="0"/>
                        </a:rPr>
                        <a:t>Physical Measurements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400" b="0" i="0" u="none" strike="noStrike" dirty="0">
                          <a:solidFill>
                            <a:srgbClr val="000000"/>
                          </a:solidFill>
                          <a:effectLst/>
                          <a:latin typeface="Avenir Book" panose="02000503020000020003" pitchFamily="2" charset="0"/>
                        </a:rPr>
                        <a:t>At time of participant enrollment: BP, HR, height, weight, BMI, pregnancy, etc.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3909881"/>
                  </a:ext>
                </a:extLst>
              </a:tr>
              <a:tr h="275809">
                <a:tc>
                  <a:txBody>
                    <a:bodyPr/>
                    <a:lstStyle/>
                    <a:p>
                      <a:pPr algn="ctr" fontAlgn="b"/>
                      <a:r>
                        <a:rPr lang="en-US" sz="1400" b="0" i="0" u="none" strike="noStrike" dirty="0">
                          <a:solidFill>
                            <a:srgbClr val="000000"/>
                          </a:solidFill>
                          <a:effectLst/>
                          <a:latin typeface="Avenir Book" panose="02000503020000020003" pitchFamily="2" charset="0"/>
                        </a:rPr>
                        <a:t>Demographics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b"/>
                      <a:r>
                        <a:rPr lang="en-US" sz="1400" b="0" i="0" u="none" strike="noStrike" dirty="0">
                          <a:solidFill>
                            <a:srgbClr val="000000"/>
                          </a:solidFill>
                          <a:effectLst/>
                          <a:latin typeface="Avenir Book" panose="02000503020000020003" pitchFamily="2" charset="0"/>
                        </a:rPr>
                        <a:t>Age, gender, race, ethnicity, and deceased status.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86995043"/>
                  </a:ext>
                </a:extLst>
              </a:tr>
            </a:tbl>
          </a:graphicData>
        </a:graphic>
      </p:graphicFrame>
      <p:sp>
        <p:nvSpPr>
          <p:cNvPr id="9" name="Text Placeholder 2">
            <a:extLst>
              <a:ext uri="{FF2B5EF4-FFF2-40B4-BE49-F238E27FC236}">
                <a16:creationId xmlns:a16="http://schemas.microsoft.com/office/drawing/2014/main" id="{E63B0490-89C9-2DEB-B409-E0985646EBD5}"/>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10" name="Text Placeholder 3">
            <a:extLst>
              <a:ext uri="{FF2B5EF4-FFF2-40B4-BE49-F238E27FC236}">
                <a16:creationId xmlns:a16="http://schemas.microsoft.com/office/drawing/2014/main" id="{E30B56C8-14AC-2B01-541D-5B3FF12C0C1D}"/>
              </a:ext>
            </a:extLst>
          </p:cNvPr>
          <p:cNvSpPr txBox="1">
            <a:spLocks/>
          </p:cNvSpPr>
          <p:nvPr/>
        </p:nvSpPr>
        <p:spPr>
          <a:xfrm>
            <a:off x="557872" y="3334126"/>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Concepts</a:t>
            </a:r>
          </a:p>
        </p:txBody>
      </p:sp>
    </p:spTree>
    <p:extLst>
      <p:ext uri="{BB962C8B-B14F-4D97-AF65-F5344CB8AC3E}">
        <p14:creationId xmlns:p14="http://schemas.microsoft.com/office/powerpoint/2010/main" val="3478440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A66CD-DB99-8391-A73F-46BE9A741747}"/>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9D54B34-40EB-D33B-5642-1A8862DD6D53}"/>
              </a:ext>
            </a:extLst>
          </p:cNvPr>
          <p:cNvSpPr>
            <a:spLocks noGrp="1"/>
          </p:cNvSpPr>
          <p:nvPr>
            <p:ph type="pic" sz="quarter" idx="12"/>
          </p:nvPr>
        </p:nvSpPr>
        <p:spPr>
          <a:xfrm>
            <a:off x="4796452" y="331334"/>
            <a:ext cx="6462952" cy="6627136"/>
          </a:xfrm>
        </p:spPr>
        <p:txBody>
          <a:bodyPr>
            <a:normAutofit/>
          </a:bodyPr>
          <a:lstStyle/>
          <a:p>
            <a:pPr algn="l"/>
            <a:r>
              <a:rPr lang="en-US" sz="1600" i="1" dirty="0">
                <a:latin typeface="Avenir Book" panose="02000503020000020003" pitchFamily="2" charset="0"/>
              </a:rPr>
              <a:t>Concept sets </a:t>
            </a:r>
            <a:r>
              <a:rPr lang="en-US" sz="1600" dirty="0">
                <a:latin typeface="Avenir Book" panose="02000503020000020003" pitchFamily="2" charset="0"/>
              </a:rPr>
              <a:t>are </a:t>
            </a:r>
            <a:r>
              <a:rPr lang="en-US" sz="1600" b="1" dirty="0">
                <a:latin typeface="Avenir Book" panose="02000503020000020003" pitchFamily="2" charset="0"/>
              </a:rPr>
              <a:t>one or more </a:t>
            </a:r>
            <a:r>
              <a:rPr lang="en-US" sz="1600" dirty="0">
                <a:latin typeface="Avenir Book" panose="02000503020000020003" pitchFamily="2" charset="0"/>
              </a:rPr>
              <a:t>concepts from a particular domain used to create the dataset for your analysis</a:t>
            </a:r>
          </a:p>
          <a:p>
            <a:pPr algn="l"/>
            <a:endParaRPr lang="en-US" sz="1600" dirty="0">
              <a:latin typeface="Georgia" panose="02040502050405020303" pitchFamily="18" charset="0"/>
            </a:endParaRPr>
          </a:p>
          <a:p>
            <a:pPr marL="0" indent="0" algn="l">
              <a:buNone/>
            </a:pPr>
            <a:endParaRPr lang="en-US" sz="1600" dirty="0">
              <a:latin typeface="Georgia" panose="02040502050405020303" pitchFamily="18" charset="0"/>
            </a:endParaRPr>
          </a:p>
          <a:p>
            <a:pPr algn="l"/>
            <a:endParaRPr lang="en-US" sz="1600" dirty="0">
              <a:latin typeface="Georgia" panose="02040502050405020303" pitchFamily="18" charset="0"/>
            </a:endParaRPr>
          </a:p>
          <a:p>
            <a:pPr algn="l"/>
            <a:endParaRPr lang="en-US" sz="1600" dirty="0">
              <a:latin typeface="Georgia" panose="02040502050405020303" pitchFamily="18" charset="0"/>
            </a:endParaRPr>
          </a:p>
          <a:p>
            <a:pPr algn="l"/>
            <a:endParaRPr lang="en-US" sz="1600" dirty="0">
              <a:latin typeface="Georgia" panose="02040502050405020303" pitchFamily="18" charset="0"/>
            </a:endParaRPr>
          </a:p>
          <a:p>
            <a:pPr marL="0" indent="0">
              <a:buNone/>
            </a:pPr>
            <a:endParaRPr lang="en-US" sz="1600" dirty="0">
              <a:latin typeface="Georgia" panose="02040502050405020303" pitchFamily="18" charset="0"/>
            </a:endParaRPr>
          </a:p>
          <a:p>
            <a:r>
              <a:rPr lang="en-US" sz="1600" dirty="0">
                <a:latin typeface="Avenir Book" panose="02000503020000020003" pitchFamily="2" charset="0"/>
              </a:rPr>
              <a:t>The values from each concept set becomes its own table under the domain name in the analysis phase</a:t>
            </a:r>
          </a:p>
          <a:p>
            <a:pPr lvl="1">
              <a:buFont typeface="Courier New" panose="02070309020205020404" pitchFamily="49" charset="0"/>
              <a:buChar char="o"/>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457200" lvl="1" indent="0">
              <a:buNone/>
            </a:pPr>
            <a:endParaRPr lang="en-US" sz="1600" dirty="0">
              <a:latin typeface="Georgia" panose="02040502050405020303" pitchFamily="18" charset="0"/>
            </a:endParaRPr>
          </a:p>
          <a:p>
            <a:pPr marL="0" indent="0">
              <a:buNone/>
            </a:pPr>
            <a:endParaRPr lang="en-US" sz="1600" dirty="0">
              <a:latin typeface="Avenir Book" panose="02000503020000020003" pitchFamily="2" charset="0"/>
            </a:endParaRPr>
          </a:p>
          <a:p>
            <a:endParaRPr lang="en-US" sz="1600" dirty="0">
              <a:latin typeface="Avenir Book" panose="02000503020000020003" pitchFamily="2" charset="0"/>
            </a:endParaRPr>
          </a:p>
          <a:p>
            <a:r>
              <a:rPr lang="en-US" sz="1600" dirty="0">
                <a:latin typeface="Avenir Book" panose="02000503020000020003" pitchFamily="2" charset="0"/>
              </a:rPr>
              <a:t>Remember to include the same concepts from your cohort builder</a:t>
            </a:r>
          </a:p>
          <a:p>
            <a:endParaRPr lang="en-US" sz="900" dirty="0">
              <a:latin typeface="Avenir Book" panose="02000503020000020003" pitchFamily="2" charset="0"/>
            </a:endParaRPr>
          </a:p>
          <a:p>
            <a:r>
              <a:rPr lang="en-US" sz="1600" dirty="0">
                <a:latin typeface="Avenir Book" panose="02000503020000020003" pitchFamily="2" charset="0"/>
              </a:rPr>
              <a:t>After choosing your concept sets, select which values (columns) you’d like to keep</a:t>
            </a:r>
          </a:p>
          <a:p>
            <a:pPr marL="0" indent="0" algn="l">
              <a:buNone/>
            </a:pPr>
            <a:endParaRPr lang="en-US" sz="3000" dirty="0"/>
          </a:p>
          <a:p>
            <a:pPr marL="457200" lvl="2" indent="0">
              <a:lnSpc>
                <a:spcPct val="120000"/>
              </a:lnSpc>
              <a:spcBef>
                <a:spcPts val="0"/>
              </a:spcBef>
              <a:buNone/>
            </a:pPr>
            <a:endParaRPr lang="en-US" sz="3000" dirty="0"/>
          </a:p>
          <a:p>
            <a:pPr marL="457200" lvl="2" indent="0">
              <a:lnSpc>
                <a:spcPct val="120000"/>
              </a:lnSpc>
              <a:spcBef>
                <a:spcPts val="0"/>
              </a:spcBef>
              <a:buNone/>
            </a:pPr>
            <a:endParaRPr lang="en-US" sz="3000" dirty="0"/>
          </a:p>
        </p:txBody>
      </p:sp>
      <p:sp>
        <p:nvSpPr>
          <p:cNvPr id="6" name="Slide Number Placeholder 5">
            <a:extLst>
              <a:ext uri="{FF2B5EF4-FFF2-40B4-BE49-F238E27FC236}">
                <a16:creationId xmlns:a16="http://schemas.microsoft.com/office/drawing/2014/main" id="{F2E149C8-3745-6A9A-C266-59B70E726151}"/>
              </a:ext>
            </a:extLst>
          </p:cNvPr>
          <p:cNvSpPr>
            <a:spLocks noGrp="1"/>
          </p:cNvSpPr>
          <p:nvPr>
            <p:ph type="sldNum" sz="quarter" idx="18"/>
          </p:nvPr>
        </p:nvSpPr>
        <p:spPr/>
        <p:txBody>
          <a:bodyPr/>
          <a:lstStyle/>
          <a:p>
            <a:fld id="{548469FB-C78A-B94B-B04A-B5BC8C934F85}" type="slidenum">
              <a:rPr lang="en-US" smtClean="0"/>
              <a:t>12</a:t>
            </a:fld>
            <a:endParaRPr lang="en-US"/>
          </a:p>
        </p:txBody>
      </p:sp>
      <p:graphicFrame>
        <p:nvGraphicFramePr>
          <p:cNvPr id="8" name="Diagram 7">
            <a:extLst>
              <a:ext uri="{FF2B5EF4-FFF2-40B4-BE49-F238E27FC236}">
                <a16:creationId xmlns:a16="http://schemas.microsoft.com/office/drawing/2014/main" id="{4B2B1051-DA87-BEEF-BB52-36720391EB0A}"/>
              </a:ext>
            </a:extLst>
          </p:cNvPr>
          <p:cNvGraphicFramePr/>
          <p:nvPr/>
        </p:nvGraphicFramePr>
        <p:xfrm>
          <a:off x="5731339" y="1038277"/>
          <a:ext cx="4022261" cy="1854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Picture 12">
            <a:extLst>
              <a:ext uri="{FF2B5EF4-FFF2-40B4-BE49-F238E27FC236}">
                <a16:creationId xmlns:a16="http://schemas.microsoft.com/office/drawing/2014/main" id="{FDB3ED86-8B91-DC04-5774-68BEC305BB19}"/>
              </a:ext>
            </a:extLst>
          </p:cNvPr>
          <p:cNvPicPr>
            <a:picLocks noChangeAspect="1"/>
          </p:cNvPicPr>
          <p:nvPr/>
        </p:nvPicPr>
        <p:blipFill>
          <a:blip r:embed="rId8"/>
          <a:srcRect r="2752"/>
          <a:stretch/>
        </p:blipFill>
        <p:spPr>
          <a:xfrm>
            <a:off x="609600" y="4149569"/>
            <a:ext cx="2874409" cy="2042349"/>
          </a:xfrm>
          <a:prstGeom prst="rect">
            <a:avLst/>
          </a:prstGeom>
        </p:spPr>
      </p:pic>
      <p:sp>
        <p:nvSpPr>
          <p:cNvPr id="14" name="Text Placeholder 2">
            <a:extLst>
              <a:ext uri="{FF2B5EF4-FFF2-40B4-BE49-F238E27FC236}">
                <a16:creationId xmlns:a16="http://schemas.microsoft.com/office/drawing/2014/main" id="{E6DE22CF-9C59-234C-ADB7-F2A5282C1636}"/>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15" name="Text Placeholder 3">
            <a:extLst>
              <a:ext uri="{FF2B5EF4-FFF2-40B4-BE49-F238E27FC236}">
                <a16:creationId xmlns:a16="http://schemas.microsoft.com/office/drawing/2014/main" id="{C8DAB06A-F7DF-4757-88BF-448AB21CF2BB}"/>
              </a:ext>
            </a:extLst>
          </p:cNvPr>
          <p:cNvSpPr txBox="1">
            <a:spLocks/>
          </p:cNvSpPr>
          <p:nvPr/>
        </p:nvSpPr>
        <p:spPr>
          <a:xfrm>
            <a:off x="557872" y="3334126"/>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Concept sets</a:t>
            </a:r>
          </a:p>
        </p:txBody>
      </p:sp>
      <p:pic>
        <p:nvPicPr>
          <p:cNvPr id="3" name="Picture 2">
            <a:extLst>
              <a:ext uri="{FF2B5EF4-FFF2-40B4-BE49-F238E27FC236}">
                <a16:creationId xmlns:a16="http://schemas.microsoft.com/office/drawing/2014/main" id="{5A7174CF-A600-B867-1BA9-AC757FED42CE}"/>
              </a:ext>
            </a:extLst>
          </p:cNvPr>
          <p:cNvPicPr>
            <a:picLocks noChangeAspect="1"/>
          </p:cNvPicPr>
          <p:nvPr/>
        </p:nvPicPr>
        <p:blipFill>
          <a:blip r:embed="rId9"/>
          <a:stretch>
            <a:fillRect/>
          </a:stretch>
        </p:blipFill>
        <p:spPr>
          <a:xfrm>
            <a:off x="4237892" y="3599894"/>
            <a:ext cx="7772400" cy="1612608"/>
          </a:xfrm>
          <a:prstGeom prst="rect">
            <a:avLst/>
          </a:prstGeom>
          <a:ln>
            <a:solidFill>
              <a:schemeClr val="tx1"/>
            </a:solidFill>
          </a:ln>
        </p:spPr>
      </p:pic>
    </p:spTree>
    <p:extLst>
      <p:ext uri="{BB962C8B-B14F-4D97-AF65-F5344CB8AC3E}">
        <p14:creationId xmlns:p14="http://schemas.microsoft.com/office/powerpoint/2010/main" val="2686957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609600" y="551286"/>
            <a:ext cx="11360800" cy="763600"/>
          </a:xfrm>
          <a:prstGeom prst="rect">
            <a:avLst/>
          </a:prstGeom>
        </p:spPr>
        <p:txBody>
          <a:bodyPr spcFirstLastPara="1" vert="horz" wrap="square" lIns="121900" tIns="121900" rIns="121900" bIns="121900" rtlCol="0" anchor="t" anchorCtr="0">
            <a:normAutofit fontScale="90000"/>
          </a:bodyPr>
          <a:lstStyle/>
          <a:p>
            <a:r>
              <a:rPr lang="en" dirty="0">
                <a:latin typeface="YaleNew" panose="02000602050000020003" pitchFamily="2" charset="77"/>
              </a:rPr>
              <a:t>Concept Hierarchy for </a:t>
            </a:r>
            <a:r>
              <a:rPr lang="en" u="sng" dirty="0">
                <a:latin typeface="YaleNew" panose="02000602050000020003" pitchFamily="2" charset="77"/>
              </a:rPr>
              <a:t>Condition</a:t>
            </a:r>
            <a:r>
              <a:rPr lang="en" dirty="0">
                <a:latin typeface="YaleNew" panose="02000602050000020003" pitchFamily="2" charset="77"/>
              </a:rPr>
              <a:t> “Atrial fibrillation”</a:t>
            </a:r>
            <a:endParaRPr dirty="0">
              <a:latin typeface="YaleNew" panose="02000602050000020003" pitchFamily="2" charset="77"/>
            </a:endParaRPr>
          </a:p>
        </p:txBody>
      </p:sp>
      <p:sp>
        <p:nvSpPr>
          <p:cNvPr id="148" name="Google Shape;148;p25"/>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
              <a:pPr/>
              <a:t>13</a:t>
            </a:fld>
            <a:endParaRPr/>
          </a:p>
        </p:txBody>
      </p:sp>
      <p:sp>
        <p:nvSpPr>
          <p:cNvPr id="3" name="TextBox 2">
            <a:extLst>
              <a:ext uri="{FF2B5EF4-FFF2-40B4-BE49-F238E27FC236}">
                <a16:creationId xmlns:a16="http://schemas.microsoft.com/office/drawing/2014/main" id="{9713AC52-7127-1CCC-2B80-26244336CB18}"/>
              </a:ext>
            </a:extLst>
          </p:cNvPr>
          <p:cNvSpPr txBox="1"/>
          <p:nvPr/>
        </p:nvSpPr>
        <p:spPr>
          <a:xfrm>
            <a:off x="9283700" y="1820106"/>
            <a:ext cx="2635211" cy="4247317"/>
          </a:xfrm>
          <a:prstGeom prst="rect">
            <a:avLst/>
          </a:prstGeom>
          <a:noFill/>
        </p:spPr>
        <p:txBody>
          <a:bodyPr wrap="square" rtlCol="0">
            <a:spAutoFit/>
          </a:bodyPr>
          <a:lstStyle/>
          <a:p>
            <a:pPr algn="ctr"/>
            <a:r>
              <a:rPr lang="en-US" dirty="0">
                <a:latin typeface="Avenir Book" panose="02000503020000020003" pitchFamily="2" charset="0"/>
              </a:rPr>
              <a:t>General: </a:t>
            </a:r>
          </a:p>
          <a:p>
            <a:pPr algn="ctr"/>
            <a:r>
              <a:rPr lang="en-US" dirty="0">
                <a:latin typeface="Avenir Book" panose="02000503020000020003" pitchFamily="2" charset="0"/>
              </a:rPr>
              <a:t>a larger pool of patients </a:t>
            </a: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endParaRPr lang="en-US" dirty="0">
              <a:latin typeface="Avenir Book" panose="02000503020000020003" pitchFamily="2" charset="0"/>
            </a:endParaRPr>
          </a:p>
          <a:p>
            <a:pPr algn="ctr"/>
            <a:r>
              <a:rPr lang="en-US" dirty="0">
                <a:latin typeface="Avenir Book" panose="02000503020000020003" pitchFamily="2" charset="0"/>
              </a:rPr>
              <a:t>Specific: </a:t>
            </a:r>
          </a:p>
          <a:p>
            <a:pPr algn="ctr"/>
            <a:r>
              <a:rPr lang="en-US" dirty="0">
                <a:latin typeface="Avenir Book" panose="02000503020000020003" pitchFamily="2" charset="0"/>
              </a:rPr>
              <a:t>smaller pool of patients</a:t>
            </a:r>
          </a:p>
        </p:txBody>
      </p:sp>
      <p:graphicFrame>
        <p:nvGraphicFramePr>
          <p:cNvPr id="2" name="Diagram 1">
            <a:extLst>
              <a:ext uri="{FF2B5EF4-FFF2-40B4-BE49-F238E27FC236}">
                <a16:creationId xmlns:a16="http://schemas.microsoft.com/office/drawing/2014/main" id="{5927722D-5070-80BA-E126-B8B125CFEB3C}"/>
              </a:ext>
            </a:extLst>
          </p:cNvPr>
          <p:cNvGraphicFramePr/>
          <p:nvPr/>
        </p:nvGraphicFramePr>
        <p:xfrm>
          <a:off x="1027446" y="12519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5" name="Straight Arrow Connector 4">
            <a:extLst>
              <a:ext uri="{FF2B5EF4-FFF2-40B4-BE49-F238E27FC236}">
                <a16:creationId xmlns:a16="http://schemas.microsoft.com/office/drawing/2014/main" id="{8F36E9F8-AA86-111D-FFCE-3BF26F5E783C}"/>
              </a:ext>
            </a:extLst>
          </p:cNvPr>
          <p:cNvCxnSpPr>
            <a:cxnSpLocks/>
          </p:cNvCxnSpPr>
          <p:nvPr/>
        </p:nvCxnSpPr>
        <p:spPr>
          <a:xfrm>
            <a:off x="10573555" y="2552131"/>
            <a:ext cx="0" cy="2612297"/>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5046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070482-EF80-8B1D-3DFB-33651C065695}"/>
              </a:ext>
            </a:extLst>
          </p:cNvPr>
          <p:cNvSpPr>
            <a:spLocks noGrp="1"/>
          </p:cNvSpPr>
          <p:nvPr>
            <p:ph type="body" sz="quarter" idx="11"/>
          </p:nvPr>
        </p:nvSpPr>
        <p:spPr/>
        <p:txBody>
          <a:body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4" name="Text Placeholder 3">
            <a:extLst>
              <a:ext uri="{FF2B5EF4-FFF2-40B4-BE49-F238E27FC236}">
                <a16:creationId xmlns:a16="http://schemas.microsoft.com/office/drawing/2014/main" id="{A996235D-2199-7FC7-EEB5-5A27AABD9165}"/>
              </a:ext>
            </a:extLst>
          </p:cNvPr>
          <p:cNvSpPr>
            <a:spLocks noGrp="1"/>
          </p:cNvSpPr>
          <p:nvPr>
            <p:ph type="body" sz="quarter" idx="15"/>
          </p:nvPr>
        </p:nvSpPr>
        <p:spPr>
          <a:xfrm>
            <a:off x="497984" y="3185056"/>
            <a:ext cx="3281536" cy="3171294"/>
          </a:xfrm>
        </p:spPr>
        <p:txBody>
          <a:bodyPr/>
          <a:lstStyle/>
          <a:p>
            <a:r>
              <a:rPr lang="en-US" dirty="0"/>
              <a:t>Observational Medical Outcomes Partnership (OMOP) Common Data Model (CDM) Concepts</a:t>
            </a:r>
          </a:p>
          <a:p>
            <a:endParaRPr lang="en-US" dirty="0"/>
          </a:p>
          <a:p>
            <a:r>
              <a:rPr lang="en-US" altLang="en-US" i="0" dirty="0"/>
              <a:t>Explore these standardized vocabularies through </a:t>
            </a:r>
            <a:r>
              <a:rPr lang="en-US" altLang="en-US" i="0" dirty="0">
                <a:hlinkClick r:id="rId3"/>
              </a:rPr>
              <a:t>Athena</a:t>
            </a:r>
            <a:endParaRPr lang="en-US" altLang="en-US" i="0" dirty="0"/>
          </a:p>
          <a:p>
            <a:endParaRPr lang="en-US" i="0" dirty="0"/>
          </a:p>
          <a:p>
            <a:r>
              <a:rPr lang="en-US" i="0" dirty="0"/>
              <a:t>*Denotes where standards concept IDs are derived from</a:t>
            </a:r>
          </a:p>
          <a:p>
            <a:endParaRPr lang="en-US" dirty="0"/>
          </a:p>
        </p:txBody>
      </p:sp>
      <p:sp>
        <p:nvSpPr>
          <p:cNvPr id="5" name="Slide Number Placeholder 4">
            <a:extLst>
              <a:ext uri="{FF2B5EF4-FFF2-40B4-BE49-F238E27FC236}">
                <a16:creationId xmlns:a16="http://schemas.microsoft.com/office/drawing/2014/main" id="{9B1B3D4A-F324-4D07-DF74-192C30190DC7}"/>
              </a:ext>
            </a:extLst>
          </p:cNvPr>
          <p:cNvSpPr>
            <a:spLocks noGrp="1"/>
          </p:cNvSpPr>
          <p:nvPr>
            <p:ph type="sldNum" sz="quarter" idx="18"/>
          </p:nvPr>
        </p:nvSpPr>
        <p:spPr/>
        <p:txBody>
          <a:bodyPr/>
          <a:lstStyle/>
          <a:p>
            <a:fld id="{548469FB-C78A-B94B-B04A-B5BC8C934F85}" type="slidenum">
              <a:rPr lang="en-US" smtClean="0"/>
              <a:t>14</a:t>
            </a:fld>
            <a:endParaRPr lang="en-US"/>
          </a:p>
        </p:txBody>
      </p:sp>
      <p:sp>
        <p:nvSpPr>
          <p:cNvPr id="2" name="TextBox 1">
            <a:extLst>
              <a:ext uri="{FF2B5EF4-FFF2-40B4-BE49-F238E27FC236}">
                <a16:creationId xmlns:a16="http://schemas.microsoft.com/office/drawing/2014/main" id="{7D4EC2B2-C52D-5E7C-74D3-2124856F4B22}"/>
              </a:ext>
            </a:extLst>
          </p:cNvPr>
          <p:cNvSpPr txBox="1"/>
          <p:nvPr/>
        </p:nvSpPr>
        <p:spPr>
          <a:xfrm>
            <a:off x="4753811" y="751344"/>
            <a:ext cx="6599989" cy="5355312"/>
          </a:xfrm>
          <a:prstGeom prst="rect">
            <a:avLst/>
          </a:prstGeom>
          <a:noFill/>
        </p:spPr>
        <p:txBody>
          <a:bodyPr wrap="square" rtlCol="0">
            <a:spAutoFit/>
          </a:bodyPr>
          <a:lstStyle/>
          <a:p>
            <a:r>
              <a:rPr lang="en-US" b="1" dirty="0">
                <a:latin typeface="Avenir Book" panose="02000503020000020003" pitchFamily="2" charset="0"/>
              </a:rPr>
              <a:t>OMOP CDM </a:t>
            </a:r>
            <a:r>
              <a:rPr lang="en-US" dirty="0">
                <a:latin typeface="Avenir Book" panose="02000503020000020003" pitchFamily="2" charset="0"/>
              </a:rPr>
              <a:t>is an open-source standard that enables consistent analysis across multiple healthcare databases by standardizing how medical data are organized and coded</a:t>
            </a:r>
          </a:p>
          <a:p>
            <a:endParaRPr lang="en-US" dirty="0">
              <a:latin typeface="Avenir Book" panose="02000503020000020003" pitchFamily="2" charset="0"/>
            </a:endParaRPr>
          </a:p>
          <a:p>
            <a:r>
              <a:rPr lang="en-US" b="1" dirty="0">
                <a:latin typeface="Avenir Book" panose="02000503020000020003" pitchFamily="2" charset="0"/>
              </a:rPr>
              <a:t>OMOP Concepts </a:t>
            </a:r>
            <a:r>
              <a:rPr lang="en-US" dirty="0">
                <a:latin typeface="Avenir Book" panose="02000503020000020003" pitchFamily="2" charset="0"/>
              </a:rPr>
              <a:t>are standardized units of clinical meaning, each with a unique numeric identifier (</a:t>
            </a:r>
            <a:r>
              <a:rPr lang="en-US" dirty="0" err="1">
                <a:latin typeface="Avenir Book" panose="02000503020000020003" pitchFamily="2" charset="0"/>
              </a:rPr>
              <a:t>concept_id</a:t>
            </a:r>
            <a:r>
              <a:rPr lang="en-US" dirty="0">
                <a:latin typeface="Avenir Book" panose="02000503020000020003" pitchFamily="2" charset="0"/>
              </a:rPr>
              <a:t>) used for the following domains:</a:t>
            </a:r>
          </a:p>
          <a:p>
            <a:pPr marL="742950" lvl="1" indent="-285750">
              <a:buFont typeface="Arial" panose="020B0604020202020204" pitchFamily="34" charset="0"/>
              <a:buChar char="•"/>
            </a:pPr>
            <a:r>
              <a:rPr lang="en-US" dirty="0">
                <a:latin typeface="Avenir Book" panose="02000503020000020003" pitchFamily="2" charset="0"/>
              </a:rPr>
              <a:t>Medications (Drugs) - *</a:t>
            </a:r>
            <a:r>
              <a:rPr lang="en-US" b="1" i="1" dirty="0" err="1">
                <a:latin typeface="Avenir Book" panose="02000503020000020003" pitchFamily="2" charset="0"/>
              </a:rPr>
              <a:t>RxNorm</a:t>
            </a:r>
            <a:endParaRPr lang="en-US" b="1" i="1"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Conditions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Procedures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Devices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Observations (including surveys) - </a:t>
            </a:r>
            <a:r>
              <a:rPr lang="en-US" b="1" i="1" dirty="0">
                <a:latin typeface="Avenir Book" panose="02000503020000020003" pitchFamily="2" charset="0"/>
              </a:rPr>
              <a:t>*SNOMED-CT</a:t>
            </a:r>
            <a:endParaRPr lang="en-US" dirty="0">
              <a:latin typeface="Avenir Book" panose="02000503020000020003" pitchFamily="2" charset="0"/>
            </a:endParaRPr>
          </a:p>
          <a:p>
            <a:pPr marL="742950" lvl="1" indent="-285750">
              <a:buFont typeface="Arial" panose="020B0604020202020204" pitchFamily="34" charset="0"/>
              <a:buChar char="•"/>
            </a:pPr>
            <a:r>
              <a:rPr lang="en-US" dirty="0">
                <a:latin typeface="Avenir Book" panose="02000503020000020003" pitchFamily="2" charset="0"/>
              </a:rPr>
              <a:t>Measurements (Labs) - </a:t>
            </a:r>
            <a:r>
              <a:rPr lang="en-US" b="1" i="1" dirty="0">
                <a:latin typeface="Avenir Book" panose="02000503020000020003" pitchFamily="2" charset="0"/>
              </a:rPr>
              <a:t>*LOINC</a:t>
            </a:r>
          </a:p>
          <a:p>
            <a:pPr lvl="0" eaLnBrk="0" fontAlgn="base" hangingPunct="0">
              <a:spcBef>
                <a:spcPct val="0"/>
              </a:spcBef>
              <a:spcAft>
                <a:spcPct val="0"/>
              </a:spcAft>
            </a:pPr>
            <a:endParaRPr lang="en-US" altLang="en-US" b="1" dirty="0">
              <a:solidFill>
                <a:srgbClr val="000000"/>
              </a:solidFill>
              <a:latin typeface="Avenir Book" panose="02000503020000020003" pitchFamily="2" charset="0"/>
            </a:endParaRPr>
          </a:p>
          <a:p>
            <a:pPr eaLnBrk="0" fontAlgn="base" hangingPunct="0">
              <a:spcBef>
                <a:spcPct val="0"/>
              </a:spcBef>
              <a:spcAft>
                <a:spcPct val="0"/>
              </a:spcAft>
            </a:pPr>
            <a:r>
              <a:rPr lang="en-US" altLang="en-US" dirty="0">
                <a:solidFill>
                  <a:srgbClr val="000000"/>
                </a:solidFill>
                <a:latin typeface="Avenir Book" panose="02000503020000020003" pitchFamily="2" charset="0"/>
              </a:rPr>
              <a:t>Forces all variations of the same clinical concept to map to one </a:t>
            </a:r>
            <a:r>
              <a:rPr lang="en-US" altLang="en-US" b="1" dirty="0">
                <a:solidFill>
                  <a:srgbClr val="000000"/>
                </a:solidFill>
                <a:latin typeface="Avenir Book" panose="02000503020000020003" pitchFamily="2" charset="0"/>
              </a:rPr>
              <a:t>Standard Concept IDs</a:t>
            </a:r>
            <a:r>
              <a:rPr lang="en-US" altLang="en-US" dirty="0">
                <a:solidFill>
                  <a:srgbClr val="000000"/>
                </a:solidFill>
                <a:latin typeface="Avenir Book" panose="02000503020000020003" pitchFamily="2" charset="0"/>
              </a:rPr>
              <a:t>  to use for all analytical work</a:t>
            </a:r>
          </a:p>
          <a:p>
            <a:pPr lvl="0" eaLnBrk="0" fontAlgn="base" hangingPunct="0">
              <a:spcBef>
                <a:spcPct val="0"/>
              </a:spcBef>
              <a:spcAft>
                <a:spcPct val="0"/>
              </a:spcAft>
            </a:pPr>
            <a:endParaRPr lang="en-US" altLang="en-US" dirty="0">
              <a:solidFill>
                <a:srgbClr val="000000"/>
              </a:solidFill>
              <a:latin typeface="Avenir Book" panose="02000503020000020003" pitchFamily="2" charset="0"/>
            </a:endParaRPr>
          </a:p>
          <a:p>
            <a:pPr lvl="0" eaLnBrk="0" fontAlgn="base" hangingPunct="0">
              <a:spcBef>
                <a:spcPct val="0"/>
              </a:spcBef>
              <a:spcAft>
                <a:spcPct val="0"/>
              </a:spcAft>
            </a:pPr>
            <a:r>
              <a:rPr lang="en-US" altLang="en-US" dirty="0">
                <a:solidFill>
                  <a:srgbClr val="000000"/>
                </a:solidFill>
                <a:latin typeface="Avenir Book" panose="02000503020000020003" pitchFamily="2" charset="0"/>
              </a:rPr>
              <a:t>Making research </a:t>
            </a:r>
            <a:r>
              <a:rPr lang="en-US" altLang="en-US" b="1" dirty="0">
                <a:solidFill>
                  <a:srgbClr val="000000"/>
                </a:solidFill>
                <a:latin typeface="Avenir Book" panose="02000503020000020003" pitchFamily="2" charset="0"/>
              </a:rPr>
              <a:t>comparable</a:t>
            </a:r>
            <a:r>
              <a:rPr lang="en-US" altLang="en-US" dirty="0">
                <a:solidFill>
                  <a:srgbClr val="000000"/>
                </a:solidFill>
                <a:latin typeface="Avenir Book" panose="02000503020000020003" pitchFamily="2" charset="0"/>
              </a:rPr>
              <a:t> across institutions by enabling </a:t>
            </a:r>
            <a:r>
              <a:rPr lang="en-US" altLang="en-US" b="1" dirty="0">
                <a:solidFill>
                  <a:srgbClr val="000000"/>
                </a:solidFill>
                <a:latin typeface="Avenir Book" panose="02000503020000020003" pitchFamily="2" charset="0"/>
              </a:rPr>
              <a:t>reproducibility</a:t>
            </a:r>
            <a:r>
              <a:rPr lang="en-US" altLang="en-US" dirty="0">
                <a:solidFill>
                  <a:srgbClr val="000000"/>
                </a:solidFill>
                <a:latin typeface="Avenir Book" panose="02000503020000020003" pitchFamily="2" charset="0"/>
              </a:rPr>
              <a:t> and </a:t>
            </a:r>
            <a:r>
              <a:rPr lang="en-US" altLang="en-US" b="1" dirty="0">
                <a:solidFill>
                  <a:srgbClr val="000000"/>
                </a:solidFill>
                <a:latin typeface="Avenir Book" panose="02000503020000020003" pitchFamily="2" charset="0"/>
              </a:rPr>
              <a:t>sharing</a:t>
            </a:r>
          </a:p>
        </p:txBody>
      </p:sp>
    </p:spTree>
    <p:extLst>
      <p:ext uri="{BB962C8B-B14F-4D97-AF65-F5344CB8AC3E}">
        <p14:creationId xmlns:p14="http://schemas.microsoft.com/office/powerpoint/2010/main" val="884629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60B17-F039-67A5-0AB0-2DAC061E5A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259CA2D-73EF-9212-B21A-644BD13C35AA}"/>
              </a:ext>
            </a:extLst>
          </p:cNvPr>
          <p:cNvSpPr>
            <a:spLocks noGrp="1"/>
          </p:cNvSpPr>
          <p:nvPr>
            <p:ph type="body" sz="quarter" idx="11"/>
          </p:nvPr>
        </p:nvSpPr>
        <p:spPr/>
        <p:txBody>
          <a:bodyPr/>
          <a:lstStyle/>
          <a:p>
            <a:r>
              <a:rPr lang="en-US" dirty="0">
                <a:latin typeface="YaleNew" panose="02000602050000020003" pitchFamily="2" charset="77"/>
              </a:rPr>
              <a:t>Accessing </a:t>
            </a:r>
          </a:p>
          <a:p>
            <a:r>
              <a:rPr lang="en-US" dirty="0">
                <a:latin typeface="YaleNew" panose="02000602050000020003" pitchFamily="2" charset="77"/>
              </a:rPr>
              <a:t>Data</a:t>
            </a:r>
          </a:p>
        </p:txBody>
      </p:sp>
      <p:sp>
        <p:nvSpPr>
          <p:cNvPr id="4" name="Text Placeholder 3">
            <a:extLst>
              <a:ext uri="{FF2B5EF4-FFF2-40B4-BE49-F238E27FC236}">
                <a16:creationId xmlns:a16="http://schemas.microsoft.com/office/drawing/2014/main" id="{2C0E88D1-7BB3-C90E-3DDC-48BA3992414D}"/>
              </a:ext>
            </a:extLst>
          </p:cNvPr>
          <p:cNvSpPr>
            <a:spLocks noGrp="1"/>
          </p:cNvSpPr>
          <p:nvPr>
            <p:ph type="body" sz="quarter" idx="15"/>
          </p:nvPr>
        </p:nvSpPr>
        <p:spPr>
          <a:xfrm>
            <a:off x="497984" y="3185056"/>
            <a:ext cx="3281536" cy="3171294"/>
          </a:xfrm>
        </p:spPr>
        <p:txBody>
          <a:bodyPr/>
          <a:lstStyle/>
          <a:p>
            <a:r>
              <a:rPr lang="en-US" dirty="0"/>
              <a:t>Observational Medical Outcomes Partnership (OMOP) CDM Concepts</a:t>
            </a:r>
          </a:p>
          <a:p>
            <a:endParaRPr lang="en-US" dirty="0"/>
          </a:p>
          <a:p>
            <a:r>
              <a:rPr lang="en-US" altLang="en-US" i="0" dirty="0"/>
              <a:t>SNOMED-CT and OMOP CDM</a:t>
            </a:r>
          </a:p>
        </p:txBody>
      </p:sp>
      <p:sp>
        <p:nvSpPr>
          <p:cNvPr id="5" name="Slide Number Placeholder 4">
            <a:extLst>
              <a:ext uri="{FF2B5EF4-FFF2-40B4-BE49-F238E27FC236}">
                <a16:creationId xmlns:a16="http://schemas.microsoft.com/office/drawing/2014/main" id="{2DF4A532-A937-E61A-C4D3-66AADD1512F5}"/>
              </a:ext>
            </a:extLst>
          </p:cNvPr>
          <p:cNvSpPr>
            <a:spLocks noGrp="1"/>
          </p:cNvSpPr>
          <p:nvPr>
            <p:ph type="sldNum" sz="quarter" idx="18"/>
          </p:nvPr>
        </p:nvSpPr>
        <p:spPr/>
        <p:txBody>
          <a:bodyPr/>
          <a:lstStyle/>
          <a:p>
            <a:fld id="{548469FB-C78A-B94B-B04A-B5BC8C934F85}" type="slidenum">
              <a:rPr lang="en-US" smtClean="0"/>
              <a:t>15</a:t>
            </a:fld>
            <a:endParaRPr lang="en-US"/>
          </a:p>
        </p:txBody>
      </p:sp>
      <p:sp>
        <p:nvSpPr>
          <p:cNvPr id="2" name="TextBox 1">
            <a:extLst>
              <a:ext uri="{FF2B5EF4-FFF2-40B4-BE49-F238E27FC236}">
                <a16:creationId xmlns:a16="http://schemas.microsoft.com/office/drawing/2014/main" id="{F36FD501-EB22-A0C8-7B41-6299FD690A13}"/>
              </a:ext>
            </a:extLst>
          </p:cNvPr>
          <p:cNvSpPr txBox="1"/>
          <p:nvPr/>
        </p:nvSpPr>
        <p:spPr>
          <a:xfrm>
            <a:off x="4753811" y="573771"/>
            <a:ext cx="6599989" cy="5940088"/>
          </a:xfrm>
          <a:prstGeom prst="rect">
            <a:avLst/>
          </a:prstGeom>
          <a:noFill/>
        </p:spPr>
        <p:txBody>
          <a:bodyPr wrap="square" rtlCol="0">
            <a:spAutoFit/>
          </a:bodyPr>
          <a:lstStyle/>
          <a:p>
            <a:r>
              <a:rPr lang="en-US" b="1" dirty="0">
                <a:latin typeface="Avenir Book" panose="02000503020000020003" pitchFamily="2" charset="0"/>
              </a:rPr>
              <a:t>Domains that use SNOMED-CT, </a:t>
            </a:r>
            <a:r>
              <a:rPr lang="en-US" altLang="en-US" dirty="0">
                <a:solidFill>
                  <a:srgbClr val="000000"/>
                </a:solidFill>
                <a:latin typeface="Avenir Book" panose="02000503020000020003" pitchFamily="2" charset="0"/>
              </a:rPr>
              <a:t>often use disparate, non-standard </a:t>
            </a:r>
            <a:r>
              <a:rPr lang="en-US" altLang="en-US" b="1" dirty="0">
                <a:solidFill>
                  <a:srgbClr val="000000"/>
                </a:solidFill>
                <a:latin typeface="Avenir Book" panose="02000503020000020003" pitchFamily="2" charset="0"/>
              </a:rPr>
              <a:t>source codes</a:t>
            </a:r>
            <a:r>
              <a:rPr lang="en-US" altLang="en-US" dirty="0">
                <a:solidFill>
                  <a:srgbClr val="000000"/>
                </a:solidFill>
                <a:latin typeface="Avenir Book" panose="02000503020000020003" pitchFamily="2" charset="0"/>
              </a:rPr>
              <a:t> primarily designed for billing</a:t>
            </a:r>
            <a:endParaRPr lang="en-US" altLang="en-US" dirty="0">
              <a:latin typeface="Avenir Book" panose="02000503020000020003" pitchFamily="2" charset="0"/>
            </a:endParaRPr>
          </a:p>
          <a:p>
            <a:endParaRPr lang="en-US" dirty="0">
              <a:latin typeface="Avenir Book" panose="02000503020000020003" pitchFamily="2" charset="0"/>
            </a:endParaRPr>
          </a:p>
          <a:p>
            <a:r>
              <a:rPr lang="en-US" dirty="0">
                <a:latin typeface="Avenir Book" panose="02000503020000020003" pitchFamily="2" charset="0"/>
              </a:rPr>
              <a:t>Source codes include:</a:t>
            </a:r>
          </a:p>
          <a:p>
            <a:pPr marL="285750" indent="-285750">
              <a:buFont typeface="Arial" panose="020B0604020202020204" pitchFamily="34" charset="0"/>
              <a:buChar char="•"/>
            </a:pPr>
            <a:r>
              <a:rPr lang="en-US" altLang="en-US" dirty="0">
                <a:solidFill>
                  <a:srgbClr val="000000"/>
                </a:solidFill>
                <a:latin typeface="Avenir Book" panose="02000503020000020003" pitchFamily="2" charset="0"/>
              </a:rPr>
              <a:t>ICD9/10 (</a:t>
            </a:r>
            <a:r>
              <a:rPr lang="en-US" dirty="0">
                <a:latin typeface="Avenir Book" panose="02000503020000020003" pitchFamily="2" charset="0"/>
              </a:rPr>
              <a:t>international Classification of Diseases)</a:t>
            </a:r>
            <a:endParaRPr lang="en-US" altLang="en-US" dirty="0">
              <a:solidFill>
                <a:srgbClr val="000000"/>
              </a:solidFill>
              <a:latin typeface="Avenir Book" panose="02000503020000020003" pitchFamily="2" charset="0"/>
            </a:endParaRPr>
          </a:p>
          <a:p>
            <a:pPr marL="285750" indent="-285750">
              <a:buFont typeface="Arial" panose="020B0604020202020204" pitchFamily="34" charset="0"/>
              <a:buChar char="•"/>
            </a:pPr>
            <a:r>
              <a:rPr lang="en-US" altLang="en-US" dirty="0">
                <a:solidFill>
                  <a:srgbClr val="000000"/>
                </a:solidFill>
                <a:latin typeface="Avenir Book" panose="02000503020000020003" pitchFamily="2" charset="0"/>
              </a:rPr>
              <a:t>CPT4 (</a:t>
            </a:r>
            <a:r>
              <a:rPr lang="en-US" dirty="0">
                <a:latin typeface="Avenir Book" panose="02000503020000020003" pitchFamily="2" charset="0"/>
              </a:rPr>
              <a:t>Current Procedural Terminology)</a:t>
            </a:r>
            <a:endParaRPr lang="en-US" altLang="en-US" dirty="0">
              <a:solidFill>
                <a:srgbClr val="000000"/>
              </a:solidFill>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Local/Proprietary Codes</a:t>
            </a:r>
          </a:p>
          <a:p>
            <a:pPr marL="285750" indent="-285750">
              <a:buFont typeface="Arial" panose="020B0604020202020204" pitchFamily="34" charset="0"/>
              <a:buChar char="•"/>
            </a:pPr>
            <a:r>
              <a:rPr lang="en-US" dirty="0">
                <a:latin typeface="Avenir Book" panose="02000503020000020003" pitchFamily="2" charset="0"/>
              </a:rPr>
              <a:t>Source SNOMED-CT</a:t>
            </a:r>
            <a:endParaRPr lang="en-US" altLang="en-US" dirty="0">
              <a:solidFill>
                <a:srgbClr val="000000"/>
              </a:solidFill>
              <a:latin typeface="Avenir Book" panose="02000503020000020003" pitchFamily="2" charset="0"/>
            </a:endParaRPr>
          </a:p>
          <a:p>
            <a:endParaRPr lang="en-US" altLang="en-US" b="1" dirty="0">
              <a:solidFill>
                <a:srgbClr val="000000"/>
              </a:solidFill>
              <a:latin typeface="Avenir Book" panose="02000503020000020003" pitchFamily="2" charset="0"/>
            </a:endParaRPr>
          </a:p>
          <a:p>
            <a:r>
              <a:rPr lang="en-US" altLang="en-US" dirty="0">
                <a:solidFill>
                  <a:srgbClr val="000000"/>
                </a:solidFill>
                <a:latin typeface="Avenir Book" panose="02000503020000020003" pitchFamily="2" charset="0"/>
              </a:rPr>
              <a:t>SNOMED-CT is designated as the standard for OMOP Concept IDs because of its </a:t>
            </a:r>
            <a:r>
              <a:rPr lang="en-US" altLang="en-US" b="1" dirty="0">
                <a:solidFill>
                  <a:srgbClr val="000000"/>
                </a:solidFill>
                <a:latin typeface="Avenir Book" panose="02000503020000020003" pitchFamily="2" charset="0"/>
              </a:rPr>
              <a:t>hierarchal structure</a:t>
            </a:r>
            <a:r>
              <a:rPr lang="en-US" altLang="en-US" dirty="0">
                <a:solidFill>
                  <a:srgbClr val="000000"/>
                </a:solidFill>
                <a:latin typeface="Avenir Book" panose="02000503020000020003" pitchFamily="2" charset="0"/>
              </a:rPr>
              <a:t> and </a:t>
            </a:r>
            <a:r>
              <a:rPr lang="en-US" altLang="en-US" b="1" dirty="0">
                <a:solidFill>
                  <a:srgbClr val="000000"/>
                </a:solidFill>
                <a:latin typeface="Avenir Book" panose="02000503020000020003" pitchFamily="2" charset="0"/>
              </a:rPr>
              <a:t>clinical granularity</a:t>
            </a:r>
          </a:p>
          <a:p>
            <a:endParaRPr lang="en-US" altLang="en-US" b="1" dirty="0">
              <a:solidFill>
                <a:srgbClr val="000000"/>
              </a:solidFill>
              <a:latin typeface="Avenir Book" panose="02000503020000020003" pitchFamily="2" charset="0"/>
            </a:endParaRPr>
          </a:p>
          <a:p>
            <a:r>
              <a:rPr lang="en-US" altLang="en-US" b="1" dirty="0">
                <a:solidFill>
                  <a:srgbClr val="000000"/>
                </a:solidFill>
                <a:latin typeface="Avenir Book" panose="02000503020000020003" pitchFamily="2" charset="0"/>
              </a:rPr>
              <a:t>This way </a:t>
            </a:r>
            <a:r>
              <a:rPr lang="en-US" altLang="en-US" dirty="0">
                <a:solidFill>
                  <a:srgbClr val="000000"/>
                </a:solidFill>
                <a:latin typeface="Avenir Book" panose="02000503020000020003" pitchFamily="2" charset="0"/>
              </a:rPr>
              <a:t>a patient coded with </a:t>
            </a:r>
            <a:r>
              <a:rPr lang="en-US" altLang="en-US" b="1" dirty="0">
                <a:solidFill>
                  <a:srgbClr val="000000"/>
                </a:solidFill>
                <a:latin typeface="Avenir Book" panose="02000503020000020003" pitchFamily="2" charset="0"/>
              </a:rPr>
              <a:t>ICD-10</a:t>
            </a:r>
            <a:r>
              <a:rPr lang="en-US" altLang="en-US" dirty="0">
                <a:solidFill>
                  <a:srgbClr val="000000"/>
                </a:solidFill>
                <a:latin typeface="Avenir Book" panose="02000503020000020003" pitchFamily="2" charset="0"/>
              </a:rPr>
              <a:t> in one site maps to the </a:t>
            </a:r>
            <a:r>
              <a:rPr lang="en-US" altLang="en-US" b="1" dirty="0">
                <a:solidFill>
                  <a:srgbClr val="000000"/>
                </a:solidFill>
                <a:latin typeface="Avenir Book" panose="02000503020000020003" pitchFamily="2" charset="0"/>
              </a:rPr>
              <a:t>exact same ID</a:t>
            </a:r>
            <a:r>
              <a:rPr lang="en-US" altLang="en-US" dirty="0">
                <a:solidFill>
                  <a:srgbClr val="000000"/>
                </a:solidFill>
                <a:latin typeface="Avenir Book" panose="02000503020000020003" pitchFamily="2" charset="0"/>
              </a:rPr>
              <a:t> as a patient coded with </a:t>
            </a:r>
            <a:r>
              <a:rPr lang="en-US" altLang="en-US" b="1" dirty="0">
                <a:solidFill>
                  <a:srgbClr val="000000"/>
                </a:solidFill>
                <a:latin typeface="Avenir Book" panose="02000503020000020003" pitchFamily="2" charset="0"/>
              </a:rPr>
              <a:t>SNOMED CT</a:t>
            </a:r>
            <a:r>
              <a:rPr lang="en-US" altLang="en-US" dirty="0">
                <a:solidFill>
                  <a:srgbClr val="000000"/>
                </a:solidFill>
                <a:latin typeface="Avenir Book" panose="02000503020000020003" pitchFamily="2" charset="0"/>
              </a:rPr>
              <a:t> in another site</a:t>
            </a:r>
            <a:endParaRPr lang="en-US" altLang="en-US" dirty="0">
              <a:latin typeface="Avenir Book" panose="02000503020000020003" pitchFamily="2" charset="0"/>
            </a:endParaRPr>
          </a:p>
          <a:p>
            <a:endParaRPr lang="en-US" altLang="en-US" b="1" dirty="0">
              <a:solidFill>
                <a:srgbClr val="000000"/>
              </a:solidFill>
              <a:latin typeface="Avenir Book" panose="02000503020000020003" pitchFamily="2" charset="0"/>
            </a:endParaRPr>
          </a:p>
          <a:p>
            <a:r>
              <a:rPr lang="en-US" altLang="en-US" sz="2800" b="1" dirty="0">
                <a:latin typeface="Avenir Book" panose="02000503020000020003" pitchFamily="2" charset="0"/>
              </a:rPr>
              <a:t>*Explore these standardized vocabularies through </a:t>
            </a:r>
            <a:r>
              <a:rPr lang="en-US" altLang="en-US" sz="2800" b="1" dirty="0">
                <a:latin typeface="Avenir Book" panose="02000503020000020003" pitchFamily="2" charset="0"/>
                <a:hlinkClick r:id="rId3"/>
              </a:rPr>
              <a:t>Athena</a:t>
            </a:r>
            <a:endParaRPr lang="en-US" altLang="en-US" sz="2800" b="1" dirty="0">
              <a:latin typeface="Avenir Book" panose="02000503020000020003" pitchFamily="2" charset="0"/>
            </a:endParaRPr>
          </a:p>
          <a:p>
            <a:endParaRPr lang="en-US" altLang="en-US" b="1" dirty="0">
              <a:solidFill>
                <a:srgbClr val="000000"/>
              </a:solidFill>
              <a:latin typeface="Avenir Book" panose="02000503020000020003" pitchFamily="2" charset="0"/>
            </a:endParaRPr>
          </a:p>
        </p:txBody>
      </p:sp>
    </p:spTree>
    <p:extLst>
      <p:ext uri="{BB962C8B-B14F-4D97-AF65-F5344CB8AC3E}">
        <p14:creationId xmlns:p14="http://schemas.microsoft.com/office/powerpoint/2010/main" val="3471714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1C5B3-798D-058A-8EC1-701CE41084F6}"/>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82F81A2-9455-1DDB-A417-224019A7DB32}"/>
              </a:ext>
            </a:extLst>
          </p:cNvPr>
          <p:cNvSpPr>
            <a:spLocks noGrp="1"/>
          </p:cNvSpPr>
          <p:nvPr>
            <p:ph type="pic" sz="quarter" idx="12"/>
          </p:nvPr>
        </p:nvSpPr>
        <p:spPr>
          <a:xfrm>
            <a:off x="4878411" y="835388"/>
            <a:ext cx="6943199" cy="5187224"/>
          </a:xfrm>
        </p:spPr>
        <p:txBody>
          <a:bodyPr>
            <a:noAutofit/>
          </a:bodyPr>
          <a:lstStyle/>
          <a:p>
            <a:pPr marL="0" indent="0">
              <a:lnSpc>
                <a:spcPct val="100000"/>
              </a:lnSpc>
              <a:spcBef>
                <a:spcPts val="0"/>
              </a:spcBef>
              <a:buNone/>
            </a:pPr>
            <a:r>
              <a:rPr lang="en-US" sz="3000" b="1" dirty="0">
                <a:latin typeface="Avenir Book" panose="02000503020000020003" pitchFamily="2" charset="0"/>
              </a:rPr>
              <a:t>Data Storage and Platform</a:t>
            </a:r>
          </a:p>
          <a:p>
            <a:pPr marL="0" indent="0">
              <a:lnSpc>
                <a:spcPct val="100000"/>
              </a:lnSpc>
              <a:spcBef>
                <a:spcPts val="0"/>
              </a:spcBef>
              <a:buNone/>
            </a:pPr>
            <a:endParaRPr lang="en-US" sz="2400" dirty="0">
              <a:latin typeface="Avenir Book" panose="02000503020000020003" pitchFamily="2" charset="0"/>
            </a:endParaRPr>
          </a:p>
          <a:p>
            <a:pPr>
              <a:lnSpc>
                <a:spcPct val="100000"/>
              </a:lnSpc>
              <a:spcBef>
                <a:spcPts val="0"/>
              </a:spcBef>
            </a:pPr>
            <a:r>
              <a:rPr lang="en-US" sz="2400" dirty="0">
                <a:latin typeface="Avenir Book" panose="02000503020000020003" pitchFamily="2" charset="0"/>
              </a:rPr>
              <a:t>Cloud-based: The Researcher Workbench is built on the Google Cloud Platform (GCP) for security, scalability, and computational power.</a:t>
            </a:r>
          </a:p>
          <a:p>
            <a:pPr>
              <a:lnSpc>
                <a:spcPct val="100000"/>
              </a:lnSpc>
              <a:spcBef>
                <a:spcPts val="0"/>
              </a:spcBef>
            </a:pPr>
            <a:endParaRPr lang="en-US" sz="3000" dirty="0">
              <a:latin typeface="Avenir Book" panose="02000503020000020003" pitchFamily="2" charset="0"/>
            </a:endParaRPr>
          </a:p>
          <a:p>
            <a:pPr marL="0" indent="0">
              <a:lnSpc>
                <a:spcPct val="100000"/>
              </a:lnSpc>
              <a:spcBef>
                <a:spcPts val="0"/>
              </a:spcBef>
              <a:buNone/>
            </a:pPr>
            <a:r>
              <a:rPr lang="en-US" sz="3000" b="1" dirty="0">
                <a:latin typeface="Avenir Book" panose="02000503020000020003" pitchFamily="2" charset="0"/>
              </a:rPr>
              <a:t>Data Preparation</a:t>
            </a:r>
          </a:p>
          <a:p>
            <a:pPr>
              <a:lnSpc>
                <a:spcPct val="100000"/>
              </a:lnSpc>
              <a:spcBef>
                <a:spcPts val="0"/>
              </a:spcBef>
            </a:pPr>
            <a:endParaRPr lang="en-US" sz="3000" dirty="0">
              <a:latin typeface="Avenir Book" panose="02000503020000020003" pitchFamily="2" charset="0"/>
            </a:endParaRPr>
          </a:p>
          <a:p>
            <a:pPr>
              <a:lnSpc>
                <a:spcPct val="100000"/>
              </a:lnSpc>
              <a:spcBef>
                <a:spcPts val="0"/>
              </a:spcBef>
            </a:pPr>
            <a:r>
              <a:rPr lang="en-US" sz="2400" dirty="0">
                <a:latin typeface="Avenir Book" panose="02000503020000020003" pitchFamily="2" charset="0"/>
              </a:rPr>
              <a:t>Curated Data Repository (CDR): Raw data from various sources (EHRs, surveys, etc.) are transformed and </a:t>
            </a:r>
            <a:r>
              <a:rPr lang="en-US" sz="2400" b="1" dirty="0">
                <a:latin typeface="Avenir Book" panose="02000503020000020003" pitchFamily="2" charset="0"/>
              </a:rPr>
              <a:t>standardized</a:t>
            </a:r>
            <a:r>
              <a:rPr lang="en-US" sz="2400" dirty="0">
                <a:latin typeface="Avenir Book" panose="02000503020000020003" pitchFamily="2" charset="0"/>
              </a:rPr>
              <a:t> into a curated dataset.</a:t>
            </a:r>
          </a:p>
        </p:txBody>
      </p:sp>
      <p:sp>
        <p:nvSpPr>
          <p:cNvPr id="3" name="Text Placeholder 2">
            <a:extLst>
              <a:ext uri="{FF2B5EF4-FFF2-40B4-BE49-F238E27FC236}">
                <a16:creationId xmlns:a16="http://schemas.microsoft.com/office/drawing/2014/main" id="{B3581F68-4C27-91E8-0F77-4A68E00BA6B1}"/>
              </a:ext>
            </a:extLst>
          </p:cNvPr>
          <p:cNvSpPr>
            <a:spLocks noGrp="1"/>
          </p:cNvSpPr>
          <p:nvPr>
            <p:ph type="body" sz="quarter" idx="11"/>
          </p:nvPr>
        </p:nvSpPr>
        <p:spPr/>
        <p:txBody>
          <a:bodyPr/>
          <a:lstStyle/>
          <a:p>
            <a:r>
              <a:rPr lang="en-US" dirty="0">
                <a:latin typeface="YaleNew" panose="02000602050000020003" pitchFamily="2" charset="77"/>
              </a:rPr>
              <a:t>Data </a:t>
            </a:r>
          </a:p>
          <a:p>
            <a:r>
              <a:rPr lang="en-US" dirty="0">
                <a:latin typeface="YaleNew" panose="02000602050000020003" pitchFamily="2" charset="77"/>
              </a:rPr>
              <a:t>Storage</a:t>
            </a:r>
          </a:p>
        </p:txBody>
      </p:sp>
      <p:sp>
        <p:nvSpPr>
          <p:cNvPr id="4" name="Text Placeholder 3">
            <a:extLst>
              <a:ext uri="{FF2B5EF4-FFF2-40B4-BE49-F238E27FC236}">
                <a16:creationId xmlns:a16="http://schemas.microsoft.com/office/drawing/2014/main" id="{99B4C7DE-57FF-2AC7-AB6B-6A69707D2866}"/>
              </a:ext>
            </a:extLst>
          </p:cNvPr>
          <p:cNvSpPr>
            <a:spLocks noGrp="1"/>
          </p:cNvSpPr>
          <p:nvPr>
            <p:ph type="body" sz="quarter" idx="15"/>
          </p:nvPr>
        </p:nvSpPr>
        <p:spPr>
          <a:xfrm>
            <a:off x="370390" y="2844101"/>
            <a:ext cx="3669175" cy="1039472"/>
          </a:xfrm>
        </p:spPr>
        <p:txBody>
          <a:bodyPr/>
          <a:lstStyle/>
          <a:p>
            <a:r>
              <a:rPr lang="en-US" dirty="0"/>
              <a:t>All of Us Research Program</a:t>
            </a:r>
          </a:p>
          <a:p>
            <a:endParaRPr lang="en-US" i="0" dirty="0">
              <a:cs typeface="+mn-cs"/>
            </a:endParaRPr>
          </a:p>
        </p:txBody>
      </p:sp>
      <p:sp>
        <p:nvSpPr>
          <p:cNvPr id="5" name="Slide Number Placeholder 4">
            <a:extLst>
              <a:ext uri="{FF2B5EF4-FFF2-40B4-BE49-F238E27FC236}">
                <a16:creationId xmlns:a16="http://schemas.microsoft.com/office/drawing/2014/main" id="{FC1D4D75-AF0B-D72E-AF92-7B6FC11B3637}"/>
              </a:ext>
            </a:extLst>
          </p:cNvPr>
          <p:cNvSpPr>
            <a:spLocks noGrp="1"/>
          </p:cNvSpPr>
          <p:nvPr>
            <p:ph type="sldNum" sz="quarter" idx="18"/>
          </p:nvPr>
        </p:nvSpPr>
        <p:spPr/>
        <p:txBody>
          <a:bodyPr/>
          <a:lstStyle/>
          <a:p>
            <a:fld id="{548469FB-C78A-B94B-B04A-B5BC8C934F85}" type="slidenum">
              <a:rPr lang="en-US" smtClean="0"/>
              <a:t>16</a:t>
            </a:fld>
            <a:endParaRPr lang="en-US"/>
          </a:p>
        </p:txBody>
      </p:sp>
    </p:spTree>
    <p:extLst>
      <p:ext uri="{BB962C8B-B14F-4D97-AF65-F5344CB8AC3E}">
        <p14:creationId xmlns:p14="http://schemas.microsoft.com/office/powerpoint/2010/main" val="837148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5F8E-84FC-7816-291E-8BBE809C3824}"/>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03642BE-31ED-1C59-B523-DF446D0B0F15}"/>
              </a:ext>
            </a:extLst>
          </p:cNvPr>
          <p:cNvSpPr>
            <a:spLocks noGrp="1"/>
          </p:cNvSpPr>
          <p:nvPr>
            <p:ph type="pic" sz="quarter" idx="12"/>
          </p:nvPr>
        </p:nvSpPr>
        <p:spPr>
          <a:xfrm>
            <a:off x="4322357" y="659423"/>
            <a:ext cx="7499253" cy="5539154"/>
          </a:xfrm>
        </p:spPr>
        <p:txBody>
          <a:bodyPr>
            <a:noAutofit/>
          </a:bodyPr>
          <a:lstStyle/>
          <a:p>
            <a:pPr marL="0" indent="0">
              <a:lnSpc>
                <a:spcPct val="100000"/>
              </a:lnSpc>
              <a:spcBef>
                <a:spcPts val="0"/>
              </a:spcBef>
              <a:buNone/>
            </a:pPr>
            <a:r>
              <a:rPr lang="en-US" b="1" dirty="0">
                <a:latin typeface="Avenir Book" panose="02000503020000020003" pitchFamily="2" charset="0"/>
              </a:rPr>
              <a:t>Cloud Analysis Environment</a:t>
            </a:r>
          </a:p>
          <a:p>
            <a:pPr>
              <a:lnSpc>
                <a:spcPct val="100000"/>
              </a:lnSpc>
              <a:spcBef>
                <a:spcPts val="0"/>
              </a:spcBef>
            </a:pPr>
            <a:r>
              <a:rPr lang="en-US" sz="2000" dirty="0">
                <a:latin typeface="Avenir Book" panose="02000503020000020003" pitchFamily="2" charset="0"/>
              </a:rPr>
              <a:t>A temporary virtual machine (VM) that provides the computational resources for data analysis. It is separate from the persistent disk and workspace bucket, and it is where you run your code and perform analyses.</a:t>
            </a:r>
          </a:p>
          <a:p>
            <a:pPr marL="0" indent="0">
              <a:lnSpc>
                <a:spcPct val="100000"/>
              </a:lnSpc>
              <a:spcBef>
                <a:spcPts val="0"/>
              </a:spcBef>
              <a:buNone/>
            </a:pPr>
            <a:endParaRPr lang="en-US" sz="2000" dirty="0">
              <a:latin typeface="Avenir Book" panose="02000503020000020003" pitchFamily="2" charset="0"/>
            </a:endParaRPr>
          </a:p>
          <a:p>
            <a:pPr marL="0" indent="0">
              <a:lnSpc>
                <a:spcPct val="100000"/>
              </a:lnSpc>
              <a:spcBef>
                <a:spcPts val="0"/>
              </a:spcBef>
              <a:buNone/>
            </a:pPr>
            <a:r>
              <a:rPr lang="en-US" b="1" dirty="0">
                <a:latin typeface="Avenir Book" panose="02000503020000020003" pitchFamily="2" charset="0"/>
              </a:rPr>
              <a:t>Persistent Disk</a:t>
            </a:r>
          </a:p>
          <a:p>
            <a:pPr>
              <a:lnSpc>
                <a:spcPct val="100000"/>
              </a:lnSpc>
              <a:spcBef>
                <a:spcPts val="0"/>
              </a:spcBef>
            </a:pPr>
            <a:r>
              <a:rPr lang="en-US" sz="2000" dirty="0">
                <a:latin typeface="Avenir Book" panose="02000503020000020003" pitchFamily="2" charset="0"/>
              </a:rPr>
              <a:t>Personal storage attached to a virtual machine (VM); not shared and data is saved even if the environment is deleted – best for active work</a:t>
            </a:r>
          </a:p>
          <a:p>
            <a:pPr marL="0" indent="0">
              <a:lnSpc>
                <a:spcPct val="100000"/>
              </a:lnSpc>
              <a:spcBef>
                <a:spcPts val="0"/>
              </a:spcBef>
              <a:buNone/>
            </a:pPr>
            <a:endParaRPr lang="en-US" dirty="0">
              <a:latin typeface="Avenir Book" panose="02000503020000020003" pitchFamily="2" charset="0"/>
            </a:endParaRPr>
          </a:p>
          <a:p>
            <a:pPr marL="0" indent="0">
              <a:lnSpc>
                <a:spcPct val="100000"/>
              </a:lnSpc>
              <a:spcBef>
                <a:spcPts val="0"/>
              </a:spcBef>
              <a:buNone/>
            </a:pPr>
            <a:r>
              <a:rPr lang="en-US" b="1" dirty="0">
                <a:latin typeface="Avenir Book" panose="02000503020000020003" pitchFamily="2" charset="0"/>
              </a:rPr>
              <a:t>Workspace Bucket</a:t>
            </a:r>
            <a:endParaRPr lang="en-US"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A shared, permanent storage area for the entire workspace. It is the most cost-effective option for long-term storage and can be </a:t>
            </a:r>
            <a:r>
              <a:rPr lang="en-US" sz="2000" b="1" dirty="0">
                <a:latin typeface="Avenir Book" panose="02000503020000020003" pitchFamily="2" charset="0"/>
              </a:rPr>
              <a:t>accessed from multiple workspace notebooks </a:t>
            </a:r>
            <a:r>
              <a:rPr lang="en-US" sz="2000" dirty="0">
                <a:latin typeface="Avenir Book" panose="02000503020000020003" pitchFamily="2" charset="0"/>
              </a:rPr>
              <a:t>(using code snippets)</a:t>
            </a:r>
          </a:p>
        </p:txBody>
      </p:sp>
      <p:sp>
        <p:nvSpPr>
          <p:cNvPr id="3" name="Text Placeholder 2">
            <a:extLst>
              <a:ext uri="{FF2B5EF4-FFF2-40B4-BE49-F238E27FC236}">
                <a16:creationId xmlns:a16="http://schemas.microsoft.com/office/drawing/2014/main" id="{0BBC2239-A18D-BB8E-8831-E48BE421A2BF}"/>
              </a:ext>
            </a:extLst>
          </p:cNvPr>
          <p:cNvSpPr>
            <a:spLocks noGrp="1"/>
          </p:cNvSpPr>
          <p:nvPr>
            <p:ph type="body" sz="quarter" idx="11"/>
          </p:nvPr>
        </p:nvSpPr>
        <p:spPr>
          <a:xfrm>
            <a:off x="441019" y="1348900"/>
            <a:ext cx="3034570" cy="1376693"/>
          </a:xfrm>
        </p:spPr>
        <p:txBody>
          <a:bodyPr/>
          <a:lstStyle/>
          <a:p>
            <a:r>
              <a:rPr lang="en-US" dirty="0">
                <a:latin typeface="YaleNew" panose="02000602050000020003" pitchFamily="2" charset="77"/>
              </a:rPr>
              <a:t>Data </a:t>
            </a:r>
          </a:p>
          <a:p>
            <a:r>
              <a:rPr lang="en-US" dirty="0">
                <a:latin typeface="YaleNew" panose="02000602050000020003" pitchFamily="2" charset="77"/>
              </a:rPr>
              <a:t>Storage</a:t>
            </a:r>
          </a:p>
        </p:txBody>
      </p:sp>
      <p:sp>
        <p:nvSpPr>
          <p:cNvPr id="4" name="Text Placeholder 3">
            <a:extLst>
              <a:ext uri="{FF2B5EF4-FFF2-40B4-BE49-F238E27FC236}">
                <a16:creationId xmlns:a16="http://schemas.microsoft.com/office/drawing/2014/main" id="{C687CD28-257F-C880-79F8-D52E9F130F24}"/>
              </a:ext>
            </a:extLst>
          </p:cNvPr>
          <p:cNvSpPr>
            <a:spLocks noGrp="1"/>
          </p:cNvSpPr>
          <p:nvPr>
            <p:ph type="body" sz="quarter" idx="15"/>
          </p:nvPr>
        </p:nvSpPr>
        <p:spPr>
          <a:xfrm>
            <a:off x="370390" y="2531584"/>
            <a:ext cx="3247017" cy="1039472"/>
          </a:xfrm>
        </p:spPr>
        <p:txBody>
          <a:bodyPr/>
          <a:lstStyle/>
          <a:p>
            <a:r>
              <a:rPr lang="en-US" dirty="0"/>
              <a:t>Workspace queried data </a:t>
            </a:r>
          </a:p>
          <a:p>
            <a:r>
              <a:rPr lang="en-US" b="1" dirty="0"/>
              <a:t>(aka, your study data) </a:t>
            </a:r>
          </a:p>
          <a:p>
            <a:endParaRPr lang="en-US" i="0" dirty="0">
              <a:cs typeface="+mn-cs"/>
            </a:endParaRPr>
          </a:p>
        </p:txBody>
      </p:sp>
      <p:sp>
        <p:nvSpPr>
          <p:cNvPr id="5" name="Slide Number Placeholder 4">
            <a:extLst>
              <a:ext uri="{FF2B5EF4-FFF2-40B4-BE49-F238E27FC236}">
                <a16:creationId xmlns:a16="http://schemas.microsoft.com/office/drawing/2014/main" id="{CC2065BE-DA3C-C582-FFCC-585D027CAC1C}"/>
              </a:ext>
            </a:extLst>
          </p:cNvPr>
          <p:cNvSpPr>
            <a:spLocks noGrp="1"/>
          </p:cNvSpPr>
          <p:nvPr>
            <p:ph type="sldNum" sz="quarter" idx="18"/>
          </p:nvPr>
        </p:nvSpPr>
        <p:spPr/>
        <p:txBody>
          <a:bodyPr/>
          <a:lstStyle/>
          <a:p>
            <a:fld id="{548469FB-C78A-B94B-B04A-B5BC8C934F85}" type="slidenum">
              <a:rPr lang="en-US" smtClean="0"/>
              <a:t>17</a:t>
            </a:fld>
            <a:endParaRPr lang="en-US"/>
          </a:p>
        </p:txBody>
      </p:sp>
      <p:pic>
        <p:nvPicPr>
          <p:cNvPr id="6" name="Picture 5">
            <a:extLst>
              <a:ext uri="{FF2B5EF4-FFF2-40B4-BE49-F238E27FC236}">
                <a16:creationId xmlns:a16="http://schemas.microsoft.com/office/drawing/2014/main" id="{7A4DC78A-2E25-697B-6FE1-249F29C0556B}"/>
              </a:ext>
            </a:extLst>
          </p:cNvPr>
          <p:cNvPicPr>
            <a:picLocks noChangeAspect="1"/>
          </p:cNvPicPr>
          <p:nvPr/>
        </p:nvPicPr>
        <p:blipFill>
          <a:blip r:embed="rId3"/>
          <a:stretch>
            <a:fillRect/>
          </a:stretch>
        </p:blipFill>
        <p:spPr>
          <a:xfrm>
            <a:off x="211183" y="3737824"/>
            <a:ext cx="3514338" cy="2618526"/>
          </a:xfrm>
          <a:prstGeom prst="rect">
            <a:avLst/>
          </a:prstGeom>
          <a:ln w="3175">
            <a:solidFill>
              <a:schemeClr val="tx1"/>
            </a:solidFill>
          </a:ln>
        </p:spPr>
      </p:pic>
      <p:sp>
        <p:nvSpPr>
          <p:cNvPr id="7" name="TextBox 6">
            <a:extLst>
              <a:ext uri="{FF2B5EF4-FFF2-40B4-BE49-F238E27FC236}">
                <a16:creationId xmlns:a16="http://schemas.microsoft.com/office/drawing/2014/main" id="{1F097D90-F1D3-8826-90B1-E826E36C1FCA}"/>
              </a:ext>
            </a:extLst>
          </p:cNvPr>
          <p:cNvSpPr txBox="1"/>
          <p:nvPr/>
        </p:nvSpPr>
        <p:spPr>
          <a:xfrm>
            <a:off x="2614352" y="3876720"/>
            <a:ext cx="1111169" cy="400110"/>
          </a:xfrm>
          <a:prstGeom prst="rect">
            <a:avLst/>
          </a:prstGeom>
          <a:noFill/>
        </p:spPr>
        <p:txBody>
          <a:bodyPr wrap="square" rtlCol="0">
            <a:spAutoFit/>
          </a:bodyPr>
          <a:lstStyle/>
          <a:p>
            <a:r>
              <a:rPr lang="en-US" sz="1000" i="1" dirty="0"/>
              <a:t>*for standard</a:t>
            </a:r>
          </a:p>
          <a:p>
            <a:r>
              <a:rPr lang="en-US" sz="1000" i="1" dirty="0"/>
              <a:t>environments</a:t>
            </a:r>
          </a:p>
        </p:txBody>
      </p:sp>
    </p:spTree>
    <p:extLst>
      <p:ext uri="{BB962C8B-B14F-4D97-AF65-F5344CB8AC3E}">
        <p14:creationId xmlns:p14="http://schemas.microsoft.com/office/powerpoint/2010/main" val="1241447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417E-1F7F-BF1A-4E54-E0A4A8973C3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C33F4E8-A94A-72E9-0FE9-2799643F87F7}"/>
              </a:ext>
            </a:extLst>
          </p:cNvPr>
          <p:cNvSpPr>
            <a:spLocks noGrp="1"/>
          </p:cNvSpPr>
          <p:nvPr>
            <p:ph type="body" sz="quarter" idx="11"/>
          </p:nvPr>
        </p:nvSpPr>
        <p:spPr>
          <a:xfrm>
            <a:off x="494357" y="1798655"/>
            <a:ext cx="3034570" cy="683409"/>
          </a:xfrm>
        </p:spPr>
        <p:txBody>
          <a:bodyPr/>
          <a:lstStyle/>
          <a:p>
            <a:r>
              <a:rPr lang="en-US" dirty="0">
                <a:latin typeface="YaleNew" panose="02000602050000020003" pitchFamily="2" charset="77"/>
              </a:rPr>
              <a:t>Billing</a:t>
            </a:r>
          </a:p>
        </p:txBody>
      </p:sp>
      <p:sp>
        <p:nvSpPr>
          <p:cNvPr id="4" name="Text Placeholder 3">
            <a:extLst>
              <a:ext uri="{FF2B5EF4-FFF2-40B4-BE49-F238E27FC236}">
                <a16:creationId xmlns:a16="http://schemas.microsoft.com/office/drawing/2014/main" id="{1E9C4BC8-E24D-EC52-3BE4-4B5905AA5DDD}"/>
              </a:ext>
            </a:extLst>
          </p:cNvPr>
          <p:cNvSpPr>
            <a:spLocks noGrp="1"/>
          </p:cNvSpPr>
          <p:nvPr>
            <p:ph type="body" sz="quarter" idx="15"/>
          </p:nvPr>
        </p:nvSpPr>
        <p:spPr>
          <a:xfrm>
            <a:off x="494356" y="2562330"/>
            <a:ext cx="3034571" cy="602906"/>
          </a:xfrm>
        </p:spPr>
        <p:txBody>
          <a:bodyPr/>
          <a:lstStyle/>
          <a:p>
            <a:r>
              <a:rPr lang="en-US" i="0" dirty="0">
                <a:cs typeface="+mn-cs"/>
                <a:hlinkClick r:id="rId3"/>
              </a:rPr>
              <a:t>Link to this table</a:t>
            </a:r>
            <a:endParaRPr lang="en-US" i="0" dirty="0">
              <a:cs typeface="+mn-cs"/>
            </a:endParaRPr>
          </a:p>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5" name="Slide Number Placeholder 4">
            <a:extLst>
              <a:ext uri="{FF2B5EF4-FFF2-40B4-BE49-F238E27FC236}">
                <a16:creationId xmlns:a16="http://schemas.microsoft.com/office/drawing/2014/main" id="{7BDCFE91-1351-A9EE-A91B-52EC6B0722CF}"/>
              </a:ext>
            </a:extLst>
          </p:cNvPr>
          <p:cNvSpPr>
            <a:spLocks noGrp="1"/>
          </p:cNvSpPr>
          <p:nvPr>
            <p:ph type="sldNum" sz="quarter" idx="18"/>
          </p:nvPr>
        </p:nvSpPr>
        <p:spPr/>
        <p:txBody>
          <a:bodyPr/>
          <a:lstStyle/>
          <a:p>
            <a:fld id="{548469FB-C78A-B94B-B04A-B5BC8C934F85}" type="slidenum">
              <a:rPr lang="en-US" smtClean="0"/>
              <a:t>18</a:t>
            </a:fld>
            <a:endParaRPr lang="en-US" dirty="0"/>
          </a:p>
        </p:txBody>
      </p:sp>
      <p:pic>
        <p:nvPicPr>
          <p:cNvPr id="15" name="Picture Placeholder 11" descr="A screenshot of a computer program&#10;&#10;AI-generated content may be incorrect.">
            <a:extLst>
              <a:ext uri="{FF2B5EF4-FFF2-40B4-BE49-F238E27FC236}">
                <a16:creationId xmlns:a16="http://schemas.microsoft.com/office/drawing/2014/main" id="{A1F4911E-CED5-A393-93B2-034B06F39641}"/>
              </a:ext>
            </a:extLst>
          </p:cNvPr>
          <p:cNvPicPr>
            <a:picLocks noChangeAspect="1"/>
          </p:cNvPicPr>
          <p:nvPr/>
        </p:nvPicPr>
        <p:blipFill>
          <a:blip r:embed="rId4"/>
          <a:stretch>
            <a:fillRect/>
          </a:stretch>
        </p:blipFill>
        <p:spPr>
          <a:xfrm>
            <a:off x="4080885" y="21753"/>
            <a:ext cx="5792317" cy="6814493"/>
          </a:xfrm>
          <a:prstGeom prst="rect">
            <a:avLst/>
          </a:prstGeom>
          <a:noFill/>
          <a:ln w="3175">
            <a:solidFill>
              <a:schemeClr val="tx1"/>
            </a:solidFill>
          </a:ln>
        </p:spPr>
      </p:pic>
      <p:sp>
        <p:nvSpPr>
          <p:cNvPr id="16" name="TextBox 15">
            <a:extLst>
              <a:ext uri="{FF2B5EF4-FFF2-40B4-BE49-F238E27FC236}">
                <a16:creationId xmlns:a16="http://schemas.microsoft.com/office/drawing/2014/main" id="{DA4EE969-D195-6C63-97FD-BB7CCD21591A}"/>
              </a:ext>
            </a:extLst>
          </p:cNvPr>
          <p:cNvSpPr txBox="1"/>
          <p:nvPr/>
        </p:nvSpPr>
        <p:spPr>
          <a:xfrm>
            <a:off x="9982200" y="674399"/>
            <a:ext cx="2113344" cy="5509200"/>
          </a:xfrm>
          <a:prstGeom prst="rect">
            <a:avLst/>
          </a:prstGeom>
          <a:noFill/>
        </p:spPr>
        <p:txBody>
          <a:bodyPr wrap="square" rtlCol="0">
            <a:spAutoFit/>
          </a:bodyPr>
          <a:lstStyle/>
          <a:p>
            <a:r>
              <a:rPr lang="en-US" sz="1600" i="1" dirty="0">
                <a:latin typeface="Avenir Book" panose="02000503020000020003" pitchFamily="2" charset="0"/>
              </a:rPr>
              <a:t>*</a:t>
            </a:r>
            <a:r>
              <a:rPr lang="en-US" sz="1600" i="1" dirty="0" err="1">
                <a:latin typeface="Avenir Book" panose="02000503020000020003" pitchFamily="2" charset="0"/>
              </a:rPr>
              <a:t>Jupyter</a:t>
            </a:r>
            <a:r>
              <a:rPr lang="en-US" sz="1600" i="1" dirty="0">
                <a:latin typeface="Avenir Book" panose="02000503020000020003" pitchFamily="2" charset="0"/>
              </a:rPr>
              <a:t> Notebook virtual machine settings can be customized. Customizing default settings will impact costs. </a:t>
            </a:r>
          </a:p>
          <a:p>
            <a:br>
              <a:rPr lang="en-US" sz="1600" i="1" dirty="0">
                <a:latin typeface="Avenir Book" panose="02000503020000020003" pitchFamily="2" charset="0"/>
              </a:rPr>
            </a:br>
            <a:r>
              <a:rPr lang="en-US" sz="1600" i="1" dirty="0">
                <a:latin typeface="Avenir Book" panose="02000503020000020003" pitchFamily="2" charset="0"/>
              </a:rPr>
              <a:t>** RStudio and SAS virtual machine settings cannot be customized.</a:t>
            </a:r>
          </a:p>
          <a:p>
            <a:br>
              <a:rPr lang="en-US" sz="1600" i="1" dirty="0">
                <a:latin typeface="Avenir Book" panose="02000503020000020003" pitchFamily="2" charset="0"/>
              </a:rPr>
            </a:br>
            <a:r>
              <a:rPr lang="en-US" sz="1600" i="1" dirty="0">
                <a:solidFill>
                  <a:schemeClr val="tx2">
                    <a:lumMod val="75000"/>
                    <a:lumOff val="25000"/>
                  </a:schemeClr>
                </a:solidFill>
                <a:latin typeface="Avenir Book" panose="02000503020000020003" pitchFamily="2" charset="0"/>
              </a:rPr>
              <a:t>***Persistent disks incur a monthly charge until deleted. You can check for and delete unnecessary persistent disks by visiting your "Cloud Environments" page.</a:t>
            </a:r>
            <a:endParaRPr lang="en-US" sz="1600" dirty="0">
              <a:solidFill>
                <a:schemeClr val="tx2">
                  <a:lumMod val="75000"/>
                  <a:lumOff val="25000"/>
                </a:schemeClr>
              </a:solidFill>
              <a:latin typeface="Avenir Book" panose="02000503020000020003" pitchFamily="2" charset="0"/>
            </a:endParaRPr>
          </a:p>
        </p:txBody>
      </p:sp>
      <p:sp>
        <p:nvSpPr>
          <p:cNvPr id="18" name="TextBox 17">
            <a:extLst>
              <a:ext uri="{FF2B5EF4-FFF2-40B4-BE49-F238E27FC236}">
                <a16:creationId xmlns:a16="http://schemas.microsoft.com/office/drawing/2014/main" id="{106241B8-023A-FE55-74BE-B56D733D5509}"/>
              </a:ext>
            </a:extLst>
          </p:cNvPr>
          <p:cNvSpPr txBox="1"/>
          <p:nvPr/>
        </p:nvSpPr>
        <p:spPr>
          <a:xfrm>
            <a:off x="196770" y="3270758"/>
            <a:ext cx="3775117" cy="2303195"/>
          </a:xfrm>
          <a:prstGeom prst="rect">
            <a:avLst/>
          </a:prstGeom>
          <a:noFill/>
        </p:spPr>
        <p:txBody>
          <a:bodyPr wrap="square" rtlCol="0">
            <a:spAutoFit/>
          </a:bodyPr>
          <a:lstStyle/>
          <a:p>
            <a:pPr marL="0" lvl="1" indent="0">
              <a:spcBef>
                <a:spcPts val="1000"/>
              </a:spcBef>
              <a:buNone/>
            </a:pPr>
            <a:r>
              <a:rPr lang="en-US" dirty="0">
                <a:solidFill>
                  <a:schemeClr val="bg1"/>
                </a:solidFill>
                <a:latin typeface="Avenir Book" panose="02000503020000020003" pitchFamily="2" charset="0"/>
              </a:rPr>
              <a:t>$300 credit for Google Cloud usage (will run out)</a:t>
            </a:r>
          </a:p>
          <a:p>
            <a:pPr marL="0" lvl="1" indent="0">
              <a:spcBef>
                <a:spcPts val="1000"/>
              </a:spcBef>
              <a:buNone/>
            </a:pPr>
            <a:endParaRPr lang="en-US" sz="100" dirty="0">
              <a:solidFill>
                <a:schemeClr val="bg1"/>
              </a:solidFill>
              <a:latin typeface="YaleNew" panose="02000602050000020003" pitchFamily="2" charset="77"/>
            </a:endParaRPr>
          </a:p>
          <a:p>
            <a:pPr marL="0" lvl="1" indent="0">
              <a:spcBef>
                <a:spcPts val="1000"/>
              </a:spcBef>
              <a:buNone/>
            </a:pPr>
            <a:r>
              <a:rPr lang="en-US" dirty="0">
                <a:solidFill>
                  <a:schemeClr val="bg1"/>
                </a:solidFill>
                <a:latin typeface="YaleNew" panose="02000602050000020003" pitchFamily="2" charset="77"/>
                <a:hlinkClick r:id="rId5"/>
              </a:rPr>
              <a:t>Set up a billing account to continue your work</a:t>
            </a:r>
            <a:endParaRPr lang="en-US" dirty="0">
              <a:solidFill>
                <a:schemeClr val="bg1"/>
              </a:solidFill>
              <a:latin typeface="YaleNew" panose="02000602050000020003" pitchFamily="2" charset="77"/>
            </a:endParaRPr>
          </a:p>
          <a:p>
            <a:endParaRPr lang="en-US" dirty="0"/>
          </a:p>
          <a:p>
            <a:r>
              <a:rPr lang="en-US" dirty="0">
                <a:hlinkClick r:id="rId6"/>
              </a:rPr>
              <a:t>Helpful video for billing and account setup</a:t>
            </a:r>
            <a:endParaRPr lang="en-US" dirty="0"/>
          </a:p>
        </p:txBody>
      </p:sp>
    </p:spTree>
    <p:extLst>
      <p:ext uri="{BB962C8B-B14F-4D97-AF65-F5344CB8AC3E}">
        <p14:creationId xmlns:p14="http://schemas.microsoft.com/office/powerpoint/2010/main" val="1006352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3B34-B2E9-3F1D-4B3F-33FD9747EA2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A9F27D2-02F0-6829-77F5-6863E43C0CD8}"/>
              </a:ext>
            </a:extLst>
          </p:cNvPr>
          <p:cNvSpPr>
            <a:spLocks noGrp="1"/>
          </p:cNvSpPr>
          <p:nvPr>
            <p:ph type="sldNum" sz="quarter" idx="18"/>
          </p:nvPr>
        </p:nvSpPr>
        <p:spPr/>
        <p:txBody>
          <a:bodyPr/>
          <a:lstStyle/>
          <a:p>
            <a:fld id="{548469FB-C78A-B94B-B04A-B5BC8C934F85}" type="slidenum">
              <a:rPr lang="en-US" smtClean="0"/>
              <a:t>19</a:t>
            </a:fld>
            <a:endParaRPr lang="en-US"/>
          </a:p>
        </p:txBody>
      </p:sp>
      <p:pic>
        <p:nvPicPr>
          <p:cNvPr id="2" name="Picture 1">
            <a:extLst>
              <a:ext uri="{FF2B5EF4-FFF2-40B4-BE49-F238E27FC236}">
                <a16:creationId xmlns:a16="http://schemas.microsoft.com/office/drawing/2014/main" id="{79D78D40-F766-FBEF-5590-5B086C291B30}"/>
              </a:ext>
            </a:extLst>
          </p:cNvPr>
          <p:cNvPicPr>
            <a:picLocks noChangeAspect="1"/>
          </p:cNvPicPr>
          <p:nvPr/>
        </p:nvPicPr>
        <p:blipFill>
          <a:blip r:embed="rId3"/>
          <a:stretch>
            <a:fillRect/>
          </a:stretch>
        </p:blipFill>
        <p:spPr>
          <a:xfrm>
            <a:off x="4702629" y="34401"/>
            <a:ext cx="6003165" cy="6793455"/>
          </a:xfrm>
          <a:prstGeom prst="rect">
            <a:avLst/>
          </a:prstGeom>
          <a:ln w="3175">
            <a:solidFill>
              <a:schemeClr val="tx1"/>
            </a:solidFill>
          </a:ln>
        </p:spPr>
      </p:pic>
      <p:sp>
        <p:nvSpPr>
          <p:cNvPr id="20" name="Text Placeholder 2">
            <a:extLst>
              <a:ext uri="{FF2B5EF4-FFF2-40B4-BE49-F238E27FC236}">
                <a16:creationId xmlns:a16="http://schemas.microsoft.com/office/drawing/2014/main" id="{90B1BC69-26F4-EAA9-6B67-106B29F04FDB}"/>
              </a:ext>
            </a:extLst>
          </p:cNvPr>
          <p:cNvSpPr>
            <a:spLocks noGrp="1"/>
          </p:cNvSpPr>
          <p:nvPr>
            <p:ph type="body" sz="quarter" idx="11"/>
          </p:nvPr>
        </p:nvSpPr>
        <p:spPr>
          <a:xfrm>
            <a:off x="494357" y="1798655"/>
            <a:ext cx="3034570" cy="683409"/>
          </a:xfrm>
        </p:spPr>
        <p:txBody>
          <a:bodyPr/>
          <a:lstStyle/>
          <a:p>
            <a:r>
              <a:rPr lang="en-US" dirty="0">
                <a:latin typeface="YaleNew" panose="02000602050000020003" pitchFamily="2" charset="77"/>
              </a:rPr>
              <a:t>Billing</a:t>
            </a:r>
          </a:p>
        </p:txBody>
      </p:sp>
      <p:sp>
        <p:nvSpPr>
          <p:cNvPr id="21" name="Text Placeholder 3">
            <a:extLst>
              <a:ext uri="{FF2B5EF4-FFF2-40B4-BE49-F238E27FC236}">
                <a16:creationId xmlns:a16="http://schemas.microsoft.com/office/drawing/2014/main" id="{06108BF9-53E9-46C9-528E-8A079635C608}"/>
              </a:ext>
            </a:extLst>
          </p:cNvPr>
          <p:cNvSpPr>
            <a:spLocks noGrp="1"/>
          </p:cNvSpPr>
          <p:nvPr>
            <p:ph type="body" sz="quarter" idx="15"/>
          </p:nvPr>
        </p:nvSpPr>
        <p:spPr>
          <a:xfrm>
            <a:off x="494356" y="2562330"/>
            <a:ext cx="3034571" cy="602906"/>
          </a:xfrm>
        </p:spPr>
        <p:txBody>
          <a:bodyPr/>
          <a:lstStyle/>
          <a:p>
            <a:r>
              <a:rPr lang="en-US" i="0" dirty="0">
                <a:cs typeface="+mn-cs"/>
                <a:hlinkClick r:id="rId4"/>
              </a:rPr>
              <a:t>Link to this table</a:t>
            </a:r>
            <a:endParaRPr lang="en-US" i="0" dirty="0">
              <a:cs typeface="+mn-cs"/>
            </a:endParaRPr>
          </a:p>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22" name="TextBox 21">
            <a:extLst>
              <a:ext uri="{FF2B5EF4-FFF2-40B4-BE49-F238E27FC236}">
                <a16:creationId xmlns:a16="http://schemas.microsoft.com/office/drawing/2014/main" id="{7F5E9A3A-5828-DD1E-3B47-E55213C262A5}"/>
              </a:ext>
            </a:extLst>
          </p:cNvPr>
          <p:cNvSpPr txBox="1"/>
          <p:nvPr/>
        </p:nvSpPr>
        <p:spPr>
          <a:xfrm>
            <a:off x="196770" y="3270758"/>
            <a:ext cx="3775117" cy="2303195"/>
          </a:xfrm>
          <a:prstGeom prst="rect">
            <a:avLst/>
          </a:prstGeom>
          <a:noFill/>
        </p:spPr>
        <p:txBody>
          <a:bodyPr wrap="square" rtlCol="0">
            <a:spAutoFit/>
          </a:bodyPr>
          <a:lstStyle/>
          <a:p>
            <a:pPr marL="0" lvl="1" indent="0">
              <a:spcBef>
                <a:spcPts val="1000"/>
              </a:spcBef>
              <a:buNone/>
            </a:pPr>
            <a:r>
              <a:rPr lang="en-US" dirty="0">
                <a:solidFill>
                  <a:schemeClr val="bg1"/>
                </a:solidFill>
                <a:latin typeface="Avenir Book" panose="02000503020000020003" pitchFamily="2" charset="0"/>
              </a:rPr>
              <a:t>$300 credit for Google Cloud usage (will run out)</a:t>
            </a:r>
          </a:p>
          <a:p>
            <a:pPr marL="0" lvl="1" indent="0">
              <a:spcBef>
                <a:spcPts val="1000"/>
              </a:spcBef>
              <a:buNone/>
            </a:pPr>
            <a:endParaRPr lang="en-US" sz="100" dirty="0">
              <a:solidFill>
                <a:schemeClr val="bg1"/>
              </a:solidFill>
              <a:latin typeface="YaleNew" panose="02000602050000020003" pitchFamily="2" charset="77"/>
            </a:endParaRPr>
          </a:p>
          <a:p>
            <a:pPr marL="0" lvl="1" indent="0">
              <a:spcBef>
                <a:spcPts val="1000"/>
              </a:spcBef>
              <a:buNone/>
            </a:pPr>
            <a:r>
              <a:rPr lang="en-US" dirty="0">
                <a:solidFill>
                  <a:schemeClr val="bg1"/>
                </a:solidFill>
                <a:latin typeface="YaleNew" panose="02000602050000020003" pitchFamily="2" charset="77"/>
                <a:hlinkClick r:id="rId5"/>
              </a:rPr>
              <a:t>Set up a billing account to continue your work</a:t>
            </a:r>
            <a:endParaRPr lang="en-US" dirty="0">
              <a:solidFill>
                <a:schemeClr val="bg1"/>
              </a:solidFill>
              <a:latin typeface="YaleNew" panose="02000602050000020003" pitchFamily="2" charset="77"/>
            </a:endParaRPr>
          </a:p>
          <a:p>
            <a:endParaRPr lang="en-US" dirty="0"/>
          </a:p>
          <a:p>
            <a:r>
              <a:rPr lang="en-US" dirty="0">
                <a:hlinkClick r:id="rId6"/>
              </a:rPr>
              <a:t>Helpful video for billing and account setup</a:t>
            </a:r>
            <a:endParaRPr lang="en-US" dirty="0"/>
          </a:p>
        </p:txBody>
      </p:sp>
    </p:spTree>
    <p:extLst>
      <p:ext uri="{BB962C8B-B14F-4D97-AF65-F5344CB8AC3E}">
        <p14:creationId xmlns:p14="http://schemas.microsoft.com/office/powerpoint/2010/main" val="3342901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0C17F-1854-734D-428A-3426D143707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0114215-8197-15C7-4085-9ED81A375982}"/>
              </a:ext>
            </a:extLst>
          </p:cNvPr>
          <p:cNvSpPr>
            <a:spLocks noGrp="1"/>
          </p:cNvSpPr>
          <p:nvPr>
            <p:ph type="sldNum" sz="quarter" idx="18"/>
          </p:nvPr>
        </p:nvSpPr>
        <p:spPr/>
        <p:txBody>
          <a:bodyPr/>
          <a:lstStyle/>
          <a:p>
            <a:fld id="{548469FB-C78A-B94B-B04A-B5BC8C934F85}" type="slidenum">
              <a:rPr lang="en-US" smtClean="0"/>
              <a:t>20</a:t>
            </a:fld>
            <a:endParaRPr lang="en-US"/>
          </a:p>
        </p:txBody>
      </p:sp>
      <p:sp>
        <p:nvSpPr>
          <p:cNvPr id="20" name="Text Placeholder 2">
            <a:extLst>
              <a:ext uri="{FF2B5EF4-FFF2-40B4-BE49-F238E27FC236}">
                <a16:creationId xmlns:a16="http://schemas.microsoft.com/office/drawing/2014/main" id="{E5ECBD88-FAC8-AA7C-0B34-BF3CC91122C7}"/>
              </a:ext>
            </a:extLst>
          </p:cNvPr>
          <p:cNvSpPr>
            <a:spLocks noGrp="1"/>
          </p:cNvSpPr>
          <p:nvPr>
            <p:ph type="body" sz="quarter" idx="11"/>
          </p:nvPr>
        </p:nvSpPr>
        <p:spPr>
          <a:xfrm>
            <a:off x="494356" y="1878921"/>
            <a:ext cx="3034570" cy="683409"/>
          </a:xfrm>
        </p:spPr>
        <p:txBody>
          <a:bodyPr/>
          <a:lstStyle/>
          <a:p>
            <a:r>
              <a:rPr lang="en-US" dirty="0">
                <a:latin typeface="YaleNew" panose="02000602050000020003" pitchFamily="2" charset="77"/>
              </a:rPr>
              <a:t>Saving Money!</a:t>
            </a:r>
          </a:p>
        </p:txBody>
      </p:sp>
      <p:sp>
        <p:nvSpPr>
          <p:cNvPr id="21" name="Text Placeholder 3">
            <a:extLst>
              <a:ext uri="{FF2B5EF4-FFF2-40B4-BE49-F238E27FC236}">
                <a16:creationId xmlns:a16="http://schemas.microsoft.com/office/drawing/2014/main" id="{A85685EC-4E1B-D12F-EB66-FF51A198C228}"/>
              </a:ext>
            </a:extLst>
          </p:cNvPr>
          <p:cNvSpPr>
            <a:spLocks noGrp="1"/>
          </p:cNvSpPr>
          <p:nvPr>
            <p:ph type="body" sz="quarter" idx="15"/>
          </p:nvPr>
        </p:nvSpPr>
        <p:spPr>
          <a:xfrm>
            <a:off x="494356" y="2562330"/>
            <a:ext cx="3034571" cy="602906"/>
          </a:xfrm>
        </p:spPr>
        <p:txBody>
          <a:bodyPr/>
          <a:lstStyle/>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3" name="TextBox 2">
            <a:extLst>
              <a:ext uri="{FF2B5EF4-FFF2-40B4-BE49-F238E27FC236}">
                <a16:creationId xmlns:a16="http://schemas.microsoft.com/office/drawing/2014/main" id="{C5DF281B-9B60-1CCA-ED20-3ED3DBCE81B9}"/>
              </a:ext>
            </a:extLst>
          </p:cNvPr>
          <p:cNvSpPr txBox="1"/>
          <p:nvPr/>
        </p:nvSpPr>
        <p:spPr>
          <a:xfrm>
            <a:off x="152696" y="3692765"/>
            <a:ext cx="3717890" cy="1200329"/>
          </a:xfrm>
          <a:prstGeom prst="rect">
            <a:avLst/>
          </a:prstGeom>
          <a:noFill/>
        </p:spPr>
        <p:txBody>
          <a:bodyPr wrap="square" rtlCol="0">
            <a:spAutoFit/>
          </a:bodyPr>
          <a:lstStyle/>
          <a:p>
            <a:endParaRPr lang="en-US" dirty="0"/>
          </a:p>
          <a:p>
            <a:r>
              <a:rPr lang="en-US" dirty="0">
                <a:hlinkClick r:id="rId3"/>
              </a:rPr>
              <a:t>How to Delete Persistent Disk and Environment</a:t>
            </a:r>
            <a:endParaRPr lang="en-US" dirty="0"/>
          </a:p>
          <a:p>
            <a:endParaRPr lang="en-US" dirty="0"/>
          </a:p>
        </p:txBody>
      </p:sp>
      <p:sp>
        <p:nvSpPr>
          <p:cNvPr id="6" name="TextBox 5">
            <a:extLst>
              <a:ext uri="{FF2B5EF4-FFF2-40B4-BE49-F238E27FC236}">
                <a16:creationId xmlns:a16="http://schemas.microsoft.com/office/drawing/2014/main" id="{500BCF6C-B8AC-DCD0-AA3F-9FFFADABE4EA}"/>
              </a:ext>
            </a:extLst>
          </p:cNvPr>
          <p:cNvSpPr txBox="1"/>
          <p:nvPr/>
        </p:nvSpPr>
        <p:spPr>
          <a:xfrm>
            <a:off x="4454769" y="263071"/>
            <a:ext cx="7421545" cy="6309420"/>
          </a:xfrm>
          <a:prstGeom prst="rect">
            <a:avLst/>
          </a:prstGeom>
          <a:noFill/>
        </p:spPr>
        <p:txBody>
          <a:bodyPr wrap="square" rtlCol="0">
            <a:spAutoFit/>
          </a:bodyPr>
          <a:lstStyle/>
          <a:p>
            <a:r>
              <a:rPr lang="en-US" sz="3000" b="1" dirty="0">
                <a:latin typeface="Avenir Book" panose="02000503020000020003" pitchFamily="2" charset="0"/>
              </a:rPr>
              <a:t>Once you save your data to the workspace bucket:</a:t>
            </a:r>
          </a:p>
          <a:p>
            <a:pPr marL="285750" indent="-285750">
              <a:buFont typeface="Arial" panose="020B0604020202020204" pitchFamily="34" charset="0"/>
              <a:buChar char="•"/>
            </a:pPr>
            <a:endParaRPr lang="en-US" sz="32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Delete your environment and persistent disk</a:t>
            </a:r>
          </a:p>
          <a:p>
            <a:pPr marL="342900" indent="-342900">
              <a:buFont typeface="Arial" panose="020B0604020202020204" pitchFamily="34" charset="0"/>
              <a:buChar char="•"/>
            </a:pPr>
            <a:endParaRPr lang="en-US" sz="2400" dirty="0">
              <a:latin typeface="Avenir Book" panose="02000503020000020003" pitchFamily="2" charset="0"/>
            </a:endParaRPr>
          </a:p>
          <a:p>
            <a:pPr marL="342900" indent="-342900">
              <a:buFont typeface="Arial" panose="020B0604020202020204" pitchFamily="34" charset="0"/>
              <a:buChar char="•"/>
            </a:pPr>
            <a:r>
              <a:rPr lang="en-US" sz="2400" dirty="0" err="1">
                <a:latin typeface="Avenir Book" panose="02000503020000020003" pitchFamily="2" charset="0"/>
              </a:rPr>
              <a:t>Jupyter</a:t>
            </a:r>
            <a:r>
              <a:rPr lang="en-US" sz="2400" dirty="0">
                <a:latin typeface="Avenir Book" panose="02000503020000020003" pitchFamily="2" charset="0"/>
              </a:rPr>
              <a:t> notebooks and code are saved in the workspace bucket and will not be deleted</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You can always start a new environment to continue your analysis because your code and data in the workspace bucket remain intact</a:t>
            </a:r>
          </a:p>
          <a:p>
            <a:pPr marL="457200" indent="-457200">
              <a:buFont typeface="Arial" panose="020B0604020202020204" pitchFamily="34" charset="0"/>
              <a:buChar char="•"/>
            </a:pPr>
            <a:endParaRPr lang="en-US" sz="2400" dirty="0">
              <a:latin typeface="Avenir Book" panose="02000503020000020003" pitchFamily="2" charset="0"/>
            </a:endParaRPr>
          </a:p>
          <a:p>
            <a:r>
              <a:rPr lang="en-US" sz="3200" b="1" dirty="0">
                <a:latin typeface="Avenir Book" panose="02000503020000020003" pitchFamily="2" charset="0"/>
              </a:rPr>
              <a:t>Once your data are in the workspace bucket you don’t need to run your initial queries again!</a:t>
            </a:r>
          </a:p>
        </p:txBody>
      </p:sp>
    </p:spTree>
    <p:extLst>
      <p:ext uri="{BB962C8B-B14F-4D97-AF65-F5344CB8AC3E}">
        <p14:creationId xmlns:p14="http://schemas.microsoft.com/office/powerpoint/2010/main" val="2479410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BE30-55F4-9650-69C3-0FC3FBD14AE1}"/>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9BD317D-AF36-9CC2-D117-0BA7D46FA962}"/>
              </a:ext>
            </a:extLst>
          </p:cNvPr>
          <p:cNvSpPr>
            <a:spLocks noGrp="1"/>
          </p:cNvSpPr>
          <p:nvPr>
            <p:ph type="pic" sz="quarter" idx="12"/>
          </p:nvPr>
        </p:nvSpPr>
        <p:spPr>
          <a:xfrm>
            <a:off x="5181600" y="1187354"/>
            <a:ext cx="6105099" cy="5593691"/>
          </a:xfrm>
        </p:spPr>
        <p:txBody>
          <a:bodyPr>
            <a:normAutofit/>
          </a:bodyPr>
          <a:lstStyle/>
          <a:p>
            <a:pPr marL="0" indent="0">
              <a:buNone/>
            </a:pPr>
            <a:r>
              <a:rPr lang="en-US" sz="2000" dirty="0">
                <a:latin typeface="Avenir Book" panose="02000503020000020003" pitchFamily="2" charset="0"/>
                <a:hlinkClick r:id="rId3"/>
              </a:rPr>
              <a:t>All of Us Publications </a:t>
            </a:r>
            <a:br>
              <a:rPr lang="en-US" sz="2000" dirty="0">
                <a:latin typeface="Avenir Book" panose="02000503020000020003" pitchFamily="2" charset="0"/>
              </a:rPr>
            </a:br>
            <a:endParaRPr lang="en-US" sz="2000" dirty="0">
              <a:latin typeface="Avenir Book" panose="02000503020000020003" pitchFamily="2" charset="0"/>
            </a:endParaRPr>
          </a:p>
          <a:p>
            <a:pPr marL="0" indent="0">
              <a:buNone/>
            </a:pPr>
            <a:r>
              <a:rPr lang="en-US" sz="2000" dirty="0">
                <a:latin typeface="Avenir Book" panose="02000503020000020003" pitchFamily="2" charset="0"/>
              </a:rPr>
              <a:t>All of Us YouTube videos</a:t>
            </a:r>
          </a:p>
          <a:p>
            <a:pPr lvl="1"/>
            <a:r>
              <a:rPr lang="en-US" sz="2000" dirty="0">
                <a:latin typeface="Avenir Book" panose="02000503020000020003" pitchFamily="2" charset="0"/>
                <a:hlinkClick r:id="rId4"/>
              </a:rPr>
              <a:t>Billing in the researcher workbench</a:t>
            </a:r>
          </a:p>
          <a:p>
            <a:pPr lvl="1"/>
            <a:r>
              <a:rPr lang="en-US" sz="2000" dirty="0">
                <a:latin typeface="Avenir Book" panose="02000503020000020003" pitchFamily="2" charset="0"/>
                <a:hlinkClick r:id="rId5"/>
              </a:rPr>
              <a:t>Cohort builder and dataset builder</a:t>
            </a:r>
            <a:endParaRPr lang="en-US" sz="2000" dirty="0">
              <a:latin typeface="Avenir Book" panose="02000503020000020003" pitchFamily="2" charset="0"/>
            </a:endParaRPr>
          </a:p>
          <a:p>
            <a:pPr lvl="1"/>
            <a:r>
              <a:rPr lang="en-US" sz="2000" dirty="0">
                <a:latin typeface="Avenir Book" panose="02000503020000020003" pitchFamily="2" charset="0"/>
                <a:hlinkClick r:id="rId6"/>
              </a:rPr>
              <a:t>Using the concept set selector in the workbench</a:t>
            </a:r>
            <a:endParaRPr lang="en-US" sz="2000" dirty="0">
              <a:latin typeface="Avenir Book" panose="02000503020000020003" pitchFamily="2" charset="0"/>
            </a:endParaRPr>
          </a:p>
          <a:p>
            <a:pPr lvl="2"/>
            <a:endParaRPr lang="en-US" sz="1600" dirty="0">
              <a:latin typeface="Avenir Book" panose="02000503020000020003" pitchFamily="2" charset="0"/>
            </a:endParaRPr>
          </a:p>
          <a:p>
            <a:pPr marL="0" indent="0">
              <a:buNone/>
            </a:pPr>
            <a:r>
              <a:rPr lang="en-US" sz="2000" dirty="0">
                <a:latin typeface="Avenir Book" panose="02000503020000020003" pitchFamily="2" charset="0"/>
                <a:hlinkClick r:id="rId7"/>
              </a:rPr>
              <a:t>Setting up your Billing Account</a:t>
            </a:r>
            <a:br>
              <a:rPr lang="en-US" sz="2400" dirty="0">
                <a:latin typeface="Avenir Book" panose="02000503020000020003" pitchFamily="2" charset="0"/>
              </a:rPr>
            </a:br>
            <a:endParaRPr lang="en-US" sz="2400" dirty="0">
              <a:latin typeface="Avenir Book" panose="02000503020000020003" pitchFamily="2" charset="0"/>
            </a:endParaRPr>
          </a:p>
          <a:p>
            <a:pPr marL="0" indent="0">
              <a:buNone/>
            </a:pPr>
            <a:r>
              <a:rPr lang="en-US" sz="2000" dirty="0">
                <a:latin typeface="Avenir Book" panose="02000503020000020003" pitchFamily="2" charset="0"/>
                <a:hlinkClick r:id="rId8"/>
              </a:rPr>
              <a:t>Getting started</a:t>
            </a:r>
            <a:r>
              <a:rPr lang="en-US" sz="2000" dirty="0">
                <a:latin typeface="Avenir Book" panose="02000503020000020003" pitchFamily="2" charset="0"/>
              </a:rPr>
              <a:t> (dictionaries, data types, OMOP, etc.)</a:t>
            </a:r>
          </a:p>
          <a:p>
            <a:pPr marL="800100" lvl="2" indent="-342900">
              <a:lnSpc>
                <a:spcPct val="120000"/>
              </a:lnSpc>
              <a:spcBef>
                <a:spcPts val="0"/>
              </a:spcBef>
            </a:pPr>
            <a:endParaRPr lang="en-US" sz="2400" dirty="0">
              <a:latin typeface="Avenir Book" panose="02000503020000020003" pitchFamily="2" charset="0"/>
            </a:endParaRPr>
          </a:p>
        </p:txBody>
      </p:sp>
      <p:sp>
        <p:nvSpPr>
          <p:cNvPr id="3" name="Text Placeholder 2">
            <a:extLst>
              <a:ext uri="{FF2B5EF4-FFF2-40B4-BE49-F238E27FC236}">
                <a16:creationId xmlns:a16="http://schemas.microsoft.com/office/drawing/2014/main" id="{71F91081-EA9B-FD55-E9B9-34BA18595547}"/>
              </a:ext>
            </a:extLst>
          </p:cNvPr>
          <p:cNvSpPr>
            <a:spLocks noGrp="1"/>
          </p:cNvSpPr>
          <p:nvPr>
            <p:ph type="body" sz="quarter" idx="11"/>
          </p:nvPr>
        </p:nvSpPr>
        <p:spPr>
          <a:xfrm>
            <a:off x="609599" y="1790700"/>
            <a:ext cx="3201909" cy="1102251"/>
          </a:xfrm>
        </p:spPr>
        <p:txBody>
          <a:bodyPr/>
          <a:lstStyle/>
          <a:p>
            <a:r>
              <a:rPr lang="en-US" dirty="0">
                <a:latin typeface="YaleNew" panose="02000602050000020003" pitchFamily="2" charset="77"/>
              </a:rPr>
              <a:t>Helpful</a:t>
            </a:r>
          </a:p>
          <a:p>
            <a:r>
              <a:rPr lang="en-US" dirty="0">
                <a:latin typeface="YaleNew" panose="02000602050000020003" pitchFamily="2" charset="77"/>
              </a:rPr>
              <a:t>Resources</a:t>
            </a:r>
          </a:p>
        </p:txBody>
      </p:sp>
      <p:sp>
        <p:nvSpPr>
          <p:cNvPr id="6" name="Slide Number Placeholder 5">
            <a:extLst>
              <a:ext uri="{FF2B5EF4-FFF2-40B4-BE49-F238E27FC236}">
                <a16:creationId xmlns:a16="http://schemas.microsoft.com/office/drawing/2014/main" id="{0F7A3ABA-6B5E-5DB9-C00E-940E1B3E9BE0}"/>
              </a:ext>
            </a:extLst>
          </p:cNvPr>
          <p:cNvSpPr>
            <a:spLocks noGrp="1"/>
          </p:cNvSpPr>
          <p:nvPr>
            <p:ph type="sldNum" sz="quarter" idx="18"/>
          </p:nvPr>
        </p:nvSpPr>
        <p:spPr/>
        <p:txBody>
          <a:bodyPr/>
          <a:lstStyle/>
          <a:p>
            <a:fld id="{548469FB-C78A-B94B-B04A-B5BC8C934F85}" type="slidenum">
              <a:rPr lang="en-US" smtClean="0"/>
              <a:t>21</a:t>
            </a:fld>
            <a:endParaRPr lang="en-US"/>
          </a:p>
        </p:txBody>
      </p:sp>
    </p:spTree>
    <p:extLst>
      <p:ext uri="{BB962C8B-B14F-4D97-AF65-F5344CB8AC3E}">
        <p14:creationId xmlns:p14="http://schemas.microsoft.com/office/powerpoint/2010/main" val="281182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C982-040C-519E-BAD1-8CACD4A5BF1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6D3498-BAA9-92A3-5CA8-862F1C13CDCE}"/>
              </a:ext>
            </a:extLst>
          </p:cNvPr>
          <p:cNvSpPr>
            <a:spLocks noGrp="1"/>
          </p:cNvSpPr>
          <p:nvPr>
            <p:ph type="body" sz="quarter" idx="11"/>
          </p:nvPr>
        </p:nvSpPr>
        <p:spPr>
          <a:xfrm>
            <a:off x="458143" y="3143633"/>
            <a:ext cx="3034570" cy="722197"/>
          </a:xfrm>
        </p:spPr>
        <p:txBody>
          <a:bodyPr/>
          <a:lstStyle/>
          <a:p>
            <a:r>
              <a:rPr lang="en-US" dirty="0">
                <a:latin typeface="YaleNew" panose="02000602050000020003" pitchFamily="2" charset="77"/>
              </a:rPr>
              <a:t>Questions</a:t>
            </a:r>
          </a:p>
        </p:txBody>
      </p:sp>
      <p:sp>
        <p:nvSpPr>
          <p:cNvPr id="6" name="Slide Number Placeholder 5">
            <a:extLst>
              <a:ext uri="{FF2B5EF4-FFF2-40B4-BE49-F238E27FC236}">
                <a16:creationId xmlns:a16="http://schemas.microsoft.com/office/drawing/2014/main" id="{DBFCC211-43CF-FC79-9EB8-F6A60BCB4C4D}"/>
              </a:ext>
            </a:extLst>
          </p:cNvPr>
          <p:cNvSpPr>
            <a:spLocks noGrp="1"/>
          </p:cNvSpPr>
          <p:nvPr>
            <p:ph type="sldNum" sz="quarter" idx="18"/>
          </p:nvPr>
        </p:nvSpPr>
        <p:spPr/>
        <p:txBody>
          <a:bodyPr/>
          <a:lstStyle/>
          <a:p>
            <a:fld id="{548469FB-C78A-B94B-B04A-B5BC8C934F85}" type="slidenum">
              <a:rPr lang="en-US" smtClean="0"/>
              <a:t>22</a:t>
            </a:fld>
            <a:endParaRPr lang="en-US"/>
          </a:p>
        </p:txBody>
      </p:sp>
      <p:pic>
        <p:nvPicPr>
          <p:cNvPr id="16" name="Graphic 15" descr="Badge Question Mark outline">
            <a:extLst>
              <a:ext uri="{FF2B5EF4-FFF2-40B4-BE49-F238E27FC236}">
                <a16:creationId xmlns:a16="http://schemas.microsoft.com/office/drawing/2014/main" id="{20611503-079B-C082-2EAF-BE8C9458D9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3953" y="1"/>
            <a:ext cx="7025863" cy="6858000"/>
          </a:xfrm>
          <a:prstGeom prst="rect">
            <a:avLst/>
          </a:prstGeom>
        </p:spPr>
      </p:pic>
    </p:spTree>
    <p:extLst>
      <p:ext uri="{BB962C8B-B14F-4D97-AF65-F5344CB8AC3E}">
        <p14:creationId xmlns:p14="http://schemas.microsoft.com/office/powerpoint/2010/main" val="1192085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514ECA-2065-7895-CF70-81D17A0A25C8}"/>
              </a:ext>
            </a:extLst>
          </p:cNvPr>
          <p:cNvSpPr>
            <a:spLocks noGrp="1"/>
          </p:cNvSpPr>
          <p:nvPr>
            <p:ph type="body" sz="quarter" idx="11"/>
          </p:nvPr>
        </p:nvSpPr>
        <p:spPr/>
        <p:txBody>
          <a:bodyPr/>
          <a:lstStyle/>
          <a:p>
            <a:r>
              <a:rPr lang="en-US" dirty="0"/>
              <a:t>Course</a:t>
            </a:r>
          </a:p>
          <a:p>
            <a:r>
              <a:rPr lang="en-US" dirty="0"/>
              <a:t>Survey</a:t>
            </a:r>
          </a:p>
        </p:txBody>
      </p:sp>
      <p:sp>
        <p:nvSpPr>
          <p:cNvPr id="4" name="Text Placeholder 3">
            <a:extLst>
              <a:ext uri="{FF2B5EF4-FFF2-40B4-BE49-F238E27FC236}">
                <a16:creationId xmlns:a16="http://schemas.microsoft.com/office/drawing/2014/main" id="{9A591355-3814-8376-C02C-118C97A439E5}"/>
              </a:ext>
            </a:extLst>
          </p:cNvPr>
          <p:cNvSpPr>
            <a:spLocks noGrp="1"/>
          </p:cNvSpPr>
          <p:nvPr>
            <p:ph type="body" sz="quarter" idx="15"/>
          </p:nvPr>
        </p:nvSpPr>
        <p:spPr/>
        <p:txBody>
          <a:bodyPr/>
          <a:lstStyle/>
          <a:p>
            <a:r>
              <a:rPr lang="en-US" i="0" dirty="0">
                <a:hlinkClick r:id="rId3"/>
              </a:rPr>
              <a:t>https://yalesurvey.ca1.qualtrics.com/jfe/form/SV_cZOk3RQmTrQLhYy</a:t>
            </a:r>
            <a:r>
              <a:rPr lang="en-US" i="0" dirty="0"/>
              <a:t> </a:t>
            </a:r>
            <a:endParaRPr lang="en-US" dirty="0"/>
          </a:p>
        </p:txBody>
      </p:sp>
      <p:sp>
        <p:nvSpPr>
          <p:cNvPr id="5" name="Slide Number Placeholder 4">
            <a:extLst>
              <a:ext uri="{FF2B5EF4-FFF2-40B4-BE49-F238E27FC236}">
                <a16:creationId xmlns:a16="http://schemas.microsoft.com/office/drawing/2014/main" id="{EED257CD-9CED-4EA3-88E5-48CA9D73288C}"/>
              </a:ext>
            </a:extLst>
          </p:cNvPr>
          <p:cNvSpPr>
            <a:spLocks noGrp="1"/>
          </p:cNvSpPr>
          <p:nvPr>
            <p:ph type="sldNum" sz="quarter" idx="18"/>
          </p:nvPr>
        </p:nvSpPr>
        <p:spPr/>
        <p:txBody>
          <a:bodyPr/>
          <a:lstStyle/>
          <a:p>
            <a:fld id="{548469FB-C78A-B94B-B04A-B5BC8C934F85}" type="slidenum">
              <a:rPr lang="en-US" smtClean="0"/>
              <a:t>23</a:t>
            </a:fld>
            <a:endParaRPr lang="en-US"/>
          </a:p>
        </p:txBody>
      </p:sp>
      <p:sp>
        <p:nvSpPr>
          <p:cNvPr id="8" name="Picture Placeholder 7">
            <a:extLst>
              <a:ext uri="{FF2B5EF4-FFF2-40B4-BE49-F238E27FC236}">
                <a16:creationId xmlns:a16="http://schemas.microsoft.com/office/drawing/2014/main" id="{A96D0492-12E9-AFDE-0697-8D4D5FCFFA3C}"/>
              </a:ext>
            </a:extLst>
          </p:cNvPr>
          <p:cNvSpPr>
            <a:spLocks noGrp="1"/>
          </p:cNvSpPr>
          <p:nvPr>
            <p:ph type="pic" sz="quarter" idx="12"/>
          </p:nvPr>
        </p:nvSpPr>
        <p:spPr/>
        <p:txBody>
          <a:bodyPr/>
          <a:lstStyle/>
          <a:p>
            <a:endParaRPr lang="en-US"/>
          </a:p>
        </p:txBody>
      </p:sp>
      <p:pic>
        <p:nvPicPr>
          <p:cNvPr id="1026" name="Picture 2" descr="A qr code on a white background&#10;&#10;AI-generated content may be incorrect.">
            <a:extLst>
              <a:ext uri="{FF2B5EF4-FFF2-40B4-BE49-F238E27FC236}">
                <a16:creationId xmlns:a16="http://schemas.microsoft.com/office/drawing/2014/main" id="{D9879EBA-70D8-1E0E-C1AC-1F20E73B1A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386" y="1048297"/>
            <a:ext cx="4606268" cy="460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860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5346A"/>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18AF9B-747D-7C5A-D764-4EC3D0D8B725}"/>
              </a:ext>
            </a:extLst>
          </p:cNvPr>
          <p:cNvSpPr>
            <a:spLocks noGrp="1"/>
          </p:cNvSpPr>
          <p:nvPr>
            <p:ph type="sldNum" sz="quarter" idx="12"/>
          </p:nvPr>
        </p:nvSpPr>
        <p:spPr/>
        <p:txBody>
          <a:bodyPr/>
          <a:lstStyle/>
          <a:p>
            <a:fld id="{548469FB-C78A-B94B-B04A-B5BC8C934F85}" type="slidenum">
              <a:rPr lang="en-US" smtClean="0"/>
              <a:t>24</a:t>
            </a:fld>
            <a:endParaRPr lang="en-US"/>
          </a:p>
        </p:txBody>
      </p:sp>
      <p:sp>
        <p:nvSpPr>
          <p:cNvPr id="4" name="TextBox 3">
            <a:extLst>
              <a:ext uri="{FF2B5EF4-FFF2-40B4-BE49-F238E27FC236}">
                <a16:creationId xmlns:a16="http://schemas.microsoft.com/office/drawing/2014/main" id="{6CE9BD00-1D46-7862-FD06-E92BA1EBE7C9}"/>
              </a:ext>
            </a:extLst>
          </p:cNvPr>
          <p:cNvSpPr txBox="1"/>
          <p:nvPr/>
        </p:nvSpPr>
        <p:spPr>
          <a:xfrm>
            <a:off x="1454423" y="1028343"/>
            <a:ext cx="9899377" cy="4801314"/>
          </a:xfrm>
          <a:prstGeom prst="rect">
            <a:avLst/>
          </a:prstGeom>
          <a:noFill/>
        </p:spPr>
        <p:txBody>
          <a:bodyPr wrap="none" rtlCol="0">
            <a:spAutoFit/>
          </a:bodyPr>
          <a:lstStyle/>
          <a:p>
            <a:pPr algn="ctr"/>
            <a:r>
              <a:rPr lang="en-US" sz="6600" b="1" dirty="0">
                <a:solidFill>
                  <a:schemeClr val="bg1"/>
                </a:solidFill>
                <a:latin typeface="Avenir Book" panose="02000503020000020003" pitchFamily="2" charset="0"/>
              </a:rPr>
              <a:t>Live Demonstration Time </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Cohort Building</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Dataset Building</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Analysis Environment</a:t>
            </a:r>
          </a:p>
        </p:txBody>
      </p:sp>
    </p:spTree>
    <p:extLst>
      <p:ext uri="{BB962C8B-B14F-4D97-AF65-F5344CB8AC3E}">
        <p14:creationId xmlns:p14="http://schemas.microsoft.com/office/powerpoint/2010/main" val="2017693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8cbebb-2139-4df8-b411-4e3e87abeb5c}" enabled="0" method="" siteId="{dd8cbebb-2139-4df8-b411-4e3e87abeb5c}" removed="1"/>
</clbl:labelList>
</file>

<file path=docProps/app.xml><?xml version="1.0" encoding="utf-8"?>
<Properties xmlns="http://schemas.openxmlformats.org/officeDocument/2006/extended-properties" xmlns:vt="http://schemas.openxmlformats.org/officeDocument/2006/docPropsVTypes">
  <TotalTime>44591</TotalTime>
  <Words>2513</Words>
  <Application>Microsoft Macintosh PowerPoint</Application>
  <PresentationFormat>Widescreen</PresentationFormat>
  <Paragraphs>390</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vt:lpstr>
      <vt:lpstr>Aptos Display</vt:lpstr>
      <vt:lpstr>Arial</vt:lpstr>
      <vt:lpstr>Avenir Book</vt:lpstr>
      <vt:lpstr>Courier New</vt:lpstr>
      <vt:lpstr>Georgia</vt:lpstr>
      <vt:lpstr>Poppins</vt:lpstr>
      <vt:lpstr>YaleNew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 Hierarchy for Condition “Atrial fibrillation”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Wegener, Maximilian</dc:creator>
  <cp:lastModifiedBy>Wegener, Maximilian</cp:lastModifiedBy>
  <cp:revision>94</cp:revision>
  <dcterms:created xsi:type="dcterms:W3CDTF">2025-01-10T18:33:58Z</dcterms:created>
  <dcterms:modified xsi:type="dcterms:W3CDTF">2026-01-30T14:07:59Z</dcterms:modified>
</cp:coreProperties>
</file>