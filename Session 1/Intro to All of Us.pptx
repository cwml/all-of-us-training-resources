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2"/>
  </p:notesMasterIdLst>
  <p:sldIdLst>
    <p:sldId id="262" r:id="rId2"/>
    <p:sldId id="381" r:id="rId3"/>
    <p:sldId id="398" r:id="rId4"/>
    <p:sldId id="377" r:id="rId5"/>
    <p:sldId id="276" r:id="rId6"/>
    <p:sldId id="277" r:id="rId7"/>
    <p:sldId id="399" r:id="rId8"/>
    <p:sldId id="361" r:id="rId9"/>
    <p:sldId id="278" r:id="rId10"/>
    <p:sldId id="362" r:id="rId11"/>
    <p:sldId id="363" r:id="rId12"/>
    <p:sldId id="405" r:id="rId13"/>
    <p:sldId id="364" r:id="rId14"/>
    <p:sldId id="365" r:id="rId15"/>
    <p:sldId id="412" r:id="rId16"/>
    <p:sldId id="408" r:id="rId17"/>
    <p:sldId id="409" r:id="rId18"/>
    <p:sldId id="410" r:id="rId19"/>
    <p:sldId id="416" r:id="rId20"/>
    <p:sldId id="403" r:id="rId21"/>
    <p:sldId id="366" r:id="rId22"/>
    <p:sldId id="404" r:id="rId23"/>
    <p:sldId id="367" r:id="rId24"/>
    <p:sldId id="368" r:id="rId25"/>
    <p:sldId id="369" r:id="rId26"/>
    <p:sldId id="370" r:id="rId27"/>
    <p:sldId id="268" r:id="rId28"/>
    <p:sldId id="407" r:id="rId29"/>
    <p:sldId id="415" r:id="rId30"/>
    <p:sldId id="401" r:id="rId31"/>
    <p:sldId id="400" r:id="rId32"/>
    <p:sldId id="402" r:id="rId33"/>
    <p:sldId id="371" r:id="rId34"/>
    <p:sldId id="373" r:id="rId35"/>
    <p:sldId id="406" r:id="rId36"/>
    <p:sldId id="374" r:id="rId37"/>
    <p:sldId id="375" r:id="rId38"/>
    <p:sldId id="376" r:id="rId39"/>
    <p:sldId id="378" r:id="rId40"/>
    <p:sldId id="41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A6351-75C9-6B47-B7E1-DE14CDAAC0D7}" v="17" dt="2026-01-29T20:46:02.260"/>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62"/>
    <p:restoredTop sz="65385"/>
  </p:normalViewPr>
  <p:slideViewPr>
    <p:cSldViewPr snapToGrid="0">
      <p:cViewPr varScale="1">
        <p:scale>
          <a:sx n="99" d="100"/>
          <a:sy n="99" d="100"/>
        </p:scale>
        <p:origin x="3432" y="184"/>
      </p:cViewPr>
      <p:guideLst>
        <p:guide orient="horz" pos="3336"/>
        <p:guide pos="3264"/>
        <p:guide pos="384"/>
        <p:guide orient="horz" pos="1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gener, Maximilian" userId="00319a47-5df7-4a7f-b5fd-8c1aef3f7443" providerId="ADAL" clId="{CF2CAE99-D8F5-51A4-A68C-79C1C32033F6}"/>
    <pc:docChg chg="undo custSel addSld delSld modSld sldOrd">
      <pc:chgData name="Wegener, Maximilian" userId="00319a47-5df7-4a7f-b5fd-8c1aef3f7443" providerId="ADAL" clId="{CF2CAE99-D8F5-51A4-A68C-79C1C32033F6}" dt="2026-01-29T20:46:44.865" v="3199" actId="20577"/>
      <pc:docMkLst>
        <pc:docMk/>
      </pc:docMkLst>
      <pc:sldChg chg="modNotesTx">
        <pc:chgData name="Wegener, Maximilian" userId="00319a47-5df7-4a7f-b5fd-8c1aef3f7443" providerId="ADAL" clId="{CF2CAE99-D8F5-51A4-A68C-79C1C32033F6}" dt="2026-01-29T20:46:44.865" v="3199" actId="20577"/>
        <pc:sldMkLst>
          <pc:docMk/>
          <pc:sldMk cId="2367016627" sldId="368"/>
        </pc:sldMkLst>
      </pc:sldChg>
      <pc:sldChg chg="addSp modSp add del mod ord modNotes">
        <pc:chgData name="Wegener, Maximilian" userId="00319a47-5df7-4a7f-b5fd-8c1aef3f7443" providerId="ADAL" clId="{CF2CAE99-D8F5-51A4-A68C-79C1C32033F6}" dt="2026-01-29T20:33:00.945" v="2555" actId="2696"/>
        <pc:sldMkLst>
          <pc:docMk/>
          <pc:sldMk cId="17989362" sldId="416"/>
        </pc:sldMkLst>
        <pc:picChg chg="add mod">
          <ac:chgData name="Wegener, Maximilian" userId="00319a47-5df7-4a7f-b5fd-8c1aef3f7443" providerId="ADAL" clId="{CF2CAE99-D8F5-51A4-A68C-79C1C32033F6}" dt="2026-01-29T20:31:08.330" v="2552"/>
          <ac:picMkLst>
            <pc:docMk/>
            <pc:sldMk cId="17989362" sldId="416"/>
            <ac:picMk id="5" creationId="{11A872DC-26C7-6BE8-4901-11FB4E2E37EA}"/>
          </ac:picMkLst>
        </pc:picChg>
      </pc:sldChg>
      <pc:sldChg chg="addSp delSp modSp new mod">
        <pc:chgData name="Wegener, Maximilian" userId="00319a47-5df7-4a7f-b5fd-8c1aef3f7443" providerId="ADAL" clId="{CF2CAE99-D8F5-51A4-A68C-79C1C32033F6}" dt="2026-01-29T20:40:35.410" v="2992" actId="20577"/>
        <pc:sldMkLst>
          <pc:docMk/>
          <pc:sldMk cId="1265380304" sldId="416"/>
        </pc:sldMkLst>
        <pc:spChg chg="del">
          <ac:chgData name="Wegener, Maximilian" userId="00319a47-5df7-4a7f-b5fd-8c1aef3f7443" providerId="ADAL" clId="{CF2CAE99-D8F5-51A4-A68C-79C1C32033F6}" dt="2026-01-29T20:34:42.914" v="2583" actId="478"/>
          <ac:spMkLst>
            <pc:docMk/>
            <pc:sldMk cId="1265380304" sldId="416"/>
            <ac:spMk id="2" creationId="{33EF2F05-2899-DF03-44E6-8D897B8E91AE}"/>
          </ac:spMkLst>
        </pc:spChg>
        <pc:spChg chg="mod">
          <ac:chgData name="Wegener, Maximilian" userId="00319a47-5df7-4a7f-b5fd-8c1aef3f7443" providerId="ADAL" clId="{CF2CAE99-D8F5-51A4-A68C-79C1C32033F6}" dt="2026-01-29T20:34:36.658" v="2581" actId="20577"/>
          <ac:spMkLst>
            <pc:docMk/>
            <pc:sldMk cId="1265380304" sldId="416"/>
            <ac:spMk id="3" creationId="{DB15BF82-222D-4F21-FC15-F9270DA65858}"/>
          </ac:spMkLst>
        </pc:spChg>
        <pc:spChg chg="del">
          <ac:chgData name="Wegener, Maximilian" userId="00319a47-5df7-4a7f-b5fd-8c1aef3f7443" providerId="ADAL" clId="{CF2CAE99-D8F5-51A4-A68C-79C1C32033F6}" dt="2026-01-29T20:34:38.972" v="2582" actId="478"/>
          <ac:spMkLst>
            <pc:docMk/>
            <pc:sldMk cId="1265380304" sldId="416"/>
            <ac:spMk id="4" creationId="{5AC895C3-3862-23E2-67EB-C96054C88E19}"/>
          </ac:spMkLst>
        </pc:spChg>
        <pc:spChg chg="add del mod">
          <ac:chgData name="Wegener, Maximilian" userId="00319a47-5df7-4a7f-b5fd-8c1aef3f7443" providerId="ADAL" clId="{CF2CAE99-D8F5-51A4-A68C-79C1C32033F6}" dt="2026-01-29T20:36:02.220" v="2589"/>
          <ac:spMkLst>
            <pc:docMk/>
            <pc:sldMk cId="1265380304" sldId="416"/>
            <ac:spMk id="6" creationId="{7C4A95BA-5B18-3310-5FA8-979D17F7A5A3}"/>
          </ac:spMkLst>
        </pc:spChg>
        <pc:spChg chg="add del mod">
          <ac:chgData name="Wegener, Maximilian" userId="00319a47-5df7-4a7f-b5fd-8c1aef3f7443" providerId="ADAL" clId="{CF2CAE99-D8F5-51A4-A68C-79C1C32033F6}" dt="2026-01-29T20:35:57.693" v="2587"/>
          <ac:spMkLst>
            <pc:docMk/>
            <pc:sldMk cId="1265380304" sldId="416"/>
            <ac:spMk id="7" creationId="{A885BDA9-A911-4D0E-0DD4-BFFF3E868C1E}"/>
          </ac:spMkLst>
        </pc:spChg>
        <pc:spChg chg="add mod">
          <ac:chgData name="Wegener, Maximilian" userId="00319a47-5df7-4a7f-b5fd-8c1aef3f7443" providerId="ADAL" clId="{CF2CAE99-D8F5-51A4-A68C-79C1C32033F6}" dt="2026-01-29T20:37:11.783" v="2775" actId="20577"/>
          <ac:spMkLst>
            <pc:docMk/>
            <pc:sldMk cId="1265380304" sldId="416"/>
            <ac:spMk id="8" creationId="{FB28D8FF-D33B-4062-B26E-B5631CF251CA}"/>
          </ac:spMkLst>
        </pc:spChg>
        <pc:spChg chg="add mod">
          <ac:chgData name="Wegener, Maximilian" userId="00319a47-5df7-4a7f-b5fd-8c1aef3f7443" providerId="ADAL" clId="{CF2CAE99-D8F5-51A4-A68C-79C1C32033F6}" dt="2026-01-29T20:40:35.410" v="2992" actId="20577"/>
          <ac:spMkLst>
            <pc:docMk/>
            <pc:sldMk cId="1265380304" sldId="416"/>
            <ac:spMk id="9" creationId="{05D4A543-36A2-AAFD-BF06-E8BDCAA0004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249F62-30CE-9042-9AED-A2AEB9BFD3EB}" type="doc">
      <dgm:prSet loTypeId="urn:microsoft.com/office/officeart/2005/8/layout/hierarchy4" loCatId="icon" qsTypeId="urn:microsoft.com/office/officeart/2005/8/quickstyle/simple1" qsCatId="simple" csTypeId="urn:microsoft.com/office/officeart/2005/8/colors/accent1_2" csCatId="accent1" phldr="1"/>
      <dgm:spPr/>
      <dgm:t>
        <a:bodyPr/>
        <a:lstStyle/>
        <a:p>
          <a:endParaRPr lang="en-US"/>
        </a:p>
      </dgm:t>
    </dgm:pt>
    <dgm:pt modelId="{6E2556F1-E3C1-BB45-874E-58A1D1812BEC}">
      <dgm:prSet/>
      <dgm:spPr/>
      <dgm:t>
        <a:bodyPr/>
        <a:lstStyle/>
        <a:p>
          <a:r>
            <a:rPr lang="en-US" dirty="0"/>
            <a:t>Measurements </a:t>
          </a:r>
        </a:p>
        <a:p>
          <a:r>
            <a:rPr lang="en-US" dirty="0"/>
            <a:t>(Domain)</a:t>
          </a:r>
        </a:p>
      </dgm:t>
    </dgm:pt>
    <dgm:pt modelId="{ADA19334-460C-9B4A-9147-B616CE39C3CB}" type="parTrans" cxnId="{1FD68A72-3D5A-AF4B-843E-B73D060BDD73}">
      <dgm:prSet/>
      <dgm:spPr/>
      <dgm:t>
        <a:bodyPr/>
        <a:lstStyle/>
        <a:p>
          <a:endParaRPr lang="en-US"/>
        </a:p>
      </dgm:t>
    </dgm:pt>
    <dgm:pt modelId="{50B5E7CF-BF1C-3B44-ABF3-06CC9ABAD175}" type="sibTrans" cxnId="{1FD68A72-3D5A-AF4B-843E-B73D060BDD73}">
      <dgm:prSet/>
      <dgm:spPr/>
      <dgm:t>
        <a:bodyPr/>
        <a:lstStyle/>
        <a:p>
          <a:endParaRPr lang="en-US"/>
        </a:p>
      </dgm:t>
    </dgm:pt>
    <dgm:pt modelId="{6C10E626-7573-0246-9461-7D6185093013}">
      <dgm:prSet/>
      <dgm:spPr/>
      <dgm:t>
        <a:bodyPr/>
        <a:lstStyle/>
        <a:p>
          <a:r>
            <a:rPr lang="en-US" dirty="0"/>
            <a:t>HCV RNA </a:t>
          </a:r>
        </a:p>
        <a:p>
          <a:r>
            <a:rPr lang="en-US" dirty="0"/>
            <a:t>(Concept)</a:t>
          </a:r>
        </a:p>
      </dgm:t>
    </dgm:pt>
    <dgm:pt modelId="{31DAF24D-F641-EF45-8319-50383AF01F45}" type="parTrans" cxnId="{AB61D253-A15A-D24A-AA41-DC656700B4D0}">
      <dgm:prSet/>
      <dgm:spPr/>
      <dgm:t>
        <a:bodyPr/>
        <a:lstStyle/>
        <a:p>
          <a:endParaRPr lang="en-US"/>
        </a:p>
      </dgm:t>
    </dgm:pt>
    <dgm:pt modelId="{910E5C33-F01C-364A-9FB8-0B44BA0C9D7E}" type="sibTrans" cxnId="{AB61D253-A15A-D24A-AA41-DC656700B4D0}">
      <dgm:prSet/>
      <dgm:spPr/>
      <dgm:t>
        <a:bodyPr/>
        <a:lstStyle/>
        <a:p>
          <a:endParaRPr lang="en-US"/>
        </a:p>
      </dgm:t>
    </dgm:pt>
    <dgm:pt modelId="{D0C64EAA-F180-B44B-A8CC-0A9EECA4D261}">
      <dgm:prSet/>
      <dgm:spPr/>
      <dgm:t>
        <a:bodyPr/>
        <a:lstStyle/>
        <a:p>
          <a:r>
            <a:rPr lang="en-US" dirty="0"/>
            <a:t>HBV surface antigen </a:t>
          </a:r>
        </a:p>
        <a:p>
          <a:r>
            <a:rPr lang="en-US" dirty="0"/>
            <a:t>(Concept)</a:t>
          </a:r>
        </a:p>
      </dgm:t>
    </dgm:pt>
    <dgm:pt modelId="{CCCA455C-E0CB-A149-B60D-C4E204FA0B84}" type="parTrans" cxnId="{D3725DDB-4520-5343-9E59-22345832B722}">
      <dgm:prSet/>
      <dgm:spPr/>
      <dgm:t>
        <a:bodyPr/>
        <a:lstStyle/>
        <a:p>
          <a:endParaRPr lang="en-US"/>
        </a:p>
      </dgm:t>
    </dgm:pt>
    <dgm:pt modelId="{FEBB7902-A278-DD46-8BC6-7ED3EAE5F813}" type="sibTrans" cxnId="{D3725DDB-4520-5343-9E59-22345832B722}">
      <dgm:prSet/>
      <dgm:spPr/>
      <dgm:t>
        <a:bodyPr/>
        <a:lstStyle/>
        <a:p>
          <a:endParaRPr lang="en-US"/>
        </a:p>
      </dgm:t>
    </dgm:pt>
    <dgm:pt modelId="{F27A03E4-BF0D-454B-B232-4B69D4FCEF85}">
      <dgm:prSet/>
      <dgm:spPr/>
      <dgm:t>
        <a:bodyPr/>
        <a:lstStyle/>
        <a:p>
          <a:r>
            <a:rPr lang="en-US" dirty="0"/>
            <a:t>HIV Ab </a:t>
          </a:r>
        </a:p>
        <a:p>
          <a:r>
            <a:rPr lang="en-US" dirty="0"/>
            <a:t>(Concept)</a:t>
          </a:r>
        </a:p>
      </dgm:t>
    </dgm:pt>
    <dgm:pt modelId="{63821A04-E3E3-B14A-A6EB-602D4E661892}" type="parTrans" cxnId="{3FF85C6D-FF12-0D40-983C-0A5EBBD24089}">
      <dgm:prSet/>
      <dgm:spPr/>
      <dgm:t>
        <a:bodyPr/>
        <a:lstStyle/>
        <a:p>
          <a:endParaRPr lang="en-US"/>
        </a:p>
      </dgm:t>
    </dgm:pt>
    <dgm:pt modelId="{1F7EF710-2CAE-2942-A621-E382855569B5}" type="sibTrans" cxnId="{3FF85C6D-FF12-0D40-983C-0A5EBBD24089}">
      <dgm:prSet/>
      <dgm:spPr/>
      <dgm:t>
        <a:bodyPr/>
        <a:lstStyle/>
        <a:p>
          <a:endParaRPr lang="en-US"/>
        </a:p>
      </dgm:t>
    </dgm:pt>
    <dgm:pt modelId="{90A88AAC-7229-104C-B436-289F0FD86029}">
      <dgm:prSet/>
      <dgm:spPr/>
      <dgm:t>
        <a:bodyPr/>
        <a:lstStyle/>
        <a:p>
          <a:r>
            <a:rPr lang="en-US" dirty="0"/>
            <a:t>HCV, HBV, HIV labs</a:t>
          </a:r>
        </a:p>
        <a:p>
          <a:r>
            <a:rPr lang="en-US" dirty="0"/>
            <a:t>(“Measurement” </a:t>
          </a:r>
          <a:r>
            <a:rPr lang="en-US" dirty="0">
              <a:latin typeface="Avenir Book" panose="02000503020000020003" pitchFamily="2" charset="0"/>
            </a:rPr>
            <a:t>Concept</a:t>
          </a:r>
          <a:r>
            <a:rPr lang="en-US" dirty="0"/>
            <a:t> Set)</a:t>
          </a:r>
        </a:p>
      </dgm:t>
    </dgm:pt>
    <dgm:pt modelId="{2249A61A-3D4E-154F-AE1B-374EE3E900A4}" type="parTrans" cxnId="{545A5CB3-D779-2C4D-8391-36AB26B243AB}">
      <dgm:prSet/>
      <dgm:spPr/>
      <dgm:t>
        <a:bodyPr/>
        <a:lstStyle/>
        <a:p>
          <a:endParaRPr lang="en-US"/>
        </a:p>
      </dgm:t>
    </dgm:pt>
    <dgm:pt modelId="{E6AF92F8-E977-F54D-8EC3-75D3D46A7CD9}" type="sibTrans" cxnId="{545A5CB3-D779-2C4D-8391-36AB26B243AB}">
      <dgm:prSet/>
      <dgm:spPr/>
      <dgm:t>
        <a:bodyPr/>
        <a:lstStyle/>
        <a:p>
          <a:endParaRPr lang="en-US"/>
        </a:p>
      </dgm:t>
    </dgm:pt>
    <dgm:pt modelId="{487B698C-331E-F346-B394-A981B02EEFED}" type="pres">
      <dgm:prSet presAssocID="{B5249F62-30CE-9042-9AED-A2AEB9BFD3EB}" presName="Name0" presStyleCnt="0">
        <dgm:presLayoutVars>
          <dgm:chPref val="1"/>
          <dgm:dir/>
          <dgm:animOne val="branch"/>
          <dgm:animLvl val="lvl"/>
          <dgm:resizeHandles/>
        </dgm:presLayoutVars>
      </dgm:prSet>
      <dgm:spPr/>
    </dgm:pt>
    <dgm:pt modelId="{4061C55E-C5AD-BD49-A495-B8E45F06F142}" type="pres">
      <dgm:prSet presAssocID="{6E2556F1-E3C1-BB45-874E-58A1D1812BEC}" presName="vertOne" presStyleCnt="0"/>
      <dgm:spPr/>
    </dgm:pt>
    <dgm:pt modelId="{3E4BD884-5CDE-BF48-9972-5090201A2E3A}" type="pres">
      <dgm:prSet presAssocID="{6E2556F1-E3C1-BB45-874E-58A1D1812BEC}" presName="txOne" presStyleLbl="node0" presStyleIdx="0" presStyleCnt="1">
        <dgm:presLayoutVars>
          <dgm:chPref val="3"/>
        </dgm:presLayoutVars>
      </dgm:prSet>
      <dgm:spPr/>
    </dgm:pt>
    <dgm:pt modelId="{52F87275-846E-3248-AC63-9AF54E3A7A7C}" type="pres">
      <dgm:prSet presAssocID="{6E2556F1-E3C1-BB45-874E-58A1D1812BEC}" presName="parTransOne" presStyleCnt="0"/>
      <dgm:spPr/>
    </dgm:pt>
    <dgm:pt modelId="{6E8FF806-FA36-594F-A1BA-84559B003394}" type="pres">
      <dgm:prSet presAssocID="{6E2556F1-E3C1-BB45-874E-58A1D1812BEC}" presName="horzOne" presStyleCnt="0"/>
      <dgm:spPr/>
    </dgm:pt>
    <dgm:pt modelId="{6FFF501B-EFF4-2141-A74B-A989B02664F3}" type="pres">
      <dgm:prSet presAssocID="{6C10E626-7573-0246-9461-7D6185093013}" presName="vertTwo" presStyleCnt="0"/>
      <dgm:spPr/>
    </dgm:pt>
    <dgm:pt modelId="{D1B077CC-2CAA-A844-8F00-C975737EC354}" type="pres">
      <dgm:prSet presAssocID="{6C10E626-7573-0246-9461-7D6185093013}" presName="txTwo" presStyleLbl="node2" presStyleIdx="0" presStyleCnt="3">
        <dgm:presLayoutVars>
          <dgm:chPref val="3"/>
        </dgm:presLayoutVars>
      </dgm:prSet>
      <dgm:spPr/>
    </dgm:pt>
    <dgm:pt modelId="{73449CD2-6F04-0842-9D8A-CB42073C076F}" type="pres">
      <dgm:prSet presAssocID="{6C10E626-7573-0246-9461-7D6185093013}" presName="horzTwo" presStyleCnt="0"/>
      <dgm:spPr/>
    </dgm:pt>
    <dgm:pt modelId="{814936FF-86FA-4940-A511-0C0938733AEF}" type="pres">
      <dgm:prSet presAssocID="{910E5C33-F01C-364A-9FB8-0B44BA0C9D7E}" presName="sibSpaceTwo" presStyleCnt="0"/>
      <dgm:spPr/>
    </dgm:pt>
    <dgm:pt modelId="{DB61D31F-C37E-904F-8157-5E748A66967C}" type="pres">
      <dgm:prSet presAssocID="{D0C64EAA-F180-B44B-A8CC-0A9EECA4D261}" presName="vertTwo" presStyleCnt="0"/>
      <dgm:spPr/>
    </dgm:pt>
    <dgm:pt modelId="{24A551BB-454C-514E-8DDD-EC891D022E9E}" type="pres">
      <dgm:prSet presAssocID="{D0C64EAA-F180-B44B-A8CC-0A9EECA4D261}" presName="txTwo" presStyleLbl="node2" presStyleIdx="1" presStyleCnt="3">
        <dgm:presLayoutVars>
          <dgm:chPref val="3"/>
        </dgm:presLayoutVars>
      </dgm:prSet>
      <dgm:spPr/>
    </dgm:pt>
    <dgm:pt modelId="{8C404072-A0D5-D948-A5BE-54704C073DF2}" type="pres">
      <dgm:prSet presAssocID="{D0C64EAA-F180-B44B-A8CC-0A9EECA4D261}" presName="horzTwo" presStyleCnt="0"/>
      <dgm:spPr/>
    </dgm:pt>
    <dgm:pt modelId="{125CE4C9-C8C6-DD4B-84BB-E8F3F27619EB}" type="pres">
      <dgm:prSet presAssocID="{FEBB7902-A278-DD46-8BC6-7ED3EAE5F813}" presName="sibSpaceTwo" presStyleCnt="0"/>
      <dgm:spPr/>
    </dgm:pt>
    <dgm:pt modelId="{7BFE976B-364A-A94E-80A8-CD431F3AE319}" type="pres">
      <dgm:prSet presAssocID="{F27A03E4-BF0D-454B-B232-4B69D4FCEF85}" presName="vertTwo" presStyleCnt="0"/>
      <dgm:spPr/>
    </dgm:pt>
    <dgm:pt modelId="{F71C91BA-3FF3-5D4A-A3C2-7BF050E31AE7}" type="pres">
      <dgm:prSet presAssocID="{F27A03E4-BF0D-454B-B232-4B69D4FCEF85}" presName="txTwo" presStyleLbl="node2" presStyleIdx="2" presStyleCnt="3">
        <dgm:presLayoutVars>
          <dgm:chPref val="3"/>
        </dgm:presLayoutVars>
      </dgm:prSet>
      <dgm:spPr/>
    </dgm:pt>
    <dgm:pt modelId="{2D74488C-536B-D748-822D-FC9A13839A21}" type="pres">
      <dgm:prSet presAssocID="{F27A03E4-BF0D-454B-B232-4B69D4FCEF85}" presName="parTransTwo" presStyleCnt="0"/>
      <dgm:spPr/>
    </dgm:pt>
    <dgm:pt modelId="{12AB2086-24F7-8544-927D-3CB5C814A461}" type="pres">
      <dgm:prSet presAssocID="{F27A03E4-BF0D-454B-B232-4B69D4FCEF85}" presName="horzTwo" presStyleCnt="0"/>
      <dgm:spPr/>
    </dgm:pt>
    <dgm:pt modelId="{36AB126C-5FCC-3B43-8CDA-B38C9CFF0C24}" type="pres">
      <dgm:prSet presAssocID="{90A88AAC-7229-104C-B436-289F0FD86029}" presName="vertThree" presStyleCnt="0"/>
      <dgm:spPr/>
    </dgm:pt>
    <dgm:pt modelId="{DD78D3D3-E9D3-1B47-9AEF-70E2E20C88B0}" type="pres">
      <dgm:prSet presAssocID="{90A88AAC-7229-104C-B436-289F0FD86029}" presName="txThree" presStyleLbl="node3" presStyleIdx="0" presStyleCnt="1" custScaleX="148158" custLinFactX="-21518" custLinFactNeighborX="-100000" custLinFactNeighborY="-9188">
        <dgm:presLayoutVars>
          <dgm:chPref val="3"/>
        </dgm:presLayoutVars>
      </dgm:prSet>
      <dgm:spPr/>
    </dgm:pt>
    <dgm:pt modelId="{5571BD1E-688C-024A-BC97-D517C2CF0F70}" type="pres">
      <dgm:prSet presAssocID="{90A88AAC-7229-104C-B436-289F0FD86029}" presName="horzThree" presStyleCnt="0"/>
      <dgm:spPr/>
    </dgm:pt>
  </dgm:ptLst>
  <dgm:cxnLst>
    <dgm:cxn modelId="{13EE2F1F-BCBE-2A45-AA99-F29D721D3A92}" type="presOf" srcId="{D0C64EAA-F180-B44B-A8CC-0A9EECA4D261}" destId="{24A551BB-454C-514E-8DDD-EC891D022E9E}" srcOrd="0" destOrd="0" presId="urn:microsoft.com/office/officeart/2005/8/layout/hierarchy4"/>
    <dgm:cxn modelId="{0204A82D-7217-3548-8C98-9118FE0A2BF1}" type="presOf" srcId="{6E2556F1-E3C1-BB45-874E-58A1D1812BEC}" destId="{3E4BD884-5CDE-BF48-9972-5090201A2E3A}" srcOrd="0" destOrd="0" presId="urn:microsoft.com/office/officeart/2005/8/layout/hierarchy4"/>
    <dgm:cxn modelId="{AB61D253-A15A-D24A-AA41-DC656700B4D0}" srcId="{6E2556F1-E3C1-BB45-874E-58A1D1812BEC}" destId="{6C10E626-7573-0246-9461-7D6185093013}" srcOrd="0" destOrd="0" parTransId="{31DAF24D-F641-EF45-8319-50383AF01F45}" sibTransId="{910E5C33-F01C-364A-9FB8-0B44BA0C9D7E}"/>
    <dgm:cxn modelId="{000B6B57-4B76-C74B-9D33-46FFC62C33E6}" type="presOf" srcId="{90A88AAC-7229-104C-B436-289F0FD86029}" destId="{DD78D3D3-E9D3-1B47-9AEF-70E2E20C88B0}" srcOrd="0" destOrd="0" presId="urn:microsoft.com/office/officeart/2005/8/layout/hierarchy4"/>
    <dgm:cxn modelId="{3FF85C6D-FF12-0D40-983C-0A5EBBD24089}" srcId="{6E2556F1-E3C1-BB45-874E-58A1D1812BEC}" destId="{F27A03E4-BF0D-454B-B232-4B69D4FCEF85}" srcOrd="2" destOrd="0" parTransId="{63821A04-E3E3-B14A-A6EB-602D4E661892}" sibTransId="{1F7EF710-2CAE-2942-A621-E382855569B5}"/>
    <dgm:cxn modelId="{1FD68A72-3D5A-AF4B-843E-B73D060BDD73}" srcId="{B5249F62-30CE-9042-9AED-A2AEB9BFD3EB}" destId="{6E2556F1-E3C1-BB45-874E-58A1D1812BEC}" srcOrd="0" destOrd="0" parTransId="{ADA19334-460C-9B4A-9147-B616CE39C3CB}" sibTransId="{50B5E7CF-BF1C-3B44-ABF3-06CC9ABAD175}"/>
    <dgm:cxn modelId="{87633290-E2F8-4B48-A708-67C1DB2BA3A2}" type="presOf" srcId="{B5249F62-30CE-9042-9AED-A2AEB9BFD3EB}" destId="{487B698C-331E-F346-B394-A981B02EEFED}" srcOrd="0" destOrd="0" presId="urn:microsoft.com/office/officeart/2005/8/layout/hierarchy4"/>
    <dgm:cxn modelId="{8F955A91-30F0-0844-9BFA-B37AE21F153F}" type="presOf" srcId="{F27A03E4-BF0D-454B-B232-4B69D4FCEF85}" destId="{F71C91BA-3FF3-5D4A-A3C2-7BF050E31AE7}" srcOrd="0" destOrd="0" presId="urn:microsoft.com/office/officeart/2005/8/layout/hierarchy4"/>
    <dgm:cxn modelId="{545A5CB3-D779-2C4D-8391-36AB26B243AB}" srcId="{F27A03E4-BF0D-454B-B232-4B69D4FCEF85}" destId="{90A88AAC-7229-104C-B436-289F0FD86029}" srcOrd="0" destOrd="0" parTransId="{2249A61A-3D4E-154F-AE1B-374EE3E900A4}" sibTransId="{E6AF92F8-E977-F54D-8EC3-75D3D46A7CD9}"/>
    <dgm:cxn modelId="{D3725DDB-4520-5343-9E59-22345832B722}" srcId="{6E2556F1-E3C1-BB45-874E-58A1D1812BEC}" destId="{D0C64EAA-F180-B44B-A8CC-0A9EECA4D261}" srcOrd="1" destOrd="0" parTransId="{CCCA455C-E0CB-A149-B60D-C4E204FA0B84}" sibTransId="{FEBB7902-A278-DD46-8BC6-7ED3EAE5F813}"/>
    <dgm:cxn modelId="{01B7BAED-6C24-5C4E-A7FF-44CB3CDB51FE}" type="presOf" srcId="{6C10E626-7573-0246-9461-7D6185093013}" destId="{D1B077CC-2CAA-A844-8F00-C975737EC354}" srcOrd="0" destOrd="0" presId="urn:microsoft.com/office/officeart/2005/8/layout/hierarchy4"/>
    <dgm:cxn modelId="{9C111935-E04C-5448-93C0-834522B3E577}" type="presParOf" srcId="{487B698C-331E-F346-B394-A981B02EEFED}" destId="{4061C55E-C5AD-BD49-A495-B8E45F06F142}" srcOrd="0" destOrd="0" presId="urn:microsoft.com/office/officeart/2005/8/layout/hierarchy4"/>
    <dgm:cxn modelId="{61E20CDD-E544-5A49-9477-948E53AEF841}" type="presParOf" srcId="{4061C55E-C5AD-BD49-A495-B8E45F06F142}" destId="{3E4BD884-5CDE-BF48-9972-5090201A2E3A}" srcOrd="0" destOrd="0" presId="urn:microsoft.com/office/officeart/2005/8/layout/hierarchy4"/>
    <dgm:cxn modelId="{32629CB1-0655-2E40-A416-8510A5989D21}" type="presParOf" srcId="{4061C55E-C5AD-BD49-A495-B8E45F06F142}" destId="{52F87275-846E-3248-AC63-9AF54E3A7A7C}" srcOrd="1" destOrd="0" presId="urn:microsoft.com/office/officeart/2005/8/layout/hierarchy4"/>
    <dgm:cxn modelId="{302929D2-51A5-C94B-8386-C3555B529776}" type="presParOf" srcId="{4061C55E-C5AD-BD49-A495-B8E45F06F142}" destId="{6E8FF806-FA36-594F-A1BA-84559B003394}" srcOrd="2" destOrd="0" presId="urn:microsoft.com/office/officeart/2005/8/layout/hierarchy4"/>
    <dgm:cxn modelId="{4C89ACC1-98B5-7547-AB8C-69D75BC5B65A}" type="presParOf" srcId="{6E8FF806-FA36-594F-A1BA-84559B003394}" destId="{6FFF501B-EFF4-2141-A74B-A989B02664F3}" srcOrd="0" destOrd="0" presId="urn:microsoft.com/office/officeart/2005/8/layout/hierarchy4"/>
    <dgm:cxn modelId="{960F7B5E-0754-8048-A8C9-A1CFD1BC99FA}" type="presParOf" srcId="{6FFF501B-EFF4-2141-A74B-A989B02664F3}" destId="{D1B077CC-2CAA-A844-8F00-C975737EC354}" srcOrd="0" destOrd="0" presId="urn:microsoft.com/office/officeart/2005/8/layout/hierarchy4"/>
    <dgm:cxn modelId="{07FB6410-17F9-5245-8290-EFC888653E47}" type="presParOf" srcId="{6FFF501B-EFF4-2141-A74B-A989B02664F3}" destId="{73449CD2-6F04-0842-9D8A-CB42073C076F}" srcOrd="1" destOrd="0" presId="urn:microsoft.com/office/officeart/2005/8/layout/hierarchy4"/>
    <dgm:cxn modelId="{649D7CF9-3DEC-7643-9F1C-4B09BBF4D27D}" type="presParOf" srcId="{6E8FF806-FA36-594F-A1BA-84559B003394}" destId="{814936FF-86FA-4940-A511-0C0938733AEF}" srcOrd="1" destOrd="0" presId="urn:microsoft.com/office/officeart/2005/8/layout/hierarchy4"/>
    <dgm:cxn modelId="{50A88105-63B8-E34D-9336-0C0AA8FD0B24}" type="presParOf" srcId="{6E8FF806-FA36-594F-A1BA-84559B003394}" destId="{DB61D31F-C37E-904F-8157-5E748A66967C}" srcOrd="2" destOrd="0" presId="urn:microsoft.com/office/officeart/2005/8/layout/hierarchy4"/>
    <dgm:cxn modelId="{F4F45662-6DD9-6D42-948C-D389A26C153F}" type="presParOf" srcId="{DB61D31F-C37E-904F-8157-5E748A66967C}" destId="{24A551BB-454C-514E-8DDD-EC891D022E9E}" srcOrd="0" destOrd="0" presId="urn:microsoft.com/office/officeart/2005/8/layout/hierarchy4"/>
    <dgm:cxn modelId="{604100AC-F936-2F47-91CB-0B0235B6083E}" type="presParOf" srcId="{DB61D31F-C37E-904F-8157-5E748A66967C}" destId="{8C404072-A0D5-D948-A5BE-54704C073DF2}" srcOrd="1" destOrd="0" presId="urn:microsoft.com/office/officeart/2005/8/layout/hierarchy4"/>
    <dgm:cxn modelId="{E58E188F-06F4-C748-A78C-2006BF17B53C}" type="presParOf" srcId="{6E8FF806-FA36-594F-A1BA-84559B003394}" destId="{125CE4C9-C8C6-DD4B-84BB-E8F3F27619EB}" srcOrd="3" destOrd="0" presId="urn:microsoft.com/office/officeart/2005/8/layout/hierarchy4"/>
    <dgm:cxn modelId="{3085F8E7-6EC6-CD4F-A32A-BD6302964577}" type="presParOf" srcId="{6E8FF806-FA36-594F-A1BA-84559B003394}" destId="{7BFE976B-364A-A94E-80A8-CD431F3AE319}" srcOrd="4" destOrd="0" presId="urn:microsoft.com/office/officeart/2005/8/layout/hierarchy4"/>
    <dgm:cxn modelId="{E30CBB28-BE24-5A45-B583-A6C143E878EB}" type="presParOf" srcId="{7BFE976B-364A-A94E-80A8-CD431F3AE319}" destId="{F71C91BA-3FF3-5D4A-A3C2-7BF050E31AE7}" srcOrd="0" destOrd="0" presId="urn:microsoft.com/office/officeart/2005/8/layout/hierarchy4"/>
    <dgm:cxn modelId="{65B520F2-302E-F94C-BE6C-1E057885D4F2}" type="presParOf" srcId="{7BFE976B-364A-A94E-80A8-CD431F3AE319}" destId="{2D74488C-536B-D748-822D-FC9A13839A21}" srcOrd="1" destOrd="0" presId="urn:microsoft.com/office/officeart/2005/8/layout/hierarchy4"/>
    <dgm:cxn modelId="{7555E703-B502-5F4E-AA45-54B8B4B019E8}" type="presParOf" srcId="{7BFE976B-364A-A94E-80A8-CD431F3AE319}" destId="{12AB2086-24F7-8544-927D-3CB5C814A461}" srcOrd="2" destOrd="0" presId="urn:microsoft.com/office/officeart/2005/8/layout/hierarchy4"/>
    <dgm:cxn modelId="{1CD69F52-8817-B349-B856-840A99239CB8}" type="presParOf" srcId="{12AB2086-24F7-8544-927D-3CB5C814A461}" destId="{36AB126C-5FCC-3B43-8CDA-B38C9CFF0C24}" srcOrd="0" destOrd="0" presId="urn:microsoft.com/office/officeart/2005/8/layout/hierarchy4"/>
    <dgm:cxn modelId="{C68E10F8-6DFC-694A-A33C-75162535ECA0}" type="presParOf" srcId="{36AB126C-5FCC-3B43-8CDA-B38C9CFF0C24}" destId="{DD78D3D3-E9D3-1B47-9AEF-70E2E20C88B0}" srcOrd="0" destOrd="0" presId="urn:microsoft.com/office/officeart/2005/8/layout/hierarchy4"/>
    <dgm:cxn modelId="{23C37FBE-A688-FA43-952C-5DF0DC4EFF2F}" type="presParOf" srcId="{36AB126C-5FCC-3B43-8CDA-B38C9CFF0C24}" destId="{5571BD1E-688C-024A-BC97-D517C2CF0F70}"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363227-6E86-AA43-9DBE-A8AC6B4BCF46}"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71C6CD16-2779-CD40-8010-3F2D77154F7A}">
      <dgm:prSet phldrT="[Text]"/>
      <dgm:spPr/>
      <dgm:t>
        <a:bodyPr/>
        <a:lstStyle/>
        <a:p>
          <a:r>
            <a:rPr lang="en-US" dirty="0"/>
            <a:t>Heart disease</a:t>
          </a:r>
        </a:p>
      </dgm:t>
    </dgm:pt>
    <dgm:pt modelId="{C3E2937B-01E1-FE4C-A307-391FF97CA389}" type="parTrans" cxnId="{97D9B946-DF21-6D4C-BA53-79C157949ADA}">
      <dgm:prSet/>
      <dgm:spPr/>
      <dgm:t>
        <a:bodyPr/>
        <a:lstStyle/>
        <a:p>
          <a:endParaRPr lang="en-US"/>
        </a:p>
      </dgm:t>
    </dgm:pt>
    <dgm:pt modelId="{7E6F3BF8-61BB-5140-B219-C6C24F333F46}" type="sibTrans" cxnId="{97D9B946-DF21-6D4C-BA53-79C157949ADA}">
      <dgm:prSet/>
      <dgm:spPr/>
      <dgm:t>
        <a:bodyPr/>
        <a:lstStyle/>
        <a:p>
          <a:endParaRPr lang="en-US"/>
        </a:p>
      </dgm:t>
    </dgm:pt>
    <dgm:pt modelId="{9F3676FF-94D9-F54A-BC32-96CFA26312C8}">
      <dgm:prSet phldrT="[Text]"/>
      <dgm:spPr/>
      <dgm:t>
        <a:bodyPr/>
        <a:lstStyle/>
        <a:p>
          <a:r>
            <a:rPr lang="en-US" dirty="0"/>
            <a:t>Acute heart disease</a:t>
          </a:r>
        </a:p>
      </dgm:t>
    </dgm:pt>
    <dgm:pt modelId="{0522DA5C-FBDC-9449-9A57-E8D3C662C728}" type="parTrans" cxnId="{1B0906B8-5AE5-454C-B4AA-81A7FB09E1EF}">
      <dgm:prSet/>
      <dgm:spPr/>
      <dgm:t>
        <a:bodyPr/>
        <a:lstStyle/>
        <a:p>
          <a:endParaRPr lang="en-US"/>
        </a:p>
      </dgm:t>
    </dgm:pt>
    <dgm:pt modelId="{AD979E7E-43BF-EF45-921A-199AF1C9CE82}" type="sibTrans" cxnId="{1B0906B8-5AE5-454C-B4AA-81A7FB09E1EF}">
      <dgm:prSet/>
      <dgm:spPr/>
      <dgm:t>
        <a:bodyPr/>
        <a:lstStyle/>
        <a:p>
          <a:endParaRPr lang="en-US"/>
        </a:p>
      </dgm:t>
    </dgm:pt>
    <dgm:pt modelId="{AF370BE0-D668-F94E-AF1B-9CD669EA8856}">
      <dgm:prSet phldrT="[Text]"/>
      <dgm:spPr/>
      <dgm:t>
        <a:bodyPr/>
        <a:lstStyle/>
        <a:p>
          <a:r>
            <a:rPr lang="en-US" dirty="0"/>
            <a:t>Athlete's heart</a:t>
          </a:r>
        </a:p>
      </dgm:t>
    </dgm:pt>
    <dgm:pt modelId="{304DA6B0-F6C4-8A4E-ACC9-DC2FA2D4DDFF}" type="parTrans" cxnId="{D2C42065-DE6A-E544-8332-424F7E362653}">
      <dgm:prSet/>
      <dgm:spPr/>
      <dgm:t>
        <a:bodyPr/>
        <a:lstStyle/>
        <a:p>
          <a:endParaRPr lang="en-US"/>
        </a:p>
      </dgm:t>
    </dgm:pt>
    <dgm:pt modelId="{C981A65B-DD5B-0041-B5F9-A8AD67ABD0DB}" type="sibTrans" cxnId="{D2C42065-DE6A-E544-8332-424F7E362653}">
      <dgm:prSet/>
      <dgm:spPr/>
      <dgm:t>
        <a:bodyPr/>
        <a:lstStyle/>
        <a:p>
          <a:endParaRPr lang="en-US"/>
        </a:p>
      </dgm:t>
    </dgm:pt>
    <dgm:pt modelId="{C417E01D-F827-9746-86C8-5A6C32CEC114}">
      <dgm:prSet phldrT="[Text]"/>
      <dgm:spPr/>
      <dgm:t>
        <a:bodyPr/>
        <a:lstStyle/>
        <a:p>
          <a:r>
            <a:rPr lang="en-US" dirty="0"/>
            <a:t>Cardiac arrhythmia</a:t>
          </a:r>
        </a:p>
      </dgm:t>
    </dgm:pt>
    <dgm:pt modelId="{14A2E2CB-C2A3-A544-9872-9D64E1A28B66}" type="parTrans" cxnId="{35AB7EC5-6C1D-9448-B808-6B5C433E4F0B}">
      <dgm:prSet/>
      <dgm:spPr/>
      <dgm:t>
        <a:bodyPr/>
        <a:lstStyle/>
        <a:p>
          <a:endParaRPr lang="en-US"/>
        </a:p>
      </dgm:t>
    </dgm:pt>
    <dgm:pt modelId="{4AF1BA4C-89E9-0E41-B21F-9EB96431971A}" type="sibTrans" cxnId="{35AB7EC5-6C1D-9448-B808-6B5C433E4F0B}">
      <dgm:prSet/>
      <dgm:spPr/>
      <dgm:t>
        <a:bodyPr/>
        <a:lstStyle/>
        <a:p>
          <a:endParaRPr lang="en-US"/>
        </a:p>
      </dgm:t>
    </dgm:pt>
    <dgm:pt modelId="{AF3EACD1-05E0-F145-AD1A-089542EBFD2A}">
      <dgm:prSet/>
      <dgm:spPr/>
      <dgm:t>
        <a:bodyPr/>
        <a:lstStyle/>
        <a:p>
          <a:r>
            <a:rPr lang="en-US" dirty="0"/>
            <a:t>Cardiac arrest</a:t>
          </a:r>
        </a:p>
      </dgm:t>
    </dgm:pt>
    <dgm:pt modelId="{B37A6EA9-78A4-504E-8197-FC765E6535C0}" type="parTrans" cxnId="{FC620447-9E54-024B-8403-E31039E7365B}">
      <dgm:prSet/>
      <dgm:spPr/>
      <dgm:t>
        <a:bodyPr/>
        <a:lstStyle/>
        <a:p>
          <a:endParaRPr lang="en-US"/>
        </a:p>
      </dgm:t>
    </dgm:pt>
    <dgm:pt modelId="{8C500C70-D0EA-004D-B77F-2AA39E6A3D02}" type="sibTrans" cxnId="{FC620447-9E54-024B-8403-E31039E7365B}">
      <dgm:prSet/>
      <dgm:spPr/>
      <dgm:t>
        <a:bodyPr/>
        <a:lstStyle/>
        <a:p>
          <a:endParaRPr lang="en-US"/>
        </a:p>
      </dgm:t>
    </dgm:pt>
    <dgm:pt modelId="{4710E373-3EC1-B644-B79A-E563C1933574}">
      <dgm:prSet/>
      <dgm:spPr/>
      <dgm:t>
        <a:bodyPr/>
        <a:lstStyle/>
        <a:p>
          <a:r>
            <a:rPr lang="en-US" dirty="0"/>
            <a:t>Supraventricular arrythmia</a:t>
          </a:r>
        </a:p>
      </dgm:t>
    </dgm:pt>
    <dgm:pt modelId="{F92E98F3-137A-CB47-83A1-2B09C8594BA7}" type="parTrans" cxnId="{EE1EF849-5D8B-8246-A673-9D874912A815}">
      <dgm:prSet/>
      <dgm:spPr/>
      <dgm:t>
        <a:bodyPr/>
        <a:lstStyle/>
        <a:p>
          <a:endParaRPr lang="en-US"/>
        </a:p>
      </dgm:t>
    </dgm:pt>
    <dgm:pt modelId="{CCB95A86-9DD3-9542-BBBD-C9D1E82BC8A5}" type="sibTrans" cxnId="{EE1EF849-5D8B-8246-A673-9D874912A815}">
      <dgm:prSet/>
      <dgm:spPr/>
      <dgm:t>
        <a:bodyPr/>
        <a:lstStyle/>
        <a:p>
          <a:endParaRPr lang="en-US"/>
        </a:p>
      </dgm:t>
    </dgm:pt>
    <dgm:pt modelId="{7954507D-600A-0A4F-8CBC-239B3E9FC6B6}">
      <dgm:prSet/>
      <dgm:spPr>
        <a:solidFill>
          <a:schemeClr val="accent2">
            <a:lumMod val="20000"/>
            <a:lumOff val="80000"/>
          </a:schemeClr>
        </a:solidFill>
      </dgm:spPr>
      <dgm:t>
        <a:bodyPr/>
        <a:lstStyle/>
        <a:p>
          <a:r>
            <a:rPr lang="en-US" dirty="0"/>
            <a:t>Atrial fibrillation</a:t>
          </a:r>
        </a:p>
      </dgm:t>
    </dgm:pt>
    <dgm:pt modelId="{3E19AB49-D0E3-654F-8965-D16D5847856E}" type="parTrans" cxnId="{701D7618-A4E6-544C-8374-053A8714E38D}">
      <dgm:prSet/>
      <dgm:spPr/>
      <dgm:t>
        <a:bodyPr/>
        <a:lstStyle/>
        <a:p>
          <a:endParaRPr lang="en-US"/>
        </a:p>
      </dgm:t>
    </dgm:pt>
    <dgm:pt modelId="{CB63FE1D-3111-7B4A-A9A9-CA2EFD4BD362}" type="sibTrans" cxnId="{701D7618-A4E6-544C-8374-053A8714E38D}">
      <dgm:prSet/>
      <dgm:spPr/>
      <dgm:t>
        <a:bodyPr/>
        <a:lstStyle/>
        <a:p>
          <a:endParaRPr lang="en-US"/>
        </a:p>
      </dgm:t>
    </dgm:pt>
    <dgm:pt modelId="{494077E8-5E6D-5B4E-9FB2-0A17A295C47C}">
      <dgm:prSet/>
      <dgm:spPr/>
      <dgm:t>
        <a:bodyPr/>
        <a:lstStyle/>
        <a:p>
          <a:r>
            <a:rPr lang="en-US" dirty="0"/>
            <a:t>Etc.</a:t>
          </a:r>
        </a:p>
      </dgm:t>
    </dgm:pt>
    <dgm:pt modelId="{BA69E823-7A07-F34B-A06D-0AE38CCB1F96}" type="parTrans" cxnId="{39D68D21-4A25-5C45-8DF4-23B18D81CD56}">
      <dgm:prSet/>
      <dgm:spPr/>
      <dgm:t>
        <a:bodyPr/>
        <a:lstStyle/>
        <a:p>
          <a:endParaRPr lang="en-US"/>
        </a:p>
      </dgm:t>
    </dgm:pt>
    <dgm:pt modelId="{504470BC-A19A-C645-9767-8A4701A526AF}" type="sibTrans" cxnId="{39D68D21-4A25-5C45-8DF4-23B18D81CD56}">
      <dgm:prSet/>
      <dgm:spPr/>
      <dgm:t>
        <a:bodyPr/>
        <a:lstStyle/>
        <a:p>
          <a:endParaRPr lang="en-US"/>
        </a:p>
      </dgm:t>
    </dgm:pt>
    <dgm:pt modelId="{5BB98DEA-3F2A-A544-92EB-F67EF402D31D}">
      <dgm:prSet/>
      <dgm:spPr/>
      <dgm:t>
        <a:bodyPr/>
        <a:lstStyle/>
        <a:p>
          <a:r>
            <a:rPr lang="en-US" dirty="0"/>
            <a:t>Etc.</a:t>
          </a:r>
        </a:p>
      </dgm:t>
    </dgm:pt>
    <dgm:pt modelId="{95A7CD37-315A-9C42-BE0D-C8499652D7B1}" type="parTrans" cxnId="{220ABDB6-C557-944E-9589-D3F0BDDC6B15}">
      <dgm:prSet/>
      <dgm:spPr/>
      <dgm:t>
        <a:bodyPr/>
        <a:lstStyle/>
        <a:p>
          <a:endParaRPr lang="en-US"/>
        </a:p>
      </dgm:t>
    </dgm:pt>
    <dgm:pt modelId="{EB05DE2D-BCB1-C64E-A28F-E3974537225F}" type="sibTrans" cxnId="{220ABDB6-C557-944E-9589-D3F0BDDC6B15}">
      <dgm:prSet/>
      <dgm:spPr/>
      <dgm:t>
        <a:bodyPr/>
        <a:lstStyle/>
        <a:p>
          <a:endParaRPr lang="en-US"/>
        </a:p>
      </dgm:t>
    </dgm:pt>
    <dgm:pt modelId="{CDF369F9-6C67-4442-B549-B6A157A4C406}">
      <dgm:prSet/>
      <dgm:spPr/>
      <dgm:t>
        <a:bodyPr/>
        <a:lstStyle/>
        <a:p>
          <a:r>
            <a:rPr lang="en-US" dirty="0"/>
            <a:t>Etc.</a:t>
          </a:r>
        </a:p>
      </dgm:t>
    </dgm:pt>
    <dgm:pt modelId="{94752E68-9B48-7849-88FE-AA1BA01496C4}" type="parTrans" cxnId="{6156658D-5C6A-2548-AB1B-477051BA94EE}">
      <dgm:prSet/>
      <dgm:spPr/>
      <dgm:t>
        <a:bodyPr/>
        <a:lstStyle/>
        <a:p>
          <a:endParaRPr lang="en-US"/>
        </a:p>
      </dgm:t>
    </dgm:pt>
    <dgm:pt modelId="{279FDCA9-3864-EC4D-9055-C8A12C9D917B}" type="sibTrans" cxnId="{6156658D-5C6A-2548-AB1B-477051BA94EE}">
      <dgm:prSet/>
      <dgm:spPr/>
      <dgm:t>
        <a:bodyPr/>
        <a:lstStyle/>
        <a:p>
          <a:endParaRPr lang="en-US"/>
        </a:p>
      </dgm:t>
    </dgm:pt>
    <dgm:pt modelId="{CDDEC35A-B282-8D40-96B3-39C09794D930}" type="pres">
      <dgm:prSet presAssocID="{F5363227-6E86-AA43-9DBE-A8AC6B4BCF46}" presName="hierChild1" presStyleCnt="0">
        <dgm:presLayoutVars>
          <dgm:chPref val="1"/>
          <dgm:dir/>
          <dgm:animOne val="branch"/>
          <dgm:animLvl val="lvl"/>
          <dgm:resizeHandles/>
        </dgm:presLayoutVars>
      </dgm:prSet>
      <dgm:spPr/>
    </dgm:pt>
    <dgm:pt modelId="{C02BD740-0ECC-5542-B3FB-C90C400619E2}" type="pres">
      <dgm:prSet presAssocID="{71C6CD16-2779-CD40-8010-3F2D77154F7A}" presName="hierRoot1" presStyleCnt="0"/>
      <dgm:spPr/>
    </dgm:pt>
    <dgm:pt modelId="{88049DD4-A468-E146-A503-21F28675D727}" type="pres">
      <dgm:prSet presAssocID="{71C6CD16-2779-CD40-8010-3F2D77154F7A}" presName="composite" presStyleCnt="0"/>
      <dgm:spPr/>
    </dgm:pt>
    <dgm:pt modelId="{07328983-37D5-9B43-BC65-1303DA9E504B}" type="pres">
      <dgm:prSet presAssocID="{71C6CD16-2779-CD40-8010-3F2D77154F7A}" presName="background" presStyleLbl="node0" presStyleIdx="0" presStyleCnt="1"/>
      <dgm:spPr>
        <a:noFill/>
        <a:ln>
          <a:noFill/>
        </a:ln>
      </dgm:spPr>
    </dgm:pt>
    <dgm:pt modelId="{AC0F9680-A9E1-1348-A090-FDA03091B201}" type="pres">
      <dgm:prSet presAssocID="{71C6CD16-2779-CD40-8010-3F2D77154F7A}" presName="text" presStyleLbl="fgAcc0" presStyleIdx="0" presStyleCnt="1">
        <dgm:presLayoutVars>
          <dgm:chPref val="3"/>
        </dgm:presLayoutVars>
      </dgm:prSet>
      <dgm:spPr/>
    </dgm:pt>
    <dgm:pt modelId="{8CB805F9-AB9A-024F-B2FD-00B1C23E203E}" type="pres">
      <dgm:prSet presAssocID="{71C6CD16-2779-CD40-8010-3F2D77154F7A}" presName="hierChild2" presStyleCnt="0"/>
      <dgm:spPr/>
    </dgm:pt>
    <dgm:pt modelId="{6419EBB7-18E9-2A40-920A-13A0FD9DD72E}" type="pres">
      <dgm:prSet presAssocID="{14A2E2CB-C2A3-A544-9872-9D64E1A28B66}" presName="Name10" presStyleLbl="parChTrans1D2" presStyleIdx="0" presStyleCnt="4"/>
      <dgm:spPr/>
    </dgm:pt>
    <dgm:pt modelId="{C72184C6-FA2D-4645-AB67-F9F9D63515DF}" type="pres">
      <dgm:prSet presAssocID="{C417E01D-F827-9746-86C8-5A6C32CEC114}" presName="hierRoot2" presStyleCnt="0"/>
      <dgm:spPr/>
    </dgm:pt>
    <dgm:pt modelId="{8B810810-9E8C-F349-9D56-2C791B7F3665}" type="pres">
      <dgm:prSet presAssocID="{C417E01D-F827-9746-86C8-5A6C32CEC114}" presName="composite2" presStyleCnt="0"/>
      <dgm:spPr/>
    </dgm:pt>
    <dgm:pt modelId="{FBD2DFE1-EDBA-3344-B01A-E6D1A0BD2508}" type="pres">
      <dgm:prSet presAssocID="{C417E01D-F827-9746-86C8-5A6C32CEC114}" presName="background2" presStyleLbl="node2" presStyleIdx="0" presStyleCnt="4"/>
      <dgm:spPr>
        <a:noFill/>
        <a:ln>
          <a:noFill/>
        </a:ln>
      </dgm:spPr>
    </dgm:pt>
    <dgm:pt modelId="{4C50B67E-7C1D-C741-AE36-4D5FEEC5A655}" type="pres">
      <dgm:prSet presAssocID="{C417E01D-F827-9746-86C8-5A6C32CEC114}" presName="text2" presStyleLbl="fgAcc2" presStyleIdx="0" presStyleCnt="4">
        <dgm:presLayoutVars>
          <dgm:chPref val="3"/>
        </dgm:presLayoutVars>
      </dgm:prSet>
      <dgm:spPr/>
    </dgm:pt>
    <dgm:pt modelId="{8402B143-6856-6049-B422-E3F665BEB9BB}" type="pres">
      <dgm:prSet presAssocID="{C417E01D-F827-9746-86C8-5A6C32CEC114}" presName="hierChild3" presStyleCnt="0"/>
      <dgm:spPr/>
    </dgm:pt>
    <dgm:pt modelId="{EF49D93C-4944-854E-8B56-8DF0A9E144FB}" type="pres">
      <dgm:prSet presAssocID="{B37A6EA9-78A4-504E-8197-FC765E6535C0}" presName="Name17" presStyleLbl="parChTrans1D3" presStyleIdx="0" presStyleCnt="3"/>
      <dgm:spPr/>
    </dgm:pt>
    <dgm:pt modelId="{5AE5A0B1-0A52-D641-A5A0-07F01E4D03F7}" type="pres">
      <dgm:prSet presAssocID="{AF3EACD1-05E0-F145-AD1A-089542EBFD2A}" presName="hierRoot3" presStyleCnt="0"/>
      <dgm:spPr/>
    </dgm:pt>
    <dgm:pt modelId="{86A81F36-A1E7-5245-8E94-9D56B0BE2D91}" type="pres">
      <dgm:prSet presAssocID="{AF3EACD1-05E0-F145-AD1A-089542EBFD2A}" presName="composite3" presStyleCnt="0"/>
      <dgm:spPr/>
    </dgm:pt>
    <dgm:pt modelId="{D85FABB1-5524-FB44-A35B-E6D4A1B4B1A6}" type="pres">
      <dgm:prSet presAssocID="{AF3EACD1-05E0-F145-AD1A-089542EBFD2A}" presName="background3" presStyleLbl="node3" presStyleIdx="0" presStyleCnt="3"/>
      <dgm:spPr>
        <a:noFill/>
        <a:ln>
          <a:noFill/>
        </a:ln>
      </dgm:spPr>
    </dgm:pt>
    <dgm:pt modelId="{BCABD26D-C24A-E043-8E0F-1CC8B9D45C40}" type="pres">
      <dgm:prSet presAssocID="{AF3EACD1-05E0-F145-AD1A-089542EBFD2A}" presName="text3" presStyleLbl="fgAcc3" presStyleIdx="0" presStyleCnt="3">
        <dgm:presLayoutVars>
          <dgm:chPref val="3"/>
        </dgm:presLayoutVars>
      </dgm:prSet>
      <dgm:spPr/>
    </dgm:pt>
    <dgm:pt modelId="{C309BDDC-6F35-2842-B75C-9ED37A223F1E}" type="pres">
      <dgm:prSet presAssocID="{AF3EACD1-05E0-F145-AD1A-089542EBFD2A}" presName="hierChild4" presStyleCnt="0"/>
      <dgm:spPr/>
    </dgm:pt>
    <dgm:pt modelId="{24305311-5D44-844D-A214-AE8C71286F5A}" type="pres">
      <dgm:prSet presAssocID="{F92E98F3-137A-CB47-83A1-2B09C8594BA7}" presName="Name17" presStyleLbl="parChTrans1D3" presStyleIdx="1" presStyleCnt="3"/>
      <dgm:spPr/>
    </dgm:pt>
    <dgm:pt modelId="{D6DB41C4-DB7B-0E42-94F3-71EF1D3D03F4}" type="pres">
      <dgm:prSet presAssocID="{4710E373-3EC1-B644-B79A-E563C1933574}" presName="hierRoot3" presStyleCnt="0"/>
      <dgm:spPr/>
    </dgm:pt>
    <dgm:pt modelId="{D5217A1B-56B7-F247-ADCC-664C5CD620F0}" type="pres">
      <dgm:prSet presAssocID="{4710E373-3EC1-B644-B79A-E563C1933574}" presName="composite3" presStyleCnt="0"/>
      <dgm:spPr/>
    </dgm:pt>
    <dgm:pt modelId="{09223196-1DFC-174A-AAC3-14B6604284E2}" type="pres">
      <dgm:prSet presAssocID="{4710E373-3EC1-B644-B79A-E563C1933574}" presName="background3" presStyleLbl="node3" presStyleIdx="1" presStyleCnt="3"/>
      <dgm:spPr>
        <a:noFill/>
        <a:ln>
          <a:noFill/>
        </a:ln>
      </dgm:spPr>
    </dgm:pt>
    <dgm:pt modelId="{1B01160B-5979-EA4A-92F7-D431A605DCAC}" type="pres">
      <dgm:prSet presAssocID="{4710E373-3EC1-B644-B79A-E563C1933574}" presName="text3" presStyleLbl="fgAcc3" presStyleIdx="1" presStyleCnt="3">
        <dgm:presLayoutVars>
          <dgm:chPref val="3"/>
        </dgm:presLayoutVars>
      </dgm:prSet>
      <dgm:spPr/>
    </dgm:pt>
    <dgm:pt modelId="{AE37AA08-9C4B-F64B-860B-1F76462C3A34}" type="pres">
      <dgm:prSet presAssocID="{4710E373-3EC1-B644-B79A-E563C1933574}" presName="hierChild4" presStyleCnt="0"/>
      <dgm:spPr/>
    </dgm:pt>
    <dgm:pt modelId="{8806801D-D181-E349-AC82-4493D341FD62}" type="pres">
      <dgm:prSet presAssocID="{3E19AB49-D0E3-654F-8965-D16D5847856E}" presName="Name23" presStyleLbl="parChTrans1D4" presStyleIdx="0" presStyleCnt="2"/>
      <dgm:spPr/>
    </dgm:pt>
    <dgm:pt modelId="{EDCC0299-E2C5-D946-AC47-0CB04F70FB33}" type="pres">
      <dgm:prSet presAssocID="{7954507D-600A-0A4F-8CBC-239B3E9FC6B6}" presName="hierRoot4" presStyleCnt="0"/>
      <dgm:spPr/>
    </dgm:pt>
    <dgm:pt modelId="{BCB7164E-5A70-C044-B6A2-09AA22359ECD}" type="pres">
      <dgm:prSet presAssocID="{7954507D-600A-0A4F-8CBC-239B3E9FC6B6}" presName="composite4" presStyleCnt="0"/>
      <dgm:spPr/>
    </dgm:pt>
    <dgm:pt modelId="{C6AC1CEA-1BB0-874F-80E2-1CF493D7D182}" type="pres">
      <dgm:prSet presAssocID="{7954507D-600A-0A4F-8CBC-239B3E9FC6B6}" presName="background4" presStyleLbl="node4" presStyleIdx="0" presStyleCnt="2"/>
      <dgm:spPr>
        <a:noFill/>
        <a:ln>
          <a:noFill/>
        </a:ln>
      </dgm:spPr>
    </dgm:pt>
    <dgm:pt modelId="{DB7F57F6-B8C7-494F-B2DE-8CB7FB32D725}" type="pres">
      <dgm:prSet presAssocID="{7954507D-600A-0A4F-8CBC-239B3E9FC6B6}" presName="text4" presStyleLbl="fgAcc4" presStyleIdx="0" presStyleCnt="2" custLinFactNeighborY="0">
        <dgm:presLayoutVars>
          <dgm:chPref val="3"/>
        </dgm:presLayoutVars>
      </dgm:prSet>
      <dgm:spPr/>
    </dgm:pt>
    <dgm:pt modelId="{48C2FFBD-0121-F24E-BC35-3920B06AF4B1}" type="pres">
      <dgm:prSet presAssocID="{7954507D-600A-0A4F-8CBC-239B3E9FC6B6}" presName="hierChild5" presStyleCnt="0"/>
      <dgm:spPr/>
    </dgm:pt>
    <dgm:pt modelId="{77C72FC0-5DC6-1F40-BA1C-B9E0400B66A5}" type="pres">
      <dgm:prSet presAssocID="{94752E68-9B48-7849-88FE-AA1BA01496C4}" presName="Name23" presStyleLbl="parChTrans1D4" presStyleIdx="1" presStyleCnt="2"/>
      <dgm:spPr/>
    </dgm:pt>
    <dgm:pt modelId="{1B3A417E-0BF7-8A47-8071-21ECCE4266D3}" type="pres">
      <dgm:prSet presAssocID="{CDF369F9-6C67-4442-B549-B6A157A4C406}" presName="hierRoot4" presStyleCnt="0"/>
      <dgm:spPr/>
    </dgm:pt>
    <dgm:pt modelId="{EFAAFDFC-4586-0844-97B1-FD52FEC3842F}" type="pres">
      <dgm:prSet presAssocID="{CDF369F9-6C67-4442-B549-B6A157A4C406}" presName="composite4" presStyleCnt="0"/>
      <dgm:spPr/>
    </dgm:pt>
    <dgm:pt modelId="{F5C227BC-2A1B-0443-A781-50F928832A26}" type="pres">
      <dgm:prSet presAssocID="{CDF369F9-6C67-4442-B549-B6A157A4C406}" presName="background4" presStyleLbl="node4" presStyleIdx="1" presStyleCnt="2"/>
      <dgm:spPr>
        <a:noFill/>
        <a:ln>
          <a:noFill/>
        </a:ln>
      </dgm:spPr>
    </dgm:pt>
    <dgm:pt modelId="{7FC4F66C-7E75-FA49-93FB-90887BDD3039}" type="pres">
      <dgm:prSet presAssocID="{CDF369F9-6C67-4442-B549-B6A157A4C406}" presName="text4" presStyleLbl="fgAcc4" presStyleIdx="1" presStyleCnt="2">
        <dgm:presLayoutVars>
          <dgm:chPref val="3"/>
        </dgm:presLayoutVars>
      </dgm:prSet>
      <dgm:spPr/>
    </dgm:pt>
    <dgm:pt modelId="{C3D15556-E36D-AF44-95F6-3C212E53B011}" type="pres">
      <dgm:prSet presAssocID="{CDF369F9-6C67-4442-B549-B6A157A4C406}" presName="hierChild5" presStyleCnt="0"/>
      <dgm:spPr/>
    </dgm:pt>
    <dgm:pt modelId="{AB9D5C78-8857-C446-BD48-6662FB823932}" type="pres">
      <dgm:prSet presAssocID="{95A7CD37-315A-9C42-BE0D-C8499652D7B1}" presName="Name17" presStyleLbl="parChTrans1D3" presStyleIdx="2" presStyleCnt="3"/>
      <dgm:spPr/>
    </dgm:pt>
    <dgm:pt modelId="{B1A90613-7E4E-5F4C-9CFB-6048DD049F71}" type="pres">
      <dgm:prSet presAssocID="{5BB98DEA-3F2A-A544-92EB-F67EF402D31D}" presName="hierRoot3" presStyleCnt="0"/>
      <dgm:spPr/>
    </dgm:pt>
    <dgm:pt modelId="{156BD879-5A5D-7343-BE3E-1143CEA757E3}" type="pres">
      <dgm:prSet presAssocID="{5BB98DEA-3F2A-A544-92EB-F67EF402D31D}" presName="composite3" presStyleCnt="0"/>
      <dgm:spPr/>
    </dgm:pt>
    <dgm:pt modelId="{9A7DFF09-8369-8247-A19F-5BE1AE9D9CDD}" type="pres">
      <dgm:prSet presAssocID="{5BB98DEA-3F2A-A544-92EB-F67EF402D31D}" presName="background3" presStyleLbl="node3" presStyleIdx="2" presStyleCnt="3"/>
      <dgm:spPr>
        <a:noFill/>
        <a:ln>
          <a:noFill/>
        </a:ln>
      </dgm:spPr>
    </dgm:pt>
    <dgm:pt modelId="{DE32AB1E-B62D-2946-A4A9-997482CDC1EF}" type="pres">
      <dgm:prSet presAssocID="{5BB98DEA-3F2A-A544-92EB-F67EF402D31D}" presName="text3" presStyleLbl="fgAcc3" presStyleIdx="2" presStyleCnt="3">
        <dgm:presLayoutVars>
          <dgm:chPref val="3"/>
        </dgm:presLayoutVars>
      </dgm:prSet>
      <dgm:spPr/>
    </dgm:pt>
    <dgm:pt modelId="{E1448585-8B72-304A-AA09-CF8E6807838A}" type="pres">
      <dgm:prSet presAssocID="{5BB98DEA-3F2A-A544-92EB-F67EF402D31D}" presName="hierChild4" presStyleCnt="0"/>
      <dgm:spPr/>
    </dgm:pt>
    <dgm:pt modelId="{6ED5D991-6FB0-254E-9E6B-F7D6E99DADBB}" type="pres">
      <dgm:prSet presAssocID="{0522DA5C-FBDC-9449-9A57-E8D3C662C728}" presName="Name10" presStyleLbl="parChTrans1D2" presStyleIdx="1" presStyleCnt="4"/>
      <dgm:spPr/>
    </dgm:pt>
    <dgm:pt modelId="{2CE11678-1840-E041-BF81-78DA7C2E18E5}" type="pres">
      <dgm:prSet presAssocID="{9F3676FF-94D9-F54A-BC32-96CFA26312C8}" presName="hierRoot2" presStyleCnt="0"/>
      <dgm:spPr/>
    </dgm:pt>
    <dgm:pt modelId="{A093DDE0-F592-BA47-90B8-1D10EAB4D2C2}" type="pres">
      <dgm:prSet presAssocID="{9F3676FF-94D9-F54A-BC32-96CFA26312C8}" presName="composite2" presStyleCnt="0"/>
      <dgm:spPr/>
    </dgm:pt>
    <dgm:pt modelId="{1F7EADFD-372D-E646-85AB-59C636000941}" type="pres">
      <dgm:prSet presAssocID="{9F3676FF-94D9-F54A-BC32-96CFA26312C8}" presName="background2" presStyleLbl="node2" presStyleIdx="1" presStyleCnt="4"/>
      <dgm:spPr>
        <a:noFill/>
        <a:ln>
          <a:noFill/>
        </a:ln>
      </dgm:spPr>
    </dgm:pt>
    <dgm:pt modelId="{3D294D3E-6FD1-BE4B-9ED3-4A9F91238FAB}" type="pres">
      <dgm:prSet presAssocID="{9F3676FF-94D9-F54A-BC32-96CFA26312C8}" presName="text2" presStyleLbl="fgAcc2" presStyleIdx="1" presStyleCnt="4">
        <dgm:presLayoutVars>
          <dgm:chPref val="3"/>
        </dgm:presLayoutVars>
      </dgm:prSet>
      <dgm:spPr/>
    </dgm:pt>
    <dgm:pt modelId="{489870F3-98DE-9648-A949-9B54F59F61EB}" type="pres">
      <dgm:prSet presAssocID="{9F3676FF-94D9-F54A-BC32-96CFA26312C8}" presName="hierChild3" presStyleCnt="0"/>
      <dgm:spPr/>
    </dgm:pt>
    <dgm:pt modelId="{2596C199-6225-CB49-A112-27F247ECE7BA}" type="pres">
      <dgm:prSet presAssocID="{304DA6B0-F6C4-8A4E-ACC9-DC2FA2D4DDFF}" presName="Name10" presStyleLbl="parChTrans1D2" presStyleIdx="2" presStyleCnt="4"/>
      <dgm:spPr/>
    </dgm:pt>
    <dgm:pt modelId="{76A2B5FE-5F06-7542-A786-A430EBA3EF4E}" type="pres">
      <dgm:prSet presAssocID="{AF370BE0-D668-F94E-AF1B-9CD669EA8856}" presName="hierRoot2" presStyleCnt="0"/>
      <dgm:spPr/>
    </dgm:pt>
    <dgm:pt modelId="{5FA6A395-A876-B84E-8380-725680795781}" type="pres">
      <dgm:prSet presAssocID="{AF370BE0-D668-F94E-AF1B-9CD669EA8856}" presName="composite2" presStyleCnt="0"/>
      <dgm:spPr/>
    </dgm:pt>
    <dgm:pt modelId="{1C90F586-CB6F-3F49-84E8-78CA25A25991}" type="pres">
      <dgm:prSet presAssocID="{AF370BE0-D668-F94E-AF1B-9CD669EA8856}" presName="background2" presStyleLbl="node2" presStyleIdx="2" presStyleCnt="4"/>
      <dgm:spPr>
        <a:noFill/>
        <a:ln>
          <a:noFill/>
        </a:ln>
      </dgm:spPr>
    </dgm:pt>
    <dgm:pt modelId="{515728F1-38A6-B24A-9797-1CDDF1999C35}" type="pres">
      <dgm:prSet presAssocID="{AF370BE0-D668-F94E-AF1B-9CD669EA8856}" presName="text2" presStyleLbl="fgAcc2" presStyleIdx="2" presStyleCnt="4">
        <dgm:presLayoutVars>
          <dgm:chPref val="3"/>
        </dgm:presLayoutVars>
      </dgm:prSet>
      <dgm:spPr/>
    </dgm:pt>
    <dgm:pt modelId="{630A18DA-A9C2-3640-BCEB-32E73934FDAF}" type="pres">
      <dgm:prSet presAssocID="{AF370BE0-D668-F94E-AF1B-9CD669EA8856}" presName="hierChild3" presStyleCnt="0"/>
      <dgm:spPr/>
    </dgm:pt>
    <dgm:pt modelId="{40D14D86-1B39-7548-8D23-0EA69D1D64D9}" type="pres">
      <dgm:prSet presAssocID="{BA69E823-7A07-F34B-A06D-0AE38CCB1F96}" presName="Name10" presStyleLbl="parChTrans1D2" presStyleIdx="3" presStyleCnt="4"/>
      <dgm:spPr/>
    </dgm:pt>
    <dgm:pt modelId="{6A5CDC33-B681-3246-9AD9-86D76C272378}" type="pres">
      <dgm:prSet presAssocID="{494077E8-5E6D-5B4E-9FB2-0A17A295C47C}" presName="hierRoot2" presStyleCnt="0"/>
      <dgm:spPr/>
    </dgm:pt>
    <dgm:pt modelId="{4487F0D2-DC9B-1642-A48E-6EC71947324C}" type="pres">
      <dgm:prSet presAssocID="{494077E8-5E6D-5B4E-9FB2-0A17A295C47C}" presName="composite2" presStyleCnt="0"/>
      <dgm:spPr/>
    </dgm:pt>
    <dgm:pt modelId="{007A6E05-C4D5-2141-B01C-DABC6C7D53CE}" type="pres">
      <dgm:prSet presAssocID="{494077E8-5E6D-5B4E-9FB2-0A17A295C47C}" presName="background2" presStyleLbl="node2" presStyleIdx="3" presStyleCnt="4"/>
      <dgm:spPr>
        <a:noFill/>
        <a:ln>
          <a:noFill/>
        </a:ln>
      </dgm:spPr>
    </dgm:pt>
    <dgm:pt modelId="{C84F816E-3493-644A-A12B-982678B2ECEF}" type="pres">
      <dgm:prSet presAssocID="{494077E8-5E6D-5B4E-9FB2-0A17A295C47C}" presName="text2" presStyleLbl="fgAcc2" presStyleIdx="3" presStyleCnt="4">
        <dgm:presLayoutVars>
          <dgm:chPref val="3"/>
        </dgm:presLayoutVars>
      </dgm:prSet>
      <dgm:spPr/>
    </dgm:pt>
    <dgm:pt modelId="{276F9B00-A86A-2F44-A85B-83EDCF3200E4}" type="pres">
      <dgm:prSet presAssocID="{494077E8-5E6D-5B4E-9FB2-0A17A295C47C}" presName="hierChild3" presStyleCnt="0"/>
      <dgm:spPr/>
    </dgm:pt>
  </dgm:ptLst>
  <dgm:cxnLst>
    <dgm:cxn modelId="{FFFA6F0A-3A26-8E44-A059-45FA387B671F}" type="presOf" srcId="{5BB98DEA-3F2A-A544-92EB-F67EF402D31D}" destId="{DE32AB1E-B62D-2946-A4A9-997482CDC1EF}" srcOrd="0" destOrd="0" presId="urn:microsoft.com/office/officeart/2005/8/layout/hierarchy1"/>
    <dgm:cxn modelId="{ED294B0D-10BC-D04E-BEAD-D658D4B2A562}" type="presOf" srcId="{3E19AB49-D0E3-654F-8965-D16D5847856E}" destId="{8806801D-D181-E349-AC82-4493D341FD62}" srcOrd="0" destOrd="0" presId="urn:microsoft.com/office/officeart/2005/8/layout/hierarchy1"/>
    <dgm:cxn modelId="{EE431911-62CA-0C4D-977B-5A14B163FDAE}" type="presOf" srcId="{94752E68-9B48-7849-88FE-AA1BA01496C4}" destId="{77C72FC0-5DC6-1F40-BA1C-B9E0400B66A5}" srcOrd="0" destOrd="0" presId="urn:microsoft.com/office/officeart/2005/8/layout/hierarchy1"/>
    <dgm:cxn modelId="{701D7618-A4E6-544C-8374-053A8714E38D}" srcId="{4710E373-3EC1-B644-B79A-E563C1933574}" destId="{7954507D-600A-0A4F-8CBC-239B3E9FC6B6}" srcOrd="0" destOrd="0" parTransId="{3E19AB49-D0E3-654F-8965-D16D5847856E}" sibTransId="{CB63FE1D-3111-7B4A-A9A9-CA2EFD4BD362}"/>
    <dgm:cxn modelId="{2863C91D-E33E-2047-A406-4644D897B441}" type="presOf" srcId="{F92E98F3-137A-CB47-83A1-2B09C8594BA7}" destId="{24305311-5D44-844D-A214-AE8C71286F5A}" srcOrd="0" destOrd="0" presId="urn:microsoft.com/office/officeart/2005/8/layout/hierarchy1"/>
    <dgm:cxn modelId="{39D68D21-4A25-5C45-8DF4-23B18D81CD56}" srcId="{71C6CD16-2779-CD40-8010-3F2D77154F7A}" destId="{494077E8-5E6D-5B4E-9FB2-0A17A295C47C}" srcOrd="3" destOrd="0" parTransId="{BA69E823-7A07-F34B-A06D-0AE38CCB1F96}" sibTransId="{504470BC-A19A-C645-9767-8A4701A526AF}"/>
    <dgm:cxn modelId="{97D9B946-DF21-6D4C-BA53-79C157949ADA}" srcId="{F5363227-6E86-AA43-9DBE-A8AC6B4BCF46}" destId="{71C6CD16-2779-CD40-8010-3F2D77154F7A}" srcOrd="0" destOrd="0" parTransId="{C3E2937B-01E1-FE4C-A307-391FF97CA389}" sibTransId="{7E6F3BF8-61BB-5140-B219-C6C24F333F46}"/>
    <dgm:cxn modelId="{FC620447-9E54-024B-8403-E31039E7365B}" srcId="{C417E01D-F827-9746-86C8-5A6C32CEC114}" destId="{AF3EACD1-05E0-F145-AD1A-089542EBFD2A}" srcOrd="0" destOrd="0" parTransId="{B37A6EA9-78A4-504E-8197-FC765E6535C0}" sibTransId="{8C500C70-D0EA-004D-B77F-2AA39E6A3D02}"/>
    <dgm:cxn modelId="{EE1EF849-5D8B-8246-A673-9D874912A815}" srcId="{C417E01D-F827-9746-86C8-5A6C32CEC114}" destId="{4710E373-3EC1-B644-B79A-E563C1933574}" srcOrd="1" destOrd="0" parTransId="{F92E98F3-137A-CB47-83A1-2B09C8594BA7}" sibTransId="{CCB95A86-9DD3-9542-BBBD-C9D1E82BC8A5}"/>
    <dgm:cxn modelId="{E7054B53-50FA-0545-89E7-65EF1561A78D}" type="presOf" srcId="{494077E8-5E6D-5B4E-9FB2-0A17A295C47C}" destId="{C84F816E-3493-644A-A12B-982678B2ECEF}" srcOrd="0" destOrd="0" presId="urn:microsoft.com/office/officeart/2005/8/layout/hierarchy1"/>
    <dgm:cxn modelId="{F542D455-6B6C-1B41-8775-C2208CAB3F98}" type="presOf" srcId="{9F3676FF-94D9-F54A-BC32-96CFA26312C8}" destId="{3D294D3E-6FD1-BE4B-9ED3-4A9F91238FAB}" srcOrd="0" destOrd="0" presId="urn:microsoft.com/office/officeart/2005/8/layout/hierarchy1"/>
    <dgm:cxn modelId="{7616335A-7599-F748-AD6D-BC8453BE4C29}" type="presOf" srcId="{4710E373-3EC1-B644-B79A-E563C1933574}" destId="{1B01160B-5979-EA4A-92F7-D431A605DCAC}" srcOrd="0" destOrd="0" presId="urn:microsoft.com/office/officeart/2005/8/layout/hierarchy1"/>
    <dgm:cxn modelId="{D2C42065-DE6A-E544-8332-424F7E362653}" srcId="{71C6CD16-2779-CD40-8010-3F2D77154F7A}" destId="{AF370BE0-D668-F94E-AF1B-9CD669EA8856}" srcOrd="2" destOrd="0" parTransId="{304DA6B0-F6C4-8A4E-ACC9-DC2FA2D4DDFF}" sibTransId="{C981A65B-DD5B-0041-B5F9-A8AD67ABD0DB}"/>
    <dgm:cxn modelId="{24606865-D254-634E-A38B-FE0740B0D9BF}" type="presOf" srcId="{BA69E823-7A07-F34B-A06D-0AE38CCB1F96}" destId="{40D14D86-1B39-7548-8D23-0EA69D1D64D9}" srcOrd="0" destOrd="0" presId="urn:microsoft.com/office/officeart/2005/8/layout/hierarchy1"/>
    <dgm:cxn modelId="{53BBE668-7919-A74C-A2C5-C1FFF075F401}" type="presOf" srcId="{F5363227-6E86-AA43-9DBE-A8AC6B4BCF46}" destId="{CDDEC35A-B282-8D40-96B3-39C09794D930}" srcOrd="0" destOrd="0" presId="urn:microsoft.com/office/officeart/2005/8/layout/hierarchy1"/>
    <dgm:cxn modelId="{E38F487C-9BD4-D247-8040-360A92A7338A}" type="presOf" srcId="{AF370BE0-D668-F94E-AF1B-9CD669EA8856}" destId="{515728F1-38A6-B24A-9797-1CDDF1999C35}" srcOrd="0" destOrd="0" presId="urn:microsoft.com/office/officeart/2005/8/layout/hierarchy1"/>
    <dgm:cxn modelId="{6156658D-5C6A-2548-AB1B-477051BA94EE}" srcId="{4710E373-3EC1-B644-B79A-E563C1933574}" destId="{CDF369F9-6C67-4442-B549-B6A157A4C406}" srcOrd="1" destOrd="0" parTransId="{94752E68-9B48-7849-88FE-AA1BA01496C4}" sibTransId="{279FDCA9-3864-EC4D-9055-C8A12C9D917B}"/>
    <dgm:cxn modelId="{6526BAB4-5791-864F-943A-80DEF11C402C}" type="presOf" srcId="{71C6CD16-2779-CD40-8010-3F2D77154F7A}" destId="{AC0F9680-A9E1-1348-A090-FDA03091B201}" srcOrd="0" destOrd="0" presId="urn:microsoft.com/office/officeart/2005/8/layout/hierarchy1"/>
    <dgm:cxn modelId="{220ABDB6-C557-944E-9589-D3F0BDDC6B15}" srcId="{C417E01D-F827-9746-86C8-5A6C32CEC114}" destId="{5BB98DEA-3F2A-A544-92EB-F67EF402D31D}" srcOrd="2" destOrd="0" parTransId="{95A7CD37-315A-9C42-BE0D-C8499652D7B1}" sibTransId="{EB05DE2D-BCB1-C64E-A28F-E3974537225F}"/>
    <dgm:cxn modelId="{1B0906B8-5AE5-454C-B4AA-81A7FB09E1EF}" srcId="{71C6CD16-2779-CD40-8010-3F2D77154F7A}" destId="{9F3676FF-94D9-F54A-BC32-96CFA26312C8}" srcOrd="1" destOrd="0" parTransId="{0522DA5C-FBDC-9449-9A57-E8D3C662C728}" sibTransId="{AD979E7E-43BF-EF45-921A-199AF1C9CE82}"/>
    <dgm:cxn modelId="{408B1EBD-55C9-C744-8374-6927EDF851B0}" type="presOf" srcId="{C417E01D-F827-9746-86C8-5A6C32CEC114}" destId="{4C50B67E-7C1D-C741-AE36-4D5FEEC5A655}" srcOrd="0" destOrd="0" presId="urn:microsoft.com/office/officeart/2005/8/layout/hierarchy1"/>
    <dgm:cxn modelId="{44B171BE-28D2-1D41-BFA1-784ECEFF0158}" type="presOf" srcId="{95A7CD37-315A-9C42-BE0D-C8499652D7B1}" destId="{AB9D5C78-8857-C446-BD48-6662FB823932}" srcOrd="0" destOrd="0" presId="urn:microsoft.com/office/officeart/2005/8/layout/hierarchy1"/>
    <dgm:cxn modelId="{5019C6C3-2FDC-0C4B-9037-4BDE095946E6}" type="presOf" srcId="{0522DA5C-FBDC-9449-9A57-E8D3C662C728}" destId="{6ED5D991-6FB0-254E-9E6B-F7D6E99DADBB}" srcOrd="0" destOrd="0" presId="urn:microsoft.com/office/officeart/2005/8/layout/hierarchy1"/>
    <dgm:cxn modelId="{35AB7EC5-6C1D-9448-B808-6B5C433E4F0B}" srcId="{71C6CD16-2779-CD40-8010-3F2D77154F7A}" destId="{C417E01D-F827-9746-86C8-5A6C32CEC114}" srcOrd="0" destOrd="0" parTransId="{14A2E2CB-C2A3-A544-9872-9D64E1A28B66}" sibTransId="{4AF1BA4C-89E9-0E41-B21F-9EB96431971A}"/>
    <dgm:cxn modelId="{480558CC-920F-C14E-BDBE-FFF7A608F091}" type="presOf" srcId="{7954507D-600A-0A4F-8CBC-239B3E9FC6B6}" destId="{DB7F57F6-B8C7-494F-B2DE-8CB7FB32D725}" srcOrd="0" destOrd="0" presId="urn:microsoft.com/office/officeart/2005/8/layout/hierarchy1"/>
    <dgm:cxn modelId="{B7D741CD-8618-E144-A7E1-16D04A1276A6}" type="presOf" srcId="{14A2E2CB-C2A3-A544-9872-9D64E1A28B66}" destId="{6419EBB7-18E9-2A40-920A-13A0FD9DD72E}" srcOrd="0" destOrd="0" presId="urn:microsoft.com/office/officeart/2005/8/layout/hierarchy1"/>
    <dgm:cxn modelId="{F5C514D3-112F-8A42-A86F-03B6E870C716}" type="presOf" srcId="{B37A6EA9-78A4-504E-8197-FC765E6535C0}" destId="{EF49D93C-4944-854E-8B56-8DF0A9E144FB}" srcOrd="0" destOrd="0" presId="urn:microsoft.com/office/officeart/2005/8/layout/hierarchy1"/>
    <dgm:cxn modelId="{F91929DD-B71B-1548-8D97-345919407306}" type="presOf" srcId="{AF3EACD1-05E0-F145-AD1A-089542EBFD2A}" destId="{BCABD26D-C24A-E043-8E0F-1CC8B9D45C40}" srcOrd="0" destOrd="0" presId="urn:microsoft.com/office/officeart/2005/8/layout/hierarchy1"/>
    <dgm:cxn modelId="{384028EE-16EC-5449-80AE-AF27B4F3F356}" type="presOf" srcId="{304DA6B0-F6C4-8A4E-ACC9-DC2FA2D4DDFF}" destId="{2596C199-6225-CB49-A112-27F247ECE7BA}" srcOrd="0" destOrd="0" presId="urn:microsoft.com/office/officeart/2005/8/layout/hierarchy1"/>
    <dgm:cxn modelId="{D3F1EBEE-8007-2C44-8E60-92C90D0A501E}" type="presOf" srcId="{CDF369F9-6C67-4442-B549-B6A157A4C406}" destId="{7FC4F66C-7E75-FA49-93FB-90887BDD3039}" srcOrd="0" destOrd="0" presId="urn:microsoft.com/office/officeart/2005/8/layout/hierarchy1"/>
    <dgm:cxn modelId="{F1977C9F-5E90-CA4D-9363-87E38EE4B25E}" type="presParOf" srcId="{CDDEC35A-B282-8D40-96B3-39C09794D930}" destId="{C02BD740-0ECC-5542-B3FB-C90C400619E2}" srcOrd="0" destOrd="0" presId="urn:microsoft.com/office/officeart/2005/8/layout/hierarchy1"/>
    <dgm:cxn modelId="{76DAA765-D5C9-3F44-95B9-2BA934D144AD}" type="presParOf" srcId="{C02BD740-0ECC-5542-B3FB-C90C400619E2}" destId="{88049DD4-A468-E146-A503-21F28675D727}" srcOrd="0" destOrd="0" presId="urn:microsoft.com/office/officeart/2005/8/layout/hierarchy1"/>
    <dgm:cxn modelId="{D813B7DF-50C2-7C43-94C3-F25E389CDF94}" type="presParOf" srcId="{88049DD4-A468-E146-A503-21F28675D727}" destId="{07328983-37D5-9B43-BC65-1303DA9E504B}" srcOrd="0" destOrd="0" presId="urn:microsoft.com/office/officeart/2005/8/layout/hierarchy1"/>
    <dgm:cxn modelId="{25184197-D63B-C84A-9F06-52F64C80F0F2}" type="presParOf" srcId="{88049DD4-A468-E146-A503-21F28675D727}" destId="{AC0F9680-A9E1-1348-A090-FDA03091B201}" srcOrd="1" destOrd="0" presId="urn:microsoft.com/office/officeart/2005/8/layout/hierarchy1"/>
    <dgm:cxn modelId="{88D770C1-AA1F-F144-B0F7-C34E966AF143}" type="presParOf" srcId="{C02BD740-0ECC-5542-B3FB-C90C400619E2}" destId="{8CB805F9-AB9A-024F-B2FD-00B1C23E203E}" srcOrd="1" destOrd="0" presId="urn:microsoft.com/office/officeart/2005/8/layout/hierarchy1"/>
    <dgm:cxn modelId="{3E3180F2-5B06-2842-9AFB-FFEF81706A0D}" type="presParOf" srcId="{8CB805F9-AB9A-024F-B2FD-00B1C23E203E}" destId="{6419EBB7-18E9-2A40-920A-13A0FD9DD72E}" srcOrd="0" destOrd="0" presId="urn:microsoft.com/office/officeart/2005/8/layout/hierarchy1"/>
    <dgm:cxn modelId="{9CE48F17-B230-BE46-BBEA-E7D3098E1577}" type="presParOf" srcId="{8CB805F9-AB9A-024F-B2FD-00B1C23E203E}" destId="{C72184C6-FA2D-4645-AB67-F9F9D63515DF}" srcOrd="1" destOrd="0" presId="urn:microsoft.com/office/officeart/2005/8/layout/hierarchy1"/>
    <dgm:cxn modelId="{42733D90-1DC7-A048-B1AA-19207B95814A}" type="presParOf" srcId="{C72184C6-FA2D-4645-AB67-F9F9D63515DF}" destId="{8B810810-9E8C-F349-9D56-2C791B7F3665}" srcOrd="0" destOrd="0" presId="urn:microsoft.com/office/officeart/2005/8/layout/hierarchy1"/>
    <dgm:cxn modelId="{13E42687-4F0C-9F41-B349-6CCB3200D0FC}" type="presParOf" srcId="{8B810810-9E8C-F349-9D56-2C791B7F3665}" destId="{FBD2DFE1-EDBA-3344-B01A-E6D1A0BD2508}" srcOrd="0" destOrd="0" presId="urn:microsoft.com/office/officeart/2005/8/layout/hierarchy1"/>
    <dgm:cxn modelId="{D25F9913-3049-1F4A-AE37-2725E79172BC}" type="presParOf" srcId="{8B810810-9E8C-F349-9D56-2C791B7F3665}" destId="{4C50B67E-7C1D-C741-AE36-4D5FEEC5A655}" srcOrd="1" destOrd="0" presId="urn:microsoft.com/office/officeart/2005/8/layout/hierarchy1"/>
    <dgm:cxn modelId="{F1D7D77B-1161-9A49-8BD3-7128AE98C738}" type="presParOf" srcId="{C72184C6-FA2D-4645-AB67-F9F9D63515DF}" destId="{8402B143-6856-6049-B422-E3F665BEB9BB}" srcOrd="1" destOrd="0" presId="urn:microsoft.com/office/officeart/2005/8/layout/hierarchy1"/>
    <dgm:cxn modelId="{A59E51A2-0EA1-C442-A0EC-6A4A92D87D99}" type="presParOf" srcId="{8402B143-6856-6049-B422-E3F665BEB9BB}" destId="{EF49D93C-4944-854E-8B56-8DF0A9E144FB}" srcOrd="0" destOrd="0" presId="urn:microsoft.com/office/officeart/2005/8/layout/hierarchy1"/>
    <dgm:cxn modelId="{A19AD5B5-9281-2641-BBC3-91D76A48EE9C}" type="presParOf" srcId="{8402B143-6856-6049-B422-E3F665BEB9BB}" destId="{5AE5A0B1-0A52-D641-A5A0-07F01E4D03F7}" srcOrd="1" destOrd="0" presId="urn:microsoft.com/office/officeart/2005/8/layout/hierarchy1"/>
    <dgm:cxn modelId="{5655EEB2-B347-DB4A-9BB1-E8B0D4544646}" type="presParOf" srcId="{5AE5A0B1-0A52-D641-A5A0-07F01E4D03F7}" destId="{86A81F36-A1E7-5245-8E94-9D56B0BE2D91}" srcOrd="0" destOrd="0" presId="urn:microsoft.com/office/officeart/2005/8/layout/hierarchy1"/>
    <dgm:cxn modelId="{0D792C2F-9D19-CD46-B292-21E07F906B15}" type="presParOf" srcId="{86A81F36-A1E7-5245-8E94-9D56B0BE2D91}" destId="{D85FABB1-5524-FB44-A35B-E6D4A1B4B1A6}" srcOrd="0" destOrd="0" presId="urn:microsoft.com/office/officeart/2005/8/layout/hierarchy1"/>
    <dgm:cxn modelId="{4A03DE40-8C9A-3749-AE3C-D0814DABB2A6}" type="presParOf" srcId="{86A81F36-A1E7-5245-8E94-9D56B0BE2D91}" destId="{BCABD26D-C24A-E043-8E0F-1CC8B9D45C40}" srcOrd="1" destOrd="0" presId="urn:microsoft.com/office/officeart/2005/8/layout/hierarchy1"/>
    <dgm:cxn modelId="{1F1C390B-9386-8645-AD6B-50D6354AD4B7}" type="presParOf" srcId="{5AE5A0B1-0A52-D641-A5A0-07F01E4D03F7}" destId="{C309BDDC-6F35-2842-B75C-9ED37A223F1E}" srcOrd="1" destOrd="0" presId="urn:microsoft.com/office/officeart/2005/8/layout/hierarchy1"/>
    <dgm:cxn modelId="{7C05E9C5-1CF4-FD44-89F3-56707D36D3B1}" type="presParOf" srcId="{8402B143-6856-6049-B422-E3F665BEB9BB}" destId="{24305311-5D44-844D-A214-AE8C71286F5A}" srcOrd="2" destOrd="0" presId="urn:microsoft.com/office/officeart/2005/8/layout/hierarchy1"/>
    <dgm:cxn modelId="{25785515-299D-1743-BA87-7B3C1E50855D}" type="presParOf" srcId="{8402B143-6856-6049-B422-E3F665BEB9BB}" destId="{D6DB41C4-DB7B-0E42-94F3-71EF1D3D03F4}" srcOrd="3" destOrd="0" presId="urn:microsoft.com/office/officeart/2005/8/layout/hierarchy1"/>
    <dgm:cxn modelId="{F7B7DF6D-A7B5-5044-8A48-B3FD8894FFD9}" type="presParOf" srcId="{D6DB41C4-DB7B-0E42-94F3-71EF1D3D03F4}" destId="{D5217A1B-56B7-F247-ADCC-664C5CD620F0}" srcOrd="0" destOrd="0" presId="urn:microsoft.com/office/officeart/2005/8/layout/hierarchy1"/>
    <dgm:cxn modelId="{8CF7E349-6E30-D94B-B575-17A275203517}" type="presParOf" srcId="{D5217A1B-56B7-F247-ADCC-664C5CD620F0}" destId="{09223196-1DFC-174A-AAC3-14B6604284E2}" srcOrd="0" destOrd="0" presId="urn:microsoft.com/office/officeart/2005/8/layout/hierarchy1"/>
    <dgm:cxn modelId="{435641BA-D351-1B4B-A1F3-677E061C8AB9}" type="presParOf" srcId="{D5217A1B-56B7-F247-ADCC-664C5CD620F0}" destId="{1B01160B-5979-EA4A-92F7-D431A605DCAC}" srcOrd="1" destOrd="0" presId="urn:microsoft.com/office/officeart/2005/8/layout/hierarchy1"/>
    <dgm:cxn modelId="{6C26F7E5-AA8A-154E-934A-2EEAD8DBB409}" type="presParOf" srcId="{D6DB41C4-DB7B-0E42-94F3-71EF1D3D03F4}" destId="{AE37AA08-9C4B-F64B-860B-1F76462C3A34}" srcOrd="1" destOrd="0" presId="urn:microsoft.com/office/officeart/2005/8/layout/hierarchy1"/>
    <dgm:cxn modelId="{1F71BFD9-648C-454C-9BA7-0F4F74CE0878}" type="presParOf" srcId="{AE37AA08-9C4B-F64B-860B-1F76462C3A34}" destId="{8806801D-D181-E349-AC82-4493D341FD62}" srcOrd="0" destOrd="0" presId="urn:microsoft.com/office/officeart/2005/8/layout/hierarchy1"/>
    <dgm:cxn modelId="{F8A61814-F2FA-4746-869D-88473EFE090B}" type="presParOf" srcId="{AE37AA08-9C4B-F64B-860B-1F76462C3A34}" destId="{EDCC0299-E2C5-D946-AC47-0CB04F70FB33}" srcOrd="1" destOrd="0" presId="urn:microsoft.com/office/officeart/2005/8/layout/hierarchy1"/>
    <dgm:cxn modelId="{68838D00-E1CB-E249-A1EE-0A2F02FBCA55}" type="presParOf" srcId="{EDCC0299-E2C5-D946-AC47-0CB04F70FB33}" destId="{BCB7164E-5A70-C044-B6A2-09AA22359ECD}" srcOrd="0" destOrd="0" presId="urn:microsoft.com/office/officeart/2005/8/layout/hierarchy1"/>
    <dgm:cxn modelId="{0B352124-D29E-1948-BBCD-FC00F8ED34CD}" type="presParOf" srcId="{BCB7164E-5A70-C044-B6A2-09AA22359ECD}" destId="{C6AC1CEA-1BB0-874F-80E2-1CF493D7D182}" srcOrd="0" destOrd="0" presId="urn:microsoft.com/office/officeart/2005/8/layout/hierarchy1"/>
    <dgm:cxn modelId="{AB173661-4D7A-674F-A164-6883A9155651}" type="presParOf" srcId="{BCB7164E-5A70-C044-B6A2-09AA22359ECD}" destId="{DB7F57F6-B8C7-494F-B2DE-8CB7FB32D725}" srcOrd="1" destOrd="0" presId="urn:microsoft.com/office/officeart/2005/8/layout/hierarchy1"/>
    <dgm:cxn modelId="{34D0D872-AEAE-6646-AD08-B3F1E9EFFBD2}" type="presParOf" srcId="{EDCC0299-E2C5-D946-AC47-0CB04F70FB33}" destId="{48C2FFBD-0121-F24E-BC35-3920B06AF4B1}" srcOrd="1" destOrd="0" presId="urn:microsoft.com/office/officeart/2005/8/layout/hierarchy1"/>
    <dgm:cxn modelId="{0DEF679A-30FF-9145-92DC-3162DE6EECD0}" type="presParOf" srcId="{AE37AA08-9C4B-F64B-860B-1F76462C3A34}" destId="{77C72FC0-5DC6-1F40-BA1C-B9E0400B66A5}" srcOrd="2" destOrd="0" presId="urn:microsoft.com/office/officeart/2005/8/layout/hierarchy1"/>
    <dgm:cxn modelId="{ED7D3EDC-53CA-7A47-99F2-2AE3DD3FE9CF}" type="presParOf" srcId="{AE37AA08-9C4B-F64B-860B-1F76462C3A34}" destId="{1B3A417E-0BF7-8A47-8071-21ECCE4266D3}" srcOrd="3" destOrd="0" presId="urn:microsoft.com/office/officeart/2005/8/layout/hierarchy1"/>
    <dgm:cxn modelId="{6C305146-7A9F-2A48-A817-F1D0B3010196}" type="presParOf" srcId="{1B3A417E-0BF7-8A47-8071-21ECCE4266D3}" destId="{EFAAFDFC-4586-0844-97B1-FD52FEC3842F}" srcOrd="0" destOrd="0" presId="urn:microsoft.com/office/officeart/2005/8/layout/hierarchy1"/>
    <dgm:cxn modelId="{BF0484D5-785B-B54F-8943-6FD081D55B5A}" type="presParOf" srcId="{EFAAFDFC-4586-0844-97B1-FD52FEC3842F}" destId="{F5C227BC-2A1B-0443-A781-50F928832A26}" srcOrd="0" destOrd="0" presId="urn:microsoft.com/office/officeart/2005/8/layout/hierarchy1"/>
    <dgm:cxn modelId="{543B0C8F-3CBC-0D46-9226-638AF6ED624F}" type="presParOf" srcId="{EFAAFDFC-4586-0844-97B1-FD52FEC3842F}" destId="{7FC4F66C-7E75-FA49-93FB-90887BDD3039}" srcOrd="1" destOrd="0" presId="urn:microsoft.com/office/officeart/2005/8/layout/hierarchy1"/>
    <dgm:cxn modelId="{E669EFBE-7522-B84A-8A8E-915132CF5749}" type="presParOf" srcId="{1B3A417E-0BF7-8A47-8071-21ECCE4266D3}" destId="{C3D15556-E36D-AF44-95F6-3C212E53B011}" srcOrd="1" destOrd="0" presId="urn:microsoft.com/office/officeart/2005/8/layout/hierarchy1"/>
    <dgm:cxn modelId="{6F7A7FB9-F9D5-1547-A331-2399D35C6F56}" type="presParOf" srcId="{8402B143-6856-6049-B422-E3F665BEB9BB}" destId="{AB9D5C78-8857-C446-BD48-6662FB823932}" srcOrd="4" destOrd="0" presId="urn:microsoft.com/office/officeart/2005/8/layout/hierarchy1"/>
    <dgm:cxn modelId="{FD0FE4E7-EE20-8348-9757-87AFC9C1CA29}" type="presParOf" srcId="{8402B143-6856-6049-B422-E3F665BEB9BB}" destId="{B1A90613-7E4E-5F4C-9CFB-6048DD049F71}" srcOrd="5" destOrd="0" presId="urn:microsoft.com/office/officeart/2005/8/layout/hierarchy1"/>
    <dgm:cxn modelId="{E8B938B1-5D1E-8A46-8C70-B710CF89D4C1}" type="presParOf" srcId="{B1A90613-7E4E-5F4C-9CFB-6048DD049F71}" destId="{156BD879-5A5D-7343-BE3E-1143CEA757E3}" srcOrd="0" destOrd="0" presId="urn:microsoft.com/office/officeart/2005/8/layout/hierarchy1"/>
    <dgm:cxn modelId="{B422B3EF-1326-9B49-B403-6E58F6AA48BA}" type="presParOf" srcId="{156BD879-5A5D-7343-BE3E-1143CEA757E3}" destId="{9A7DFF09-8369-8247-A19F-5BE1AE9D9CDD}" srcOrd="0" destOrd="0" presId="urn:microsoft.com/office/officeart/2005/8/layout/hierarchy1"/>
    <dgm:cxn modelId="{ADFB8897-7001-204D-95FA-4CB9BAC6E527}" type="presParOf" srcId="{156BD879-5A5D-7343-BE3E-1143CEA757E3}" destId="{DE32AB1E-B62D-2946-A4A9-997482CDC1EF}" srcOrd="1" destOrd="0" presId="urn:microsoft.com/office/officeart/2005/8/layout/hierarchy1"/>
    <dgm:cxn modelId="{BE518AD5-9B75-FE45-AEE6-3E552974E554}" type="presParOf" srcId="{B1A90613-7E4E-5F4C-9CFB-6048DD049F71}" destId="{E1448585-8B72-304A-AA09-CF8E6807838A}" srcOrd="1" destOrd="0" presId="urn:microsoft.com/office/officeart/2005/8/layout/hierarchy1"/>
    <dgm:cxn modelId="{E5FB6BFF-CEB3-0849-AA34-20227F4071DF}" type="presParOf" srcId="{8CB805F9-AB9A-024F-B2FD-00B1C23E203E}" destId="{6ED5D991-6FB0-254E-9E6B-F7D6E99DADBB}" srcOrd="2" destOrd="0" presId="urn:microsoft.com/office/officeart/2005/8/layout/hierarchy1"/>
    <dgm:cxn modelId="{EF5E7BBF-AF9E-C046-ACA1-2ED9882A1CE7}" type="presParOf" srcId="{8CB805F9-AB9A-024F-B2FD-00B1C23E203E}" destId="{2CE11678-1840-E041-BF81-78DA7C2E18E5}" srcOrd="3" destOrd="0" presId="urn:microsoft.com/office/officeart/2005/8/layout/hierarchy1"/>
    <dgm:cxn modelId="{1D79AAFC-AFC6-914D-B903-E9B8B079B4B5}" type="presParOf" srcId="{2CE11678-1840-E041-BF81-78DA7C2E18E5}" destId="{A093DDE0-F592-BA47-90B8-1D10EAB4D2C2}" srcOrd="0" destOrd="0" presId="urn:microsoft.com/office/officeart/2005/8/layout/hierarchy1"/>
    <dgm:cxn modelId="{BD24D002-4D36-F64F-B582-9AFFEE9CFAC7}" type="presParOf" srcId="{A093DDE0-F592-BA47-90B8-1D10EAB4D2C2}" destId="{1F7EADFD-372D-E646-85AB-59C636000941}" srcOrd="0" destOrd="0" presId="urn:microsoft.com/office/officeart/2005/8/layout/hierarchy1"/>
    <dgm:cxn modelId="{E564565B-4F40-2B45-857C-9BB2C075EFEE}" type="presParOf" srcId="{A093DDE0-F592-BA47-90B8-1D10EAB4D2C2}" destId="{3D294D3E-6FD1-BE4B-9ED3-4A9F91238FAB}" srcOrd="1" destOrd="0" presId="urn:microsoft.com/office/officeart/2005/8/layout/hierarchy1"/>
    <dgm:cxn modelId="{ED51B981-9665-0D47-B9DD-39D5412C5666}" type="presParOf" srcId="{2CE11678-1840-E041-BF81-78DA7C2E18E5}" destId="{489870F3-98DE-9648-A949-9B54F59F61EB}" srcOrd="1" destOrd="0" presId="urn:microsoft.com/office/officeart/2005/8/layout/hierarchy1"/>
    <dgm:cxn modelId="{2EA3EA62-D2AB-2246-BFF4-2AF76A2A8A12}" type="presParOf" srcId="{8CB805F9-AB9A-024F-B2FD-00B1C23E203E}" destId="{2596C199-6225-CB49-A112-27F247ECE7BA}" srcOrd="4" destOrd="0" presId="urn:microsoft.com/office/officeart/2005/8/layout/hierarchy1"/>
    <dgm:cxn modelId="{B982B898-5455-1840-B128-ABC3229C6E4B}" type="presParOf" srcId="{8CB805F9-AB9A-024F-B2FD-00B1C23E203E}" destId="{76A2B5FE-5F06-7542-A786-A430EBA3EF4E}" srcOrd="5" destOrd="0" presId="urn:microsoft.com/office/officeart/2005/8/layout/hierarchy1"/>
    <dgm:cxn modelId="{1DB5E24A-F1D1-584C-A8D1-6E587D2F22DC}" type="presParOf" srcId="{76A2B5FE-5F06-7542-A786-A430EBA3EF4E}" destId="{5FA6A395-A876-B84E-8380-725680795781}" srcOrd="0" destOrd="0" presId="urn:microsoft.com/office/officeart/2005/8/layout/hierarchy1"/>
    <dgm:cxn modelId="{C5CB5924-E6AF-B749-B38D-3D9DCD7E35D5}" type="presParOf" srcId="{5FA6A395-A876-B84E-8380-725680795781}" destId="{1C90F586-CB6F-3F49-84E8-78CA25A25991}" srcOrd="0" destOrd="0" presId="urn:microsoft.com/office/officeart/2005/8/layout/hierarchy1"/>
    <dgm:cxn modelId="{1EA6905E-23CD-0440-ADCD-B14B485BAEDB}" type="presParOf" srcId="{5FA6A395-A876-B84E-8380-725680795781}" destId="{515728F1-38A6-B24A-9797-1CDDF1999C35}" srcOrd="1" destOrd="0" presId="urn:microsoft.com/office/officeart/2005/8/layout/hierarchy1"/>
    <dgm:cxn modelId="{8D3F9AE5-EF02-CA4E-8657-750B84A81E8F}" type="presParOf" srcId="{76A2B5FE-5F06-7542-A786-A430EBA3EF4E}" destId="{630A18DA-A9C2-3640-BCEB-32E73934FDAF}" srcOrd="1" destOrd="0" presId="urn:microsoft.com/office/officeart/2005/8/layout/hierarchy1"/>
    <dgm:cxn modelId="{C4A507C4-3876-4749-9AE0-CD426944F7CD}" type="presParOf" srcId="{8CB805F9-AB9A-024F-B2FD-00B1C23E203E}" destId="{40D14D86-1B39-7548-8D23-0EA69D1D64D9}" srcOrd="6" destOrd="0" presId="urn:microsoft.com/office/officeart/2005/8/layout/hierarchy1"/>
    <dgm:cxn modelId="{D219BCAB-9E96-ED48-BC68-F8FBA49A11CF}" type="presParOf" srcId="{8CB805F9-AB9A-024F-B2FD-00B1C23E203E}" destId="{6A5CDC33-B681-3246-9AD9-86D76C272378}" srcOrd="7" destOrd="0" presId="urn:microsoft.com/office/officeart/2005/8/layout/hierarchy1"/>
    <dgm:cxn modelId="{CC7DF9BB-A384-A848-8F51-72470062265B}" type="presParOf" srcId="{6A5CDC33-B681-3246-9AD9-86D76C272378}" destId="{4487F0D2-DC9B-1642-A48E-6EC71947324C}" srcOrd="0" destOrd="0" presId="urn:microsoft.com/office/officeart/2005/8/layout/hierarchy1"/>
    <dgm:cxn modelId="{AB1E0835-F70D-FA42-BE08-D01B6B173976}" type="presParOf" srcId="{4487F0D2-DC9B-1642-A48E-6EC71947324C}" destId="{007A6E05-C4D5-2141-B01C-DABC6C7D53CE}" srcOrd="0" destOrd="0" presId="urn:microsoft.com/office/officeart/2005/8/layout/hierarchy1"/>
    <dgm:cxn modelId="{0F9403D2-709E-B545-A882-A69F6FFCAF7E}" type="presParOf" srcId="{4487F0D2-DC9B-1642-A48E-6EC71947324C}" destId="{C84F816E-3493-644A-A12B-982678B2ECEF}" srcOrd="1" destOrd="0" presId="urn:microsoft.com/office/officeart/2005/8/layout/hierarchy1"/>
    <dgm:cxn modelId="{02C1F97E-59E7-0B48-8431-9A5761372295}" type="presParOf" srcId="{6A5CDC33-B681-3246-9AD9-86D76C272378}" destId="{276F9B00-A86A-2F44-A85B-83EDCF3200E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D884-5CDE-BF48-9972-5090201A2E3A}">
      <dsp:nvSpPr>
        <dsp:cNvPr id="0" name=""/>
        <dsp:cNvSpPr/>
      </dsp:nvSpPr>
      <dsp:spPr>
        <a:xfrm>
          <a:off x="575" y="784"/>
          <a:ext cx="402111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Measurements </a:t>
          </a:r>
        </a:p>
        <a:p>
          <a:pPr marL="0" lvl="0" indent="0" algn="ctr" defTabSz="577850">
            <a:lnSpc>
              <a:spcPct val="90000"/>
            </a:lnSpc>
            <a:spcBef>
              <a:spcPct val="0"/>
            </a:spcBef>
            <a:spcAft>
              <a:spcPct val="35000"/>
            </a:spcAft>
            <a:buNone/>
          </a:pPr>
          <a:r>
            <a:rPr lang="en-US" sz="1300" kern="1200" dirty="0"/>
            <a:t>(Domain)</a:t>
          </a:r>
        </a:p>
      </dsp:txBody>
      <dsp:txXfrm>
        <a:off x="17312" y="17521"/>
        <a:ext cx="3987636" cy="537961"/>
      </dsp:txXfrm>
    </dsp:sp>
    <dsp:sp modelId="{D1B077CC-2CAA-A844-8F00-C975737EC354}">
      <dsp:nvSpPr>
        <dsp:cNvPr id="0" name=""/>
        <dsp:cNvSpPr/>
      </dsp:nvSpPr>
      <dsp:spPr>
        <a:xfrm>
          <a:off x="450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RNA </a:t>
          </a:r>
        </a:p>
        <a:p>
          <a:pPr marL="0" lvl="0" indent="0" algn="ctr" defTabSz="400050">
            <a:lnSpc>
              <a:spcPct val="90000"/>
            </a:lnSpc>
            <a:spcBef>
              <a:spcPct val="0"/>
            </a:spcBef>
            <a:spcAft>
              <a:spcPct val="35000"/>
            </a:spcAft>
            <a:buNone/>
          </a:pPr>
          <a:r>
            <a:rPr lang="en-US" sz="900" kern="1200" dirty="0"/>
            <a:t>(Concept)</a:t>
          </a:r>
        </a:p>
      </dsp:txBody>
      <dsp:txXfrm>
        <a:off x="21237" y="658356"/>
        <a:ext cx="1066176" cy="537961"/>
      </dsp:txXfrm>
    </dsp:sp>
    <dsp:sp modelId="{24A551BB-454C-514E-8DDD-EC891D022E9E}">
      <dsp:nvSpPr>
        <dsp:cNvPr id="0" name=""/>
        <dsp:cNvSpPr/>
      </dsp:nvSpPr>
      <dsp:spPr>
        <a:xfrm>
          <a:off x="119652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HBV surface antigen </a:t>
          </a:r>
        </a:p>
        <a:p>
          <a:pPr marL="0" lvl="0" indent="0" algn="ctr" defTabSz="400050">
            <a:lnSpc>
              <a:spcPct val="90000"/>
            </a:lnSpc>
            <a:spcBef>
              <a:spcPct val="0"/>
            </a:spcBef>
            <a:spcAft>
              <a:spcPct val="35000"/>
            </a:spcAft>
            <a:buNone/>
          </a:pPr>
          <a:r>
            <a:rPr lang="en-US" sz="900" kern="1200" dirty="0"/>
            <a:t>(Concept)</a:t>
          </a:r>
        </a:p>
      </dsp:txBody>
      <dsp:txXfrm>
        <a:off x="1213257" y="658356"/>
        <a:ext cx="1066176" cy="537961"/>
      </dsp:txXfrm>
    </dsp:sp>
    <dsp:sp modelId="{F71C91BA-3FF3-5D4A-A3C2-7BF050E31AE7}">
      <dsp:nvSpPr>
        <dsp:cNvPr id="0" name=""/>
        <dsp:cNvSpPr/>
      </dsp:nvSpPr>
      <dsp:spPr>
        <a:xfrm>
          <a:off x="2388541" y="641619"/>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HIV Ab </a:t>
          </a:r>
        </a:p>
        <a:p>
          <a:pPr marL="0" lvl="0" indent="0" algn="ctr" defTabSz="400050">
            <a:lnSpc>
              <a:spcPct val="90000"/>
            </a:lnSpc>
            <a:spcBef>
              <a:spcPct val="0"/>
            </a:spcBef>
            <a:spcAft>
              <a:spcPct val="35000"/>
            </a:spcAft>
            <a:buNone/>
          </a:pPr>
          <a:r>
            <a:rPr lang="en-US" sz="900" kern="1200" dirty="0"/>
            <a:t>(Concept)</a:t>
          </a:r>
        </a:p>
      </dsp:txBody>
      <dsp:txXfrm>
        <a:off x="2405278" y="658356"/>
        <a:ext cx="1595745" cy="537961"/>
      </dsp:txXfrm>
    </dsp:sp>
    <dsp:sp modelId="{DD78D3D3-E9D3-1B47-9AEF-70E2E20C88B0}">
      <dsp:nvSpPr>
        <dsp:cNvPr id="0" name=""/>
        <dsp:cNvSpPr/>
      </dsp:nvSpPr>
      <dsp:spPr>
        <a:xfrm>
          <a:off x="1052268" y="1229950"/>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HBV, HIV labs</a:t>
          </a:r>
        </a:p>
        <a:p>
          <a:pPr marL="0" lvl="0" indent="0" algn="ctr" defTabSz="400050">
            <a:lnSpc>
              <a:spcPct val="90000"/>
            </a:lnSpc>
            <a:spcBef>
              <a:spcPct val="0"/>
            </a:spcBef>
            <a:spcAft>
              <a:spcPct val="35000"/>
            </a:spcAft>
            <a:buNone/>
          </a:pPr>
          <a:r>
            <a:rPr lang="en-US" sz="900" kern="1200" dirty="0"/>
            <a:t>(“Measurement” </a:t>
          </a:r>
          <a:r>
            <a:rPr lang="en-US" sz="900" kern="1200" dirty="0">
              <a:latin typeface="Avenir Book" panose="02000503020000020003" pitchFamily="2" charset="0"/>
            </a:rPr>
            <a:t>Concept</a:t>
          </a:r>
          <a:r>
            <a:rPr lang="en-US" sz="900" kern="1200" dirty="0"/>
            <a:t> Set)</a:t>
          </a:r>
        </a:p>
      </dsp:txBody>
      <dsp:txXfrm>
        <a:off x="1069005" y="1246687"/>
        <a:ext cx="1595745" cy="5379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14D86-1B39-7548-8D23-0EA69D1D64D9}">
      <dsp:nvSpPr>
        <dsp:cNvPr id="0" name=""/>
        <dsp:cNvSpPr/>
      </dsp:nvSpPr>
      <dsp:spPr>
        <a:xfrm>
          <a:off x="4816078" y="1187691"/>
          <a:ext cx="2481857" cy="393712"/>
        </a:xfrm>
        <a:custGeom>
          <a:avLst/>
          <a:gdLst/>
          <a:ahLst/>
          <a:cxnLst/>
          <a:rect l="0" t="0" r="0" b="0"/>
          <a:pathLst>
            <a:path>
              <a:moveTo>
                <a:pt x="0" y="0"/>
              </a:moveTo>
              <a:lnTo>
                <a:pt x="0" y="268303"/>
              </a:lnTo>
              <a:lnTo>
                <a:pt x="2481857" y="268303"/>
              </a:lnTo>
              <a:lnTo>
                <a:pt x="2481857"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96C199-6225-CB49-A112-27F247ECE7BA}">
      <dsp:nvSpPr>
        <dsp:cNvPr id="0" name=""/>
        <dsp:cNvSpPr/>
      </dsp:nvSpPr>
      <dsp:spPr>
        <a:xfrm>
          <a:off x="4816078" y="1187691"/>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D5D991-6FB0-254E-9E6B-F7D6E99DADBB}">
      <dsp:nvSpPr>
        <dsp:cNvPr id="0" name=""/>
        <dsp:cNvSpPr/>
      </dsp:nvSpPr>
      <dsp:spPr>
        <a:xfrm>
          <a:off x="3988792" y="1187691"/>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9D5C78-8857-C446-BD48-6662FB823932}">
      <dsp:nvSpPr>
        <dsp:cNvPr id="0" name=""/>
        <dsp:cNvSpPr/>
      </dsp:nvSpPr>
      <dsp:spPr>
        <a:xfrm>
          <a:off x="2334220" y="2441029"/>
          <a:ext cx="1654571" cy="393712"/>
        </a:xfrm>
        <a:custGeom>
          <a:avLst/>
          <a:gdLst/>
          <a:ahLst/>
          <a:cxnLst/>
          <a:rect l="0" t="0" r="0" b="0"/>
          <a:pathLst>
            <a:path>
              <a:moveTo>
                <a:pt x="0" y="0"/>
              </a:moveTo>
              <a:lnTo>
                <a:pt x="0" y="268303"/>
              </a:lnTo>
              <a:lnTo>
                <a:pt x="1654571" y="268303"/>
              </a:lnTo>
              <a:lnTo>
                <a:pt x="1654571"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72FC0-5DC6-1F40-BA1C-B9E0400B66A5}">
      <dsp:nvSpPr>
        <dsp:cNvPr id="0" name=""/>
        <dsp:cNvSpPr/>
      </dsp:nvSpPr>
      <dsp:spPr>
        <a:xfrm>
          <a:off x="2334220" y="3694367"/>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06801D-D181-E349-AC82-4493D341FD62}">
      <dsp:nvSpPr>
        <dsp:cNvPr id="0" name=""/>
        <dsp:cNvSpPr/>
      </dsp:nvSpPr>
      <dsp:spPr>
        <a:xfrm>
          <a:off x="1506934" y="3694367"/>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05311-5D44-844D-A214-AE8C71286F5A}">
      <dsp:nvSpPr>
        <dsp:cNvPr id="0" name=""/>
        <dsp:cNvSpPr/>
      </dsp:nvSpPr>
      <dsp:spPr>
        <a:xfrm>
          <a:off x="2288500" y="2441029"/>
          <a:ext cx="91440" cy="393712"/>
        </a:xfrm>
        <a:custGeom>
          <a:avLst/>
          <a:gdLst/>
          <a:ahLst/>
          <a:cxnLst/>
          <a:rect l="0" t="0" r="0" b="0"/>
          <a:pathLst>
            <a:path>
              <a:moveTo>
                <a:pt x="45720" y="0"/>
              </a:moveTo>
              <a:lnTo>
                <a:pt x="4572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49D93C-4944-854E-8B56-8DF0A9E144FB}">
      <dsp:nvSpPr>
        <dsp:cNvPr id="0" name=""/>
        <dsp:cNvSpPr/>
      </dsp:nvSpPr>
      <dsp:spPr>
        <a:xfrm>
          <a:off x="679648" y="2441029"/>
          <a:ext cx="1654571" cy="393712"/>
        </a:xfrm>
        <a:custGeom>
          <a:avLst/>
          <a:gdLst/>
          <a:ahLst/>
          <a:cxnLst/>
          <a:rect l="0" t="0" r="0" b="0"/>
          <a:pathLst>
            <a:path>
              <a:moveTo>
                <a:pt x="1654571" y="0"/>
              </a:moveTo>
              <a:lnTo>
                <a:pt x="1654571"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19EBB7-18E9-2A40-920A-13A0FD9DD72E}">
      <dsp:nvSpPr>
        <dsp:cNvPr id="0" name=""/>
        <dsp:cNvSpPr/>
      </dsp:nvSpPr>
      <dsp:spPr>
        <a:xfrm>
          <a:off x="2334220" y="1187691"/>
          <a:ext cx="2481857" cy="393712"/>
        </a:xfrm>
        <a:custGeom>
          <a:avLst/>
          <a:gdLst/>
          <a:ahLst/>
          <a:cxnLst/>
          <a:rect l="0" t="0" r="0" b="0"/>
          <a:pathLst>
            <a:path>
              <a:moveTo>
                <a:pt x="2481857" y="0"/>
              </a:moveTo>
              <a:lnTo>
                <a:pt x="2481857"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328983-37D5-9B43-BC65-1303DA9E504B}">
      <dsp:nvSpPr>
        <dsp:cNvPr id="0" name=""/>
        <dsp:cNvSpPr/>
      </dsp:nvSpPr>
      <dsp:spPr>
        <a:xfrm>
          <a:off x="4139207" y="328066"/>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F9680-A9E1-1348-A090-FDA03091B201}">
      <dsp:nvSpPr>
        <dsp:cNvPr id="0" name=""/>
        <dsp:cNvSpPr/>
      </dsp:nvSpPr>
      <dsp:spPr>
        <a:xfrm>
          <a:off x="4289623" y="470960"/>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Heart disease</a:t>
          </a:r>
        </a:p>
      </dsp:txBody>
      <dsp:txXfrm>
        <a:off x="4314801" y="496138"/>
        <a:ext cx="1303384" cy="809269"/>
      </dsp:txXfrm>
    </dsp:sp>
    <dsp:sp modelId="{FBD2DFE1-EDBA-3344-B01A-E6D1A0BD2508}">
      <dsp:nvSpPr>
        <dsp:cNvPr id="0" name=""/>
        <dsp:cNvSpPr/>
      </dsp:nvSpPr>
      <dsp:spPr>
        <a:xfrm>
          <a:off x="1657350"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0B67E-7C1D-C741-AE36-4D5FEEC5A655}">
      <dsp:nvSpPr>
        <dsp:cNvPr id="0" name=""/>
        <dsp:cNvSpPr/>
      </dsp:nvSpPr>
      <dsp:spPr>
        <a:xfrm>
          <a:off x="1807765"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arrhythmia</a:t>
          </a:r>
        </a:p>
      </dsp:txBody>
      <dsp:txXfrm>
        <a:off x="1832943" y="1749477"/>
        <a:ext cx="1303384" cy="809269"/>
      </dsp:txXfrm>
    </dsp:sp>
    <dsp:sp modelId="{D85FABB1-5524-FB44-A35B-E6D4A1B4B1A6}">
      <dsp:nvSpPr>
        <dsp:cNvPr id="0" name=""/>
        <dsp:cNvSpPr/>
      </dsp:nvSpPr>
      <dsp:spPr>
        <a:xfrm>
          <a:off x="2778"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ABD26D-C24A-E043-8E0F-1CC8B9D45C40}">
      <dsp:nvSpPr>
        <dsp:cNvPr id="0" name=""/>
        <dsp:cNvSpPr/>
      </dsp:nvSpPr>
      <dsp:spPr>
        <a:xfrm>
          <a:off x="153193"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arrest</a:t>
          </a:r>
        </a:p>
      </dsp:txBody>
      <dsp:txXfrm>
        <a:off x="178371" y="3002815"/>
        <a:ext cx="1303384" cy="809269"/>
      </dsp:txXfrm>
    </dsp:sp>
    <dsp:sp modelId="{09223196-1DFC-174A-AAC3-14B6604284E2}">
      <dsp:nvSpPr>
        <dsp:cNvPr id="0" name=""/>
        <dsp:cNvSpPr/>
      </dsp:nvSpPr>
      <dsp:spPr>
        <a:xfrm>
          <a:off x="1657350"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01160B-5979-EA4A-92F7-D431A605DCAC}">
      <dsp:nvSpPr>
        <dsp:cNvPr id="0" name=""/>
        <dsp:cNvSpPr/>
      </dsp:nvSpPr>
      <dsp:spPr>
        <a:xfrm>
          <a:off x="1807765"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Supraventricular arrythmia</a:t>
          </a:r>
        </a:p>
      </dsp:txBody>
      <dsp:txXfrm>
        <a:off x="1832943" y="3002815"/>
        <a:ext cx="1303384" cy="809269"/>
      </dsp:txXfrm>
    </dsp:sp>
    <dsp:sp modelId="{C6AC1CEA-1BB0-874F-80E2-1CF493D7D182}">
      <dsp:nvSpPr>
        <dsp:cNvPr id="0" name=""/>
        <dsp:cNvSpPr/>
      </dsp:nvSpPr>
      <dsp:spPr>
        <a:xfrm>
          <a:off x="830064"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7F57F6-B8C7-494F-B2DE-8CB7FB32D725}">
      <dsp:nvSpPr>
        <dsp:cNvPr id="0" name=""/>
        <dsp:cNvSpPr/>
      </dsp:nvSpPr>
      <dsp:spPr>
        <a:xfrm>
          <a:off x="980479" y="4230975"/>
          <a:ext cx="1353740" cy="859625"/>
        </a:xfrm>
        <a:prstGeom prst="roundRect">
          <a:avLst>
            <a:gd name="adj" fmla="val 10000"/>
          </a:avLst>
        </a:prstGeom>
        <a:solidFill>
          <a:schemeClr val="accent2">
            <a:lumMod val="20000"/>
            <a:lumOff val="8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Atrial fibrillation</a:t>
          </a:r>
        </a:p>
      </dsp:txBody>
      <dsp:txXfrm>
        <a:off x="1005657" y="4256153"/>
        <a:ext cx="1303384" cy="809269"/>
      </dsp:txXfrm>
    </dsp:sp>
    <dsp:sp modelId="{F5C227BC-2A1B-0443-A781-50F928832A26}">
      <dsp:nvSpPr>
        <dsp:cNvPr id="0" name=""/>
        <dsp:cNvSpPr/>
      </dsp:nvSpPr>
      <dsp:spPr>
        <a:xfrm>
          <a:off x="2484635"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C4F66C-7E75-FA49-93FB-90887BDD3039}">
      <dsp:nvSpPr>
        <dsp:cNvPr id="0" name=""/>
        <dsp:cNvSpPr/>
      </dsp:nvSpPr>
      <dsp:spPr>
        <a:xfrm>
          <a:off x="2635051" y="4230975"/>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2660229" y="4256153"/>
        <a:ext cx="1303384" cy="809269"/>
      </dsp:txXfrm>
    </dsp:sp>
    <dsp:sp modelId="{9A7DFF09-8369-8247-A19F-5BE1AE9D9CDD}">
      <dsp:nvSpPr>
        <dsp:cNvPr id="0" name=""/>
        <dsp:cNvSpPr/>
      </dsp:nvSpPr>
      <dsp:spPr>
        <a:xfrm>
          <a:off x="3311921"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2AB1E-B62D-2946-A4A9-997482CDC1EF}">
      <dsp:nvSpPr>
        <dsp:cNvPr id="0" name=""/>
        <dsp:cNvSpPr/>
      </dsp:nvSpPr>
      <dsp:spPr>
        <a:xfrm>
          <a:off x="3462337"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3487515" y="3002815"/>
        <a:ext cx="1303384" cy="809269"/>
      </dsp:txXfrm>
    </dsp:sp>
    <dsp:sp modelId="{1F7EADFD-372D-E646-85AB-59C636000941}">
      <dsp:nvSpPr>
        <dsp:cNvPr id="0" name=""/>
        <dsp:cNvSpPr/>
      </dsp:nvSpPr>
      <dsp:spPr>
        <a:xfrm>
          <a:off x="3311921"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294D3E-6FD1-BE4B-9ED3-4A9F91238FAB}">
      <dsp:nvSpPr>
        <dsp:cNvPr id="0" name=""/>
        <dsp:cNvSpPr/>
      </dsp:nvSpPr>
      <dsp:spPr>
        <a:xfrm>
          <a:off x="3462337"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Acute heart disease</a:t>
          </a:r>
        </a:p>
      </dsp:txBody>
      <dsp:txXfrm>
        <a:off x="3487515" y="1749477"/>
        <a:ext cx="1303384" cy="809269"/>
      </dsp:txXfrm>
    </dsp:sp>
    <dsp:sp modelId="{1C90F586-CB6F-3F49-84E8-78CA25A25991}">
      <dsp:nvSpPr>
        <dsp:cNvPr id="0" name=""/>
        <dsp:cNvSpPr/>
      </dsp:nvSpPr>
      <dsp:spPr>
        <a:xfrm>
          <a:off x="4966493"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5728F1-38A6-B24A-9797-1CDDF1999C35}">
      <dsp:nvSpPr>
        <dsp:cNvPr id="0" name=""/>
        <dsp:cNvSpPr/>
      </dsp:nvSpPr>
      <dsp:spPr>
        <a:xfrm>
          <a:off x="5116909"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Athlete's heart</a:t>
          </a:r>
        </a:p>
      </dsp:txBody>
      <dsp:txXfrm>
        <a:off x="5142087" y="1749477"/>
        <a:ext cx="1303384" cy="809269"/>
      </dsp:txXfrm>
    </dsp:sp>
    <dsp:sp modelId="{007A6E05-C4D5-2141-B01C-DABC6C7D53CE}">
      <dsp:nvSpPr>
        <dsp:cNvPr id="0" name=""/>
        <dsp:cNvSpPr/>
      </dsp:nvSpPr>
      <dsp:spPr>
        <a:xfrm>
          <a:off x="6621065"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4F816E-3493-644A-A12B-982678B2ECEF}">
      <dsp:nvSpPr>
        <dsp:cNvPr id="0" name=""/>
        <dsp:cNvSpPr/>
      </dsp:nvSpPr>
      <dsp:spPr>
        <a:xfrm>
          <a:off x="6771481"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6796659" y="1749477"/>
        <a:ext cx="1303384" cy="8092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36FF6-484D-52C8-EEF1-907091636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452E4-93F9-D048-E5B9-E7D37220D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5976D-9E80-BC21-D07D-2997258FCF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1BC5E0-16C7-6BEA-1532-D3598BC461D6}"/>
              </a:ext>
            </a:extLst>
          </p:cNvPr>
          <p:cNvSpPr>
            <a:spLocks noGrp="1"/>
          </p:cNvSpPr>
          <p:nvPr>
            <p:ph type="sldNum" sz="quarter" idx="5"/>
          </p:nvPr>
        </p:nvSpPr>
        <p:spPr/>
        <p:txBody>
          <a:bodyPr/>
          <a:lstStyle/>
          <a:p>
            <a:fld id="{50049E44-D13C-C54E-8DA3-DB5207EAD25C}" type="slidenum">
              <a:rPr lang="en-US" smtClean="0"/>
              <a:t>2</a:t>
            </a:fld>
            <a:endParaRPr lang="en-US"/>
          </a:p>
        </p:txBody>
      </p:sp>
    </p:spTree>
    <p:extLst>
      <p:ext uri="{BB962C8B-B14F-4D97-AF65-F5344CB8AC3E}">
        <p14:creationId xmlns:p14="http://schemas.microsoft.com/office/powerpoint/2010/main" val="1254021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E160-0AED-502D-E2C5-903AD2463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1054E-D965-49FD-DC29-A09239971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39A9C-040D-B81E-0795-3CF30F12DE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89DB99-8C78-DE63-9CE5-53A49C382731}"/>
              </a:ext>
            </a:extLst>
          </p:cNvPr>
          <p:cNvSpPr>
            <a:spLocks noGrp="1"/>
          </p:cNvSpPr>
          <p:nvPr>
            <p:ph type="sldNum" sz="quarter" idx="5"/>
          </p:nvPr>
        </p:nvSpPr>
        <p:spPr/>
        <p:txBody>
          <a:bodyPr/>
          <a:lstStyle/>
          <a:p>
            <a:fld id="{50049E44-D13C-C54E-8DA3-DB5207EAD25C}" type="slidenum">
              <a:rPr lang="en-US" smtClean="0"/>
              <a:t>3</a:t>
            </a:fld>
            <a:endParaRPr lang="en-US"/>
          </a:p>
        </p:txBody>
      </p:sp>
    </p:spTree>
    <p:extLst>
      <p:ext uri="{BB962C8B-B14F-4D97-AF65-F5344CB8AC3E}">
        <p14:creationId xmlns:p14="http://schemas.microsoft.com/office/powerpoint/2010/main" val="1377459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100210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Have you ever heard of All of Us before signing up for this class?</a:t>
            </a:r>
          </a:p>
          <a:p>
            <a:r>
              <a:rPr lang="en-US"/>
              <a:t>https://www.polleverywhere.com/multiple_choice_polls/mJz6ARM0ep0clYbIfjwbU?state=opened&amp;flow=Default&amp;onscreen=persist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7</a:t>
            </a:fld>
            <a:endParaRPr lang="en-US"/>
          </a:p>
        </p:txBody>
      </p:sp>
    </p:spTree>
    <p:extLst>
      <p:ext uri="{BB962C8B-B14F-4D97-AF65-F5344CB8AC3E}">
        <p14:creationId xmlns:p14="http://schemas.microsoft.com/office/powerpoint/2010/main" val="185705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3311011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EEF0FF"/>
                </a:solidFill>
                <a:effectLst/>
                <a:latin typeface="Google Sans"/>
              </a:rPr>
              <a:t>Ensuring everyone has a fair and just opportunity to access quality healthcare, regardless of:  </a:t>
            </a:r>
          </a:p>
          <a:p>
            <a:pPr marL="1085850" lvl="2" indent="-171450">
              <a:buFont typeface="Arial" panose="020B0604020202020204" pitchFamily="34" charset="0"/>
              <a:buChar char="•"/>
            </a:pPr>
            <a:r>
              <a:rPr lang="en-US" b="0" i="0" u="none" strike="noStrike" dirty="0">
                <a:solidFill>
                  <a:srgbClr val="EEF0FF"/>
                </a:solidFill>
                <a:effectLst/>
                <a:latin typeface="Google Sans"/>
              </a:rPr>
              <a:t>race, ethnicity, socioeconomic status, gender, or geographic location, </a:t>
            </a:r>
          </a:p>
          <a:p>
            <a:pPr marL="1085850" lvl="2" indent="-171450">
              <a:buFont typeface="Arial" panose="020B0604020202020204" pitchFamily="34" charset="0"/>
              <a:buChar char="•"/>
            </a:pPr>
            <a:r>
              <a:rPr lang="en-US" b="0" i="0" u="none" strike="noStrike" dirty="0">
                <a:solidFill>
                  <a:srgbClr val="EEF0FF"/>
                </a:solidFill>
                <a:effectLst/>
                <a:latin typeface="Google Sans"/>
              </a:rPr>
              <a:t>addressing underlying social determinants of health and providing care tailored to individual needs</a:t>
            </a:r>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130638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305395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OMOP (Observational Medical Outcomes Partnership) Common Data Model (CDM)</a:t>
            </a:r>
            <a:r>
              <a:rPr lang="en-US" b="0" i="0" u="none" strike="noStrike" dirty="0">
                <a:solidFill>
                  <a:srgbClr val="000000"/>
                </a:solidFill>
                <a:effectLst/>
                <a:latin typeface="Poppins" panose="020B0604020202020204" pitchFamily="34" charset="0"/>
              </a:rPr>
              <a:t>: A standardized data model designed to integrate diverse healthcare data sources into a common format.</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Standard Vocabulary</a:t>
            </a:r>
            <a:r>
              <a:rPr lang="en-US" b="0" i="0" u="none" strike="noStrike" dirty="0">
                <a:solidFill>
                  <a:srgbClr val="000000"/>
                </a:solidFill>
                <a:effectLst/>
                <a:latin typeface="Poppins" panose="020B0604020202020204" pitchFamily="34" charset="0"/>
              </a:rPr>
              <a:t>: OMOP utilizes a standardized vocabulary system, which includes standard concepts for drugs, conditions, procedures, and other clinical entities to ensure consistency across datasets.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Mapping to Standard Codes</a:t>
            </a:r>
            <a:r>
              <a:rPr lang="en-US" b="0" i="0" u="none" strike="noStrike" dirty="0">
                <a:solidFill>
                  <a:srgbClr val="000000"/>
                </a:solidFill>
                <a:effectLst/>
                <a:latin typeface="Poppins" panose="020B0604020202020204" pitchFamily="34" charset="0"/>
              </a:rPr>
              <a:t>: Local codes from different healthcare databases are mapped to OMOP standard codes to enable cross-database analyses.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Applications</a:t>
            </a:r>
            <a:r>
              <a:rPr lang="en-US" b="0" i="0" u="none" strike="noStrike" dirty="0">
                <a:solidFill>
                  <a:srgbClr val="000000"/>
                </a:solidFill>
                <a:effectLst/>
                <a:latin typeface="Poppins" panose="020B0604020202020204" pitchFamily="34" charset="0"/>
              </a:rPr>
              <a:t>: Widely used in observational health research, especially for large-scale data analyses, observational studies, and drug safety assessments.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Governance and Collaboration</a:t>
            </a:r>
            <a:r>
              <a:rPr lang="en-US" b="0" i="0" u="none" strike="noStrike" dirty="0">
                <a:solidFill>
                  <a:srgbClr val="000000"/>
                </a:solidFill>
                <a:effectLst/>
                <a:latin typeface="Poppins" panose="020B0604020202020204" pitchFamily="34" charset="0"/>
              </a:rPr>
              <a:t>: Managed by OHDSI (Observational Health Data Sciences and Informatics) community, fostering collaboration and consistency in healthcare research.</a:t>
            </a:r>
          </a:p>
          <a:p>
            <a:pPr lvl="1" algn="l">
              <a:buFont typeface="Arial" panose="020B0604020202020204" pitchFamily="34" charset="0"/>
              <a:buChar char="•"/>
            </a:pPr>
            <a:endParaRPr lang="en-US" b="0" i="0" u="none" strike="noStrike" dirty="0">
              <a:solidFill>
                <a:srgbClr val="000000"/>
              </a:solidFill>
              <a:effectLst/>
              <a:latin typeface="Poppins" panose="020B0604020202020204" pitchFamily="34" charset="0"/>
            </a:endParaRPr>
          </a:p>
          <a:p>
            <a:pPr lvl="0" algn="l">
              <a:buFont typeface="Arial" panose="020B0604020202020204" pitchFamily="34" charset="0"/>
              <a:buChar char="•"/>
            </a:pPr>
            <a:r>
              <a:rPr lang="en-US" b="0" i="0" u="none" strike="noStrike" dirty="0">
                <a:solidFill>
                  <a:srgbClr val="000000"/>
                </a:solidFill>
                <a:effectLst/>
                <a:latin typeface="Poppins" pitchFamily="2" charset="77"/>
              </a:rPr>
              <a:t>OMOP codes are crucial because they standardize diverse healthcare data, enabling consistent and comprehensive large-scale analyses, thus advancing research and improving patient outcomes through better data interoperability.</a:t>
            </a:r>
            <a:endParaRPr lang="en-US" b="0" i="0" u="none" strike="noStrike" dirty="0">
              <a:solidFill>
                <a:srgbClr val="000000"/>
              </a:solidFill>
              <a:effectLst/>
              <a:latin typeface="Poppins"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0049E44-D13C-C54E-8DA3-DB5207EAD25C}" type="slidenum">
              <a:rPr lang="en-US" smtClean="0"/>
              <a:t>11</a:t>
            </a:fld>
            <a:endParaRPr lang="en-US"/>
          </a:p>
        </p:txBody>
      </p:sp>
    </p:spTree>
    <p:extLst>
      <p:ext uri="{BB962C8B-B14F-4D97-AF65-F5344CB8AC3E}">
        <p14:creationId xmlns:p14="http://schemas.microsoft.com/office/powerpoint/2010/main" val="721609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are your current research interests? [list as many as you want]</a:t>
            </a:r>
          </a:p>
          <a:p>
            <a:r>
              <a:rPr lang="en-US"/>
              <a:t>https://www.polleverywhere.com/free_text_polls/GT3jNB9uF45UDsjUwrhbA</a:t>
            </a:r>
          </a:p>
        </p:txBody>
      </p:sp>
      <p:sp>
        <p:nvSpPr>
          <p:cNvPr id="4" name="Slide Number Placeholder 3"/>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3905553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36B1-5586-9AB7-C277-0486113A7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584CA-ED6F-DB8E-C3D1-8CE0E63F5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AC8CC-B003-59DF-DAFC-A92CB0BF4E1A}"/>
              </a:ext>
            </a:extLst>
          </p:cNvPr>
          <p:cNvSpPr>
            <a:spLocks noGrp="1"/>
          </p:cNvSpPr>
          <p:nvPr>
            <p:ph type="body" idx="1"/>
          </p:nvPr>
        </p:nvSpPr>
        <p:spPr/>
        <p:txBody>
          <a:bodyPr/>
          <a:lstStyle/>
          <a:p>
            <a:pPr marL="0" indent="0">
              <a:lnSpc>
                <a:spcPct val="100000"/>
              </a:lnSpc>
              <a:spcBef>
                <a:spcPts val="0"/>
              </a:spcBef>
              <a:buNone/>
            </a:pPr>
            <a:r>
              <a:rPr lang="en-US" sz="1600" b="1" dirty="0">
                <a:latin typeface="Avenir Book" panose="02000503020000020003" pitchFamily="2" charset="0"/>
              </a:rPr>
              <a:t>Data Preparation</a:t>
            </a:r>
          </a:p>
          <a:p>
            <a:pPr>
              <a:lnSpc>
                <a:spcPct val="100000"/>
              </a:lnSpc>
              <a:spcBef>
                <a:spcPts val="0"/>
              </a:spcBef>
            </a:pPr>
            <a:endParaRPr lang="en-US" sz="1600" dirty="0">
              <a:latin typeface="Avenir Book" panose="02000503020000020003" pitchFamily="2" charset="0"/>
            </a:endParaRPr>
          </a:p>
          <a:p>
            <a:pPr>
              <a:lnSpc>
                <a:spcPct val="100000"/>
              </a:lnSpc>
              <a:spcBef>
                <a:spcPts val="0"/>
              </a:spcBef>
            </a:pPr>
            <a:r>
              <a:rPr lang="en-US" sz="1200" dirty="0">
                <a:latin typeface="Avenir Book" panose="02000503020000020003" pitchFamily="2" charset="0"/>
              </a:rPr>
              <a:t>Curated Data Repository (CDR): Raw data from various sources (EHRs, surveys, etc.) are transformed and </a:t>
            </a:r>
            <a:r>
              <a:rPr lang="en-US" sz="1200" b="1" dirty="0">
                <a:latin typeface="Avenir Book" panose="02000503020000020003" pitchFamily="2" charset="0"/>
              </a:rPr>
              <a:t>standardized</a:t>
            </a:r>
            <a:r>
              <a:rPr lang="en-US" sz="1200" dirty="0">
                <a:latin typeface="Avenir Book" panose="02000503020000020003" pitchFamily="2" charset="0"/>
              </a:rPr>
              <a:t> into a curated dataset.</a:t>
            </a:r>
          </a:p>
          <a:p>
            <a:pPr>
              <a:lnSpc>
                <a:spcPct val="100000"/>
              </a:lnSpc>
              <a:spcBef>
                <a:spcPts val="0"/>
              </a:spcBef>
            </a:pPr>
            <a:endParaRPr lang="en-US" sz="1200" dirty="0">
              <a:latin typeface="Avenir Book" panose="02000503020000020003" pitchFamily="2" charset="0"/>
            </a:endParaRPr>
          </a:p>
          <a:p>
            <a:pPr marL="0" indent="0">
              <a:lnSpc>
                <a:spcPct val="100000"/>
              </a:lnSpc>
              <a:spcBef>
                <a:spcPts val="0"/>
              </a:spcBef>
              <a:buNone/>
            </a:pPr>
            <a:r>
              <a:rPr lang="en-US" sz="1600" b="1" dirty="0">
                <a:latin typeface="Avenir Book" panose="02000503020000020003" pitchFamily="2" charset="0"/>
              </a:rPr>
              <a:t>Data Storage and Platform</a:t>
            </a:r>
          </a:p>
          <a:p>
            <a:pPr marL="0" indent="0">
              <a:lnSpc>
                <a:spcPct val="100000"/>
              </a:lnSpc>
              <a:spcBef>
                <a:spcPts val="0"/>
              </a:spcBef>
              <a:buNone/>
            </a:pPr>
            <a:endParaRPr lang="en-US" sz="1200" dirty="0">
              <a:latin typeface="Avenir Book" panose="02000503020000020003" pitchFamily="2" charset="0"/>
            </a:endParaRPr>
          </a:p>
          <a:p>
            <a:pPr>
              <a:lnSpc>
                <a:spcPct val="100000"/>
              </a:lnSpc>
              <a:spcBef>
                <a:spcPts val="0"/>
              </a:spcBef>
            </a:pPr>
            <a:r>
              <a:rPr lang="en-US" sz="1200" dirty="0">
                <a:latin typeface="Avenir Book" panose="02000503020000020003" pitchFamily="2" charset="0"/>
              </a:rPr>
              <a:t>Cloud-based: The Researcher Workbench is built on the Google Cloud Platform (GCP) for security, scalability, and computational power.</a:t>
            </a:r>
          </a:p>
          <a:p>
            <a:pPr>
              <a:lnSpc>
                <a:spcPct val="100000"/>
              </a:lnSpc>
              <a:spcBef>
                <a:spcPts val="0"/>
              </a:spcBef>
            </a:pPr>
            <a:endParaRPr lang="en-US" sz="1200" dirty="0">
              <a:latin typeface="Avenir Book" panose="02000503020000020003" pitchFamily="2" charset="0"/>
            </a:endParaRPr>
          </a:p>
          <a:p>
            <a:endParaRPr lang="en-US" b="1" dirty="0"/>
          </a:p>
        </p:txBody>
      </p:sp>
      <p:sp>
        <p:nvSpPr>
          <p:cNvPr id="4" name="Slide Number Placeholder 3">
            <a:extLst>
              <a:ext uri="{FF2B5EF4-FFF2-40B4-BE49-F238E27FC236}">
                <a16:creationId xmlns:a16="http://schemas.microsoft.com/office/drawing/2014/main" id="{A9252C3B-13EC-8A43-44E1-FDE4915CF595}"/>
              </a:ext>
            </a:extLst>
          </p:cNvPr>
          <p:cNvSpPr>
            <a:spLocks noGrp="1"/>
          </p:cNvSpPr>
          <p:nvPr>
            <p:ph type="sldNum" sz="quarter" idx="5"/>
          </p:nvPr>
        </p:nvSpPr>
        <p:spPr/>
        <p:txBody>
          <a:bodyPr/>
          <a:lstStyle/>
          <a:p>
            <a:fld id="{A5B4ED3A-914E-6443-A2E7-C28A873C6BCA}" type="slidenum">
              <a:rPr lang="en-US" smtClean="0"/>
              <a:t>13</a:t>
            </a:fld>
            <a:endParaRPr lang="en-US"/>
          </a:p>
        </p:txBody>
      </p:sp>
    </p:spTree>
    <p:extLst>
      <p:ext uri="{BB962C8B-B14F-4D97-AF65-F5344CB8AC3E}">
        <p14:creationId xmlns:p14="http://schemas.microsoft.com/office/powerpoint/2010/main" val="3663115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715C2-A813-08DE-0E2F-8AD0040C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3F906-EFD5-4E63-918F-2FC2F86BC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558C59-E5AA-A062-05E1-1C811F583169}"/>
              </a:ext>
            </a:extLst>
          </p:cNvPr>
          <p:cNvSpPr>
            <a:spLocks noGrp="1"/>
          </p:cNvSpPr>
          <p:nvPr>
            <p:ph type="body" idx="1"/>
          </p:nvPr>
        </p:nvSpPr>
        <p:spPr/>
        <p:txBody>
          <a:bodyPr/>
          <a:lstStyle/>
          <a:p>
            <a:r>
              <a:rPr lang="en-US" dirty="0"/>
              <a:t>If you have an NIH grant , your can put the COA (charge of account)</a:t>
            </a:r>
          </a:p>
        </p:txBody>
      </p:sp>
      <p:sp>
        <p:nvSpPr>
          <p:cNvPr id="4" name="Slide Number Placeholder 3">
            <a:extLst>
              <a:ext uri="{FF2B5EF4-FFF2-40B4-BE49-F238E27FC236}">
                <a16:creationId xmlns:a16="http://schemas.microsoft.com/office/drawing/2014/main" id="{F8573C8C-7141-A6C6-D095-0FCAFCC0FB74}"/>
              </a:ext>
            </a:extLst>
          </p:cNvPr>
          <p:cNvSpPr>
            <a:spLocks noGrp="1"/>
          </p:cNvSpPr>
          <p:nvPr>
            <p:ph type="sldNum" sz="quarter" idx="5"/>
          </p:nvPr>
        </p:nvSpPr>
        <p:spPr/>
        <p:txBody>
          <a:bodyPr/>
          <a:lstStyle/>
          <a:p>
            <a:fld id="{A5B4ED3A-914E-6443-A2E7-C28A873C6BCA}" type="slidenum">
              <a:rPr lang="en-US" smtClean="0"/>
              <a:t>14</a:t>
            </a:fld>
            <a:endParaRPr lang="en-US"/>
          </a:p>
        </p:txBody>
      </p:sp>
    </p:spTree>
    <p:extLst>
      <p:ext uri="{BB962C8B-B14F-4D97-AF65-F5344CB8AC3E}">
        <p14:creationId xmlns:p14="http://schemas.microsoft.com/office/powerpoint/2010/main" val="1182971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1274-1168-C1D8-F894-B223C56B1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1AE5-F4F8-D27F-5FB3-97715795B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52C47-690B-7180-7BE3-82B40387401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data you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46E64A09-E475-65A0-5F6C-976716F0B39E}"/>
              </a:ext>
            </a:extLst>
          </p:cNvPr>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2962108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5B2FA-C36E-6B0D-F7BA-96BBD1F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0706-2BA6-8BE0-80EA-F9E4BE05F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5F995-EA77-D7CD-1E3E-B9BBA8D7F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E7184-1716-A775-F5A5-A916974C727D}"/>
              </a:ext>
            </a:extLst>
          </p:cNvPr>
          <p:cNvSpPr>
            <a:spLocks noGrp="1"/>
          </p:cNvSpPr>
          <p:nvPr>
            <p:ph type="sldNum" sz="quarter" idx="5"/>
          </p:nvPr>
        </p:nvSpPr>
        <p:spPr/>
        <p:txBody>
          <a:bodyPr/>
          <a:lstStyle/>
          <a:p>
            <a:fld id="{A5B4ED3A-914E-6443-A2E7-C28A873C6BCA}" type="slidenum">
              <a:rPr lang="en-US" smtClean="0"/>
              <a:t>16</a:t>
            </a:fld>
            <a:endParaRPr lang="en-US"/>
          </a:p>
        </p:txBody>
      </p:sp>
    </p:spTree>
    <p:extLst>
      <p:ext uri="{BB962C8B-B14F-4D97-AF65-F5344CB8AC3E}">
        <p14:creationId xmlns:p14="http://schemas.microsoft.com/office/powerpoint/2010/main" val="4253035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BA5C-125B-4BBC-F9ED-C13EA1353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A353F-E7CE-2DCD-7D22-672B5B9D6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3F3F2-D64B-7553-F6CC-21A6B6AB2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FDDC05-009E-FB35-0ADE-E852C3154B80}"/>
              </a:ext>
            </a:extLst>
          </p:cNvPr>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3495859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74D2-B904-E1B4-14C1-DE7200F61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89D66-8BDD-95DF-8A01-7BCD276C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8DB9-FDC3-E571-FD37-CD01DDFD4F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F914F2-1967-82CB-BC6A-D9C3C37E05C9}"/>
              </a:ext>
            </a:extLst>
          </p:cNvPr>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1634116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Do you already have an All of Us account?</a:t>
            </a:r>
          </a:p>
          <a:p>
            <a:r>
              <a:rPr lang="en-US"/>
              <a:t>https://www.polleverywhere.com/multiple_choice_polls/hLkFcZ58OkTGRVuCWfRtl?state=opened&amp;flow=Default&amp;onscreen=persist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20</a:t>
            </a:fld>
            <a:endParaRPr lang="en-US"/>
          </a:p>
        </p:txBody>
      </p:sp>
    </p:spTree>
    <p:extLst>
      <p:ext uri="{BB962C8B-B14F-4D97-AF65-F5344CB8AC3E}">
        <p14:creationId xmlns:p14="http://schemas.microsoft.com/office/powerpoint/2010/main" val="1953424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8340-968B-6529-4183-A08A14CE3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9AD60-FAB9-492F-9C9E-0E3EB6120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B14A4-058B-0535-ED47-0F2392259A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0CA3EC-A51A-CB5B-2495-BF00FF562F66}"/>
              </a:ext>
            </a:extLst>
          </p:cNvPr>
          <p:cNvSpPr>
            <a:spLocks noGrp="1"/>
          </p:cNvSpPr>
          <p:nvPr>
            <p:ph type="sldNum" sz="quarter" idx="5"/>
          </p:nvPr>
        </p:nvSpPr>
        <p:spPr/>
        <p:txBody>
          <a:bodyPr/>
          <a:lstStyle/>
          <a:p>
            <a:fld id="{A5B4ED3A-914E-6443-A2E7-C28A873C6BCA}" type="slidenum">
              <a:rPr lang="en-US" smtClean="0"/>
              <a:t>21</a:t>
            </a:fld>
            <a:endParaRPr lang="en-US"/>
          </a:p>
        </p:txBody>
      </p:sp>
    </p:spTree>
    <p:extLst>
      <p:ext uri="{BB962C8B-B14F-4D97-AF65-F5344CB8AC3E}">
        <p14:creationId xmlns:p14="http://schemas.microsoft.com/office/powerpoint/2010/main" val="1630039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Are you interested in making an All of Us account for your research?</a:t>
            </a:r>
          </a:p>
          <a:p>
            <a:r>
              <a:rPr lang="en-US"/>
              <a:t>https://www.polleverywhere.com/multiple_choice_polls/muPCanqbmR6nBkDbOc3cC?state=opened&amp;flow=Default&amp;onscreen=persist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22</a:t>
            </a:fld>
            <a:endParaRPr lang="en-US"/>
          </a:p>
        </p:txBody>
      </p:sp>
    </p:spTree>
    <p:extLst>
      <p:ext uri="{BB962C8B-B14F-4D97-AF65-F5344CB8AC3E}">
        <p14:creationId xmlns:p14="http://schemas.microsoft.com/office/powerpoint/2010/main" val="3902234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6234-AC3A-783E-CB11-D87D26EB6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C0A41-2D19-F033-7D4F-FB5D99A0A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968A9-450C-A615-7321-767E87E1B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2DFB1-7DF1-437D-0855-22B7E0121553}"/>
              </a:ext>
            </a:extLst>
          </p:cNvPr>
          <p:cNvSpPr>
            <a:spLocks noGrp="1"/>
          </p:cNvSpPr>
          <p:nvPr>
            <p:ph type="sldNum" sz="quarter" idx="5"/>
          </p:nvPr>
        </p:nvSpPr>
        <p:spPr/>
        <p:txBody>
          <a:bodyPr/>
          <a:lstStyle/>
          <a:p>
            <a:fld id="{A5B4ED3A-914E-6443-A2E7-C28A873C6BCA}" type="slidenum">
              <a:rPr lang="en-US" smtClean="0"/>
              <a:t>23</a:t>
            </a:fld>
            <a:endParaRPr lang="en-US"/>
          </a:p>
        </p:txBody>
      </p:sp>
    </p:spTree>
    <p:extLst>
      <p:ext uri="{BB962C8B-B14F-4D97-AF65-F5344CB8AC3E}">
        <p14:creationId xmlns:p14="http://schemas.microsoft.com/office/powerpoint/2010/main" val="3162820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3B9F-D434-46DC-5BEF-52C2653A0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220EF-04EC-56E8-8825-961DE75DF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24DD0-D74E-EDA3-6B40-929631E76B97}"/>
              </a:ext>
            </a:extLst>
          </p:cNvPr>
          <p:cNvSpPr>
            <a:spLocks noGrp="1"/>
          </p:cNvSpPr>
          <p:nvPr>
            <p:ph type="body" idx="1"/>
          </p:nvPr>
        </p:nvSpPr>
        <p:spPr/>
        <p:txBody>
          <a:bodyPr/>
          <a:lstStyle/>
          <a:p>
            <a:r>
              <a:rPr lang="en-US" dirty="0"/>
              <a:t>Current Age = Age today</a:t>
            </a:r>
          </a:p>
          <a:p>
            <a:endParaRPr lang="en-US" dirty="0"/>
          </a:p>
          <a:p>
            <a:r>
              <a:rPr lang="en-US" dirty="0"/>
              <a:t>Age at consent / age at CDR (</a:t>
            </a:r>
            <a:r>
              <a:rPr lang="en-US" sz="1200" dirty="0">
                <a:latin typeface="Avenir Book" panose="02000503020000020003" pitchFamily="2" charset="0"/>
              </a:rPr>
              <a:t>curated data repository) = static age at when the person was entered into the study/data were add to CDR -&gt; same age options used for different data query</a:t>
            </a:r>
            <a:r>
              <a:rPr lang="en-US" sz="1200">
                <a:latin typeface="Avenir Book" panose="02000503020000020003" pitchFamily="2" charset="0"/>
              </a:rPr>
              <a:t>/analysis</a:t>
            </a:r>
            <a:endParaRPr lang="en-US" dirty="0"/>
          </a:p>
        </p:txBody>
      </p:sp>
      <p:sp>
        <p:nvSpPr>
          <p:cNvPr id="4" name="Slide Number Placeholder 3">
            <a:extLst>
              <a:ext uri="{FF2B5EF4-FFF2-40B4-BE49-F238E27FC236}">
                <a16:creationId xmlns:a16="http://schemas.microsoft.com/office/drawing/2014/main" id="{89D52217-3C96-80B5-9078-CEA0C9D6271B}"/>
              </a:ext>
            </a:extLst>
          </p:cNvPr>
          <p:cNvSpPr>
            <a:spLocks noGrp="1"/>
          </p:cNvSpPr>
          <p:nvPr>
            <p:ph type="sldNum" sz="quarter" idx="5"/>
          </p:nvPr>
        </p:nvSpPr>
        <p:spPr/>
        <p:txBody>
          <a:bodyPr/>
          <a:lstStyle/>
          <a:p>
            <a:fld id="{A5B4ED3A-914E-6443-A2E7-C28A873C6BCA}" type="slidenum">
              <a:rPr lang="en-US" smtClean="0"/>
              <a:t>24</a:t>
            </a:fld>
            <a:endParaRPr lang="en-US"/>
          </a:p>
        </p:txBody>
      </p:sp>
    </p:spTree>
    <p:extLst>
      <p:ext uri="{BB962C8B-B14F-4D97-AF65-F5344CB8AC3E}">
        <p14:creationId xmlns:p14="http://schemas.microsoft.com/office/powerpoint/2010/main" val="18758400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584EC-A1EE-FF74-C17C-1956F17AA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42831-B970-270A-1263-824A8BDDD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B4EC6-72D8-4C9D-8784-40AA4D250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1765E-B2A3-5336-353C-9CF85B2E127B}"/>
              </a:ext>
            </a:extLst>
          </p:cNvPr>
          <p:cNvSpPr>
            <a:spLocks noGrp="1"/>
          </p:cNvSpPr>
          <p:nvPr>
            <p:ph type="sldNum" sz="quarter" idx="5"/>
          </p:nvPr>
        </p:nvSpPr>
        <p:spPr/>
        <p:txBody>
          <a:bodyPr/>
          <a:lstStyle/>
          <a:p>
            <a:fld id="{A5B4ED3A-914E-6443-A2E7-C28A873C6BCA}" type="slidenum">
              <a:rPr lang="en-US" smtClean="0"/>
              <a:t>25</a:t>
            </a:fld>
            <a:endParaRPr lang="en-US"/>
          </a:p>
        </p:txBody>
      </p:sp>
    </p:spTree>
    <p:extLst>
      <p:ext uri="{BB962C8B-B14F-4D97-AF65-F5344CB8AC3E}">
        <p14:creationId xmlns:p14="http://schemas.microsoft.com/office/powerpoint/2010/main" val="358751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924E-23EB-39FD-469B-ECEBC0819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B805A-1F96-7E03-6E66-BD496565D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9AE6A-E064-34F5-FB82-3C6DDDAAC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5B006-E8FB-1FBF-FAC1-C3DD29DAB471}"/>
              </a:ext>
            </a:extLst>
          </p:cNvPr>
          <p:cNvSpPr>
            <a:spLocks noGrp="1"/>
          </p:cNvSpPr>
          <p:nvPr>
            <p:ph type="sldNum" sz="quarter" idx="5"/>
          </p:nvPr>
        </p:nvSpPr>
        <p:spPr/>
        <p:txBody>
          <a:bodyPr/>
          <a:lstStyle/>
          <a:p>
            <a:fld id="{A5B4ED3A-914E-6443-A2E7-C28A873C6BCA}" type="slidenum">
              <a:rPr lang="en-US" smtClean="0"/>
              <a:t>26</a:t>
            </a:fld>
            <a:endParaRPr lang="en-US"/>
          </a:p>
        </p:txBody>
      </p:sp>
    </p:spTree>
    <p:extLst>
      <p:ext uri="{BB962C8B-B14F-4D97-AF65-F5344CB8AC3E}">
        <p14:creationId xmlns:p14="http://schemas.microsoft.com/office/powerpoint/2010/main" val="914888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e475f50ea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e475f50ea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err="1">
                <a:solidFill>
                  <a:schemeClr val="tx1"/>
                </a:solidFill>
                <a:effectLst/>
                <a:latin typeface="+mn-lt"/>
                <a:ea typeface="+mn-ea"/>
                <a:cs typeface="+mn-cs"/>
              </a:rPr>
              <a:t>RxNorm</a:t>
            </a:r>
            <a:r>
              <a:rPr lang="en-US" sz="1200" b="1" i="1" kern="1200" dirty="0">
                <a:solidFill>
                  <a:schemeClr val="tx1"/>
                </a:solidFill>
                <a:effectLst/>
                <a:latin typeface="+mn-lt"/>
                <a:ea typeface="+mn-ea"/>
                <a:cs typeface="+mn-cs"/>
              </a:rPr>
              <a:t> = </a:t>
            </a:r>
            <a:r>
              <a:rPr lang="en-US" sz="1200" b="1" i="0" u="none" strike="noStrike" kern="1200" dirty="0">
                <a:solidFill>
                  <a:schemeClr val="tx1"/>
                </a:solidFill>
                <a:effectLst/>
                <a:latin typeface="+mn-lt"/>
                <a:ea typeface="+mn-ea"/>
                <a:cs typeface="+mn-cs"/>
              </a:rPr>
              <a:t>Normalized Names for Clinical Drugs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SNOMED-CT = </a:t>
            </a:r>
            <a:r>
              <a:rPr lang="en-US" sz="1200" b="1" i="0" u="none" strike="noStrike" kern="1200" dirty="0">
                <a:solidFill>
                  <a:schemeClr val="tx1"/>
                </a:solidFill>
                <a:effectLst/>
                <a:latin typeface="+mn-lt"/>
                <a:ea typeface="+mn-ea"/>
                <a:cs typeface="+mn-cs"/>
              </a:rPr>
              <a:t>Systematized Nomenclature of Medicine—Clinical Terms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LOINC =</a:t>
            </a:r>
            <a:r>
              <a:rPr lang="en-US" sz="1200" b="1" i="0" u="none" strike="noStrike" kern="1200" dirty="0">
                <a:solidFill>
                  <a:schemeClr val="tx1"/>
                </a:solidFill>
                <a:effectLst/>
                <a:latin typeface="+mn-lt"/>
                <a:ea typeface="+mn-ea"/>
                <a:cs typeface="+mn-cs"/>
              </a:rPr>
              <a:t>Logical Observation Identifiers, Names, and Codes</a:t>
            </a:r>
            <a:endParaRPr lang="en-US" sz="1200" kern="1200" dirty="0">
              <a:solidFill>
                <a:schemeClr val="tx1"/>
              </a:solidFill>
              <a:effectLst/>
              <a:latin typeface="+mn-lt"/>
              <a:ea typeface="+mn-ea"/>
              <a:cs typeface="+mn-cs"/>
            </a:endParaRPr>
          </a:p>
          <a:p>
            <a:endParaRPr lang="en-US" dirty="0"/>
          </a:p>
          <a:p>
            <a:endParaRPr lang="en-US" dirty="0"/>
          </a:p>
          <a:p>
            <a:r>
              <a:rPr lang="en-US" sz="1200" kern="1200" dirty="0">
                <a:solidFill>
                  <a:schemeClr val="tx1"/>
                </a:solidFill>
                <a:effectLst/>
                <a:latin typeface="+mn-lt"/>
                <a:ea typeface="+mn-ea"/>
                <a:cs typeface="+mn-cs"/>
              </a:rPr>
              <a:t>ATHENA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purpose of </a:t>
            </a:r>
            <a:r>
              <a:rPr lang="en-US" sz="1200" b="1" kern="1200" dirty="0">
                <a:solidFill>
                  <a:schemeClr val="tx1"/>
                </a:solidFill>
                <a:effectLst/>
                <a:latin typeface="+mn-lt"/>
                <a:ea typeface="+mn-ea"/>
                <a:cs typeface="+mn-cs"/>
              </a:rPr>
              <a:t>Athena</a:t>
            </a:r>
            <a:r>
              <a:rPr lang="en-US" sz="1200" kern="1200" dirty="0">
                <a:solidFill>
                  <a:schemeClr val="tx1"/>
                </a:solidFill>
                <a:effectLst/>
                <a:latin typeface="+mn-lt"/>
                <a:ea typeface="+mn-ea"/>
                <a:cs typeface="+mn-cs"/>
              </a:rPr>
              <a:t> is to serve as a public, searchable resource for the standardized vocabularies utilized within the OMOP Common Data Model (CDM).</a:t>
            </a:r>
          </a:p>
          <a:p>
            <a:r>
              <a:rPr lang="en-US" sz="1200" kern="1200" dirty="0">
                <a:solidFill>
                  <a:schemeClr val="tx1"/>
                </a:solidFill>
                <a:effectLst/>
                <a:latin typeface="+mn-lt"/>
                <a:ea typeface="+mn-ea"/>
                <a:cs typeface="+mn-cs"/>
              </a:rPr>
              <a:t>Specifically, Athena functions as:</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A Searchable Database:</a:t>
            </a:r>
            <a:r>
              <a:rPr lang="en-US" sz="1200" kern="1200" dirty="0">
                <a:solidFill>
                  <a:schemeClr val="tx1"/>
                </a:solidFill>
                <a:effectLst/>
                <a:latin typeface="+mn-lt"/>
                <a:ea typeface="+mn-ea"/>
                <a:cs typeface="+mn-cs"/>
              </a:rPr>
              <a:t> Athena is a searchable database maintained by the Observational Health Data Sciences and Informatics (OHDSI) community, which manages OMOP.</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A Vocabulary Explorer:</a:t>
            </a:r>
            <a:r>
              <a:rPr lang="en-US" sz="1200" kern="1200" dirty="0">
                <a:solidFill>
                  <a:schemeClr val="tx1"/>
                </a:solidFill>
                <a:effectLst/>
                <a:latin typeface="+mn-lt"/>
                <a:ea typeface="+mn-ea"/>
                <a:cs typeface="+mn-cs"/>
              </a:rPr>
              <a:t> Users can browse and explore the standardized vocabularies used in OMOP through this publicly available website.</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A Mapping Tool:</a:t>
            </a:r>
            <a:r>
              <a:rPr lang="en-US" sz="1200" kern="1200" dirty="0">
                <a:solidFill>
                  <a:schemeClr val="tx1"/>
                </a:solidFill>
                <a:effectLst/>
                <a:latin typeface="+mn-lt"/>
                <a:ea typeface="+mn-ea"/>
                <a:cs typeface="+mn-cs"/>
              </a:rPr>
              <a:t> Its primary function is to help users </a:t>
            </a:r>
            <a:r>
              <a:rPr lang="en-US" sz="1200" b="1" kern="1200" dirty="0">
                <a:solidFill>
                  <a:schemeClr val="tx1"/>
                </a:solidFill>
                <a:effectLst/>
                <a:latin typeface="+mn-lt"/>
                <a:ea typeface="+mn-ea"/>
                <a:cs typeface="+mn-cs"/>
              </a:rPr>
              <a:t>identify terms and match them to their standard OMOP equivalent</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A Domain Navigator:</a:t>
            </a:r>
            <a:r>
              <a:rPr lang="en-US" sz="1200" kern="1200" dirty="0">
                <a:solidFill>
                  <a:schemeClr val="tx1"/>
                </a:solidFill>
                <a:effectLst/>
                <a:latin typeface="+mn-lt"/>
                <a:ea typeface="+mn-ea"/>
                <a:cs typeface="+mn-cs"/>
              </a:rPr>
              <a:t> Users can search the platform by typing terms into the search bar or by exploring topics organized according to the OMOP domain.</a:t>
            </a:r>
          </a:p>
          <a:p>
            <a:r>
              <a:rPr lang="en-US" sz="1200" kern="1200" dirty="0">
                <a:solidFill>
                  <a:schemeClr val="tx1"/>
                </a:solidFill>
                <a:effectLst/>
                <a:latin typeface="+mn-lt"/>
                <a:ea typeface="+mn-ea"/>
                <a:cs typeface="+mn-cs"/>
              </a:rPr>
              <a:t>In essence, Athena supports the fundamental OMOP goal of standardization by providing easy access to the standardized concepts necessary for analysis across different healthcare data sources.</a:t>
            </a: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28</a:t>
            </a:fld>
            <a:endParaRPr lang="en-US"/>
          </a:p>
        </p:txBody>
      </p:sp>
    </p:spTree>
    <p:extLst>
      <p:ext uri="{BB962C8B-B14F-4D97-AF65-F5344CB8AC3E}">
        <p14:creationId xmlns:p14="http://schemas.microsoft.com/office/powerpoint/2010/main" val="796675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1C-968D-DF68-4702-C2A564248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A654-A3AA-CD30-2ADC-37417299C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F5C62-DA3F-E4BE-8F18-392FFD9BDAD0}"/>
              </a:ext>
            </a:extLst>
          </p:cNvPr>
          <p:cNvSpPr>
            <a:spLocks noGrp="1"/>
          </p:cNvSpPr>
          <p:nvPr>
            <p:ph type="body" idx="1"/>
          </p:nvPr>
        </p:nvSpPr>
        <p:spPr/>
        <p:txBody>
          <a:bodyPr/>
          <a:lstStyle/>
          <a:p>
            <a:endParaRPr lang="en-US" dirty="0"/>
          </a:p>
          <a:p>
            <a:r>
              <a:rPr lang="en-US" sz="1200" b="1" i="0" u="none" strike="noStrike" kern="1200" dirty="0">
                <a:solidFill>
                  <a:schemeClr val="tx1"/>
                </a:solidFill>
                <a:effectLst/>
                <a:latin typeface="+mn-lt"/>
                <a:ea typeface="+mn-ea"/>
                <a:cs typeface="+mn-cs"/>
              </a:rPr>
              <a:t>Sources and Standardization for Condition and Procedure Domains</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1. What are the Sources?</a:t>
            </a:r>
          </a:p>
          <a:p>
            <a:r>
              <a:rPr lang="en-US" sz="1200" b="0" i="0" u="none" strike="noStrike" kern="1200" dirty="0">
                <a:solidFill>
                  <a:schemeClr val="tx1"/>
                </a:solidFill>
                <a:effectLst/>
                <a:latin typeface="+mn-lt"/>
                <a:ea typeface="+mn-ea"/>
                <a:cs typeface="+mn-cs"/>
              </a:rPr>
              <a:t>For the </a:t>
            </a:r>
            <a:r>
              <a:rPr lang="en-US" sz="1200" b="1" i="0" u="none" strike="noStrike" kern="1200" dirty="0">
                <a:solidFill>
                  <a:schemeClr val="tx1"/>
                </a:solidFill>
                <a:effectLst/>
                <a:latin typeface="+mn-lt"/>
                <a:ea typeface="+mn-ea"/>
                <a:cs typeface="+mn-cs"/>
              </a:rPr>
              <a:t>Condition</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Procedure</a:t>
            </a:r>
            <a:r>
              <a:rPr lang="en-US" sz="1200" b="0" i="0" u="none" strike="noStrike" kern="1200" dirty="0">
                <a:solidFill>
                  <a:schemeClr val="tx1"/>
                </a:solidFill>
                <a:effectLst/>
                <a:latin typeface="+mn-lt"/>
                <a:ea typeface="+mn-ea"/>
                <a:cs typeface="+mn-cs"/>
              </a:rPr>
              <a:t> domains, the data originates from a wide variety of </a:t>
            </a:r>
            <a:r>
              <a:rPr lang="en-US" sz="1200" b="1" i="0" u="none" strike="noStrike" kern="1200" dirty="0">
                <a:solidFill>
                  <a:schemeClr val="tx1"/>
                </a:solidFill>
                <a:effectLst/>
                <a:latin typeface="+mn-lt"/>
                <a:ea typeface="+mn-ea"/>
                <a:cs typeface="+mn-cs"/>
              </a:rPr>
              <a:t>Non-Standard</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Local Source Vocabularies</a:t>
            </a:r>
            <a:r>
              <a:rPr lang="en-US" sz="1200" b="0" i="0" u="none" strike="noStrike" kern="1200" dirty="0">
                <a:solidFill>
                  <a:schemeClr val="tx1"/>
                </a:solidFill>
                <a:effectLst/>
                <a:latin typeface="+mn-lt"/>
                <a:ea typeface="+mn-ea"/>
                <a:cs typeface="+mn-cs"/>
              </a:rPr>
              <a:t> used by hospitals and health systems.</a:t>
            </a:r>
          </a:p>
          <a:p>
            <a:r>
              <a:rPr lang="en-US" sz="1200" b="0" i="0" u="none" strike="noStrike" kern="1200" dirty="0">
                <a:solidFill>
                  <a:schemeClr val="tx1"/>
                </a:solidFill>
                <a:effectLst/>
                <a:latin typeface="+mn-lt"/>
                <a:ea typeface="+mn-ea"/>
                <a:cs typeface="+mn-cs"/>
              </a:rPr>
              <a:t>The most common sources that get mapped into the OMOP Standard Concepts are:</a:t>
            </a:r>
          </a:p>
          <a:p>
            <a:r>
              <a:rPr lang="en-US" sz="1200" b="1" i="0" u="none" strike="noStrike" kern="1200" dirty="0">
                <a:solidFill>
                  <a:schemeClr val="tx1"/>
                </a:solidFill>
                <a:effectLst/>
                <a:latin typeface="+mn-lt"/>
                <a:ea typeface="+mn-ea"/>
                <a:cs typeface="+mn-cs"/>
              </a:rPr>
              <a:t>ICD-9-CM</a:t>
            </a:r>
            <a:r>
              <a:rPr lang="en-US" sz="1200" b="0" i="0" u="none" strike="noStrike" kern="1200" dirty="0">
                <a:solidFill>
                  <a:schemeClr val="tx1"/>
                </a:solidFill>
                <a:effectLst/>
                <a:latin typeface="+mn-lt"/>
                <a:ea typeface="+mn-ea"/>
                <a:cs typeface="+mn-cs"/>
              </a:rPr>
              <a:t> (International Classification of Diseases, 9th Revision, Clinical Modification)</a:t>
            </a:r>
          </a:p>
          <a:p>
            <a:r>
              <a:rPr lang="en-US" sz="1200" b="1" i="0" u="none" strike="noStrike" kern="1200" dirty="0">
                <a:solidFill>
                  <a:schemeClr val="tx1"/>
                </a:solidFill>
                <a:effectLst/>
                <a:latin typeface="+mn-lt"/>
                <a:ea typeface="+mn-ea"/>
                <a:cs typeface="+mn-cs"/>
              </a:rPr>
              <a:t>ICD-10-CM</a:t>
            </a:r>
            <a:r>
              <a:rPr lang="en-US" sz="1200" b="0" i="0" u="none" strike="noStrike" kern="1200" dirty="0">
                <a:solidFill>
                  <a:schemeClr val="tx1"/>
                </a:solidFill>
                <a:effectLst/>
                <a:latin typeface="+mn-lt"/>
                <a:ea typeface="+mn-ea"/>
                <a:cs typeface="+mn-cs"/>
              </a:rPr>
              <a:t> (International Classification of Diseases, 10th Revision, Clinical Modification/Procedure Coding System)</a:t>
            </a:r>
          </a:p>
          <a:p>
            <a:r>
              <a:rPr lang="en-US" sz="1200" b="1" i="0" u="none" strike="noStrike" kern="1200" dirty="0">
                <a:solidFill>
                  <a:schemeClr val="tx1"/>
                </a:solidFill>
                <a:effectLst/>
                <a:latin typeface="+mn-lt"/>
                <a:ea typeface="+mn-ea"/>
                <a:cs typeface="+mn-cs"/>
              </a:rPr>
              <a:t>CPT4</a:t>
            </a:r>
            <a:r>
              <a:rPr lang="en-US" sz="1200" b="0" i="0" u="none" strike="noStrike" kern="1200" dirty="0">
                <a:solidFill>
                  <a:schemeClr val="tx1"/>
                </a:solidFill>
                <a:effectLst/>
                <a:latin typeface="+mn-lt"/>
                <a:ea typeface="+mn-ea"/>
                <a:cs typeface="+mn-cs"/>
              </a:rPr>
              <a:t> (Current Procedural Terminology, primarily for procedures)</a:t>
            </a:r>
          </a:p>
          <a:p>
            <a:r>
              <a:rPr lang="en-US" sz="1200" b="1" i="0" u="none" strike="noStrike" kern="1200" dirty="0">
                <a:solidFill>
                  <a:schemeClr val="tx1"/>
                </a:solidFill>
                <a:effectLst/>
                <a:latin typeface="+mn-lt"/>
                <a:ea typeface="+mn-ea"/>
                <a:cs typeface="+mn-cs"/>
              </a:rPr>
              <a:t>Local/Proprietary Codes</a:t>
            </a:r>
            <a:r>
              <a:rPr lang="en-US" sz="1200" b="0" i="0" u="none" strike="noStrike" kern="1200" dirty="0">
                <a:solidFill>
                  <a:schemeClr val="tx1"/>
                </a:solidFill>
                <a:effectLst/>
                <a:latin typeface="+mn-lt"/>
                <a:ea typeface="+mn-ea"/>
                <a:cs typeface="+mn-cs"/>
              </a:rPr>
              <a:t> (Codes unique to a specific institution or vendor)</a:t>
            </a:r>
          </a:p>
          <a:p>
            <a:r>
              <a:rPr lang="en-US" sz="1200" b="1" i="0" u="none" strike="noStrike" kern="1200" dirty="0">
                <a:solidFill>
                  <a:schemeClr val="tx1"/>
                </a:solidFill>
                <a:effectLst/>
                <a:latin typeface="+mn-lt"/>
                <a:ea typeface="+mn-ea"/>
                <a:cs typeface="+mn-cs"/>
              </a:rPr>
              <a:t>Source SNOMED CT</a:t>
            </a:r>
            <a:r>
              <a:rPr lang="en-US" sz="1200" b="0" i="0" u="none" strike="noStrike" kern="1200" dirty="0">
                <a:solidFill>
                  <a:schemeClr val="tx1"/>
                </a:solidFill>
                <a:effectLst/>
                <a:latin typeface="+mn-lt"/>
                <a:ea typeface="+mn-ea"/>
                <a:cs typeface="+mn-cs"/>
              </a:rPr>
              <a:t> (SNOMED codes used by the EHR, which are often already standard)</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2. Why is SNOMED CT the Standard?</a:t>
            </a:r>
          </a:p>
          <a:p>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(Systematized Nomenclature of Medicine - Clinical Terms) is designated as the primary OMOP Standard Vocabulary for these clinical domains because it offers the </a:t>
            </a:r>
            <a:r>
              <a:rPr lang="en-US" sz="1200" b="1" i="0" u="none" strike="noStrike" kern="1200" dirty="0">
                <a:solidFill>
                  <a:schemeClr val="tx1"/>
                </a:solidFill>
                <a:effectLst/>
                <a:latin typeface="+mn-lt"/>
                <a:ea typeface="+mn-ea"/>
                <a:cs typeface="+mn-cs"/>
              </a:rPr>
              <a:t>best balance of clinical precision, coverage, and structure</a:t>
            </a:r>
            <a:r>
              <a:rPr lang="en-US" sz="1200" b="0" i="0" u="none" strike="noStrike" kern="1200" dirty="0">
                <a:solidFill>
                  <a:schemeClr val="tx1"/>
                </a:solidFill>
                <a:effectLst/>
                <a:latin typeface="+mn-lt"/>
                <a:ea typeface="+mn-ea"/>
                <a:cs typeface="+mn-cs"/>
              </a:rPr>
              <a:t>:</a:t>
            </a:r>
          </a:p>
          <a:p>
            <a:r>
              <a:rPr lang="en-US" sz="1200" b="1" i="0" u="none" strike="noStrike" kern="1200" dirty="0">
                <a:solidFill>
                  <a:schemeClr val="tx1"/>
                </a:solidFill>
                <a:effectLst/>
                <a:latin typeface="+mn-lt"/>
                <a:ea typeface="+mn-ea"/>
                <a:cs typeface="+mn-cs"/>
              </a:rPr>
              <a:t>Clinical Granularity:</a:t>
            </a:r>
            <a:r>
              <a:rPr lang="en-US" sz="1200" b="0" i="0" u="none" strike="noStrike" kern="1200" dirty="0">
                <a:solidFill>
                  <a:schemeClr val="tx1"/>
                </a:solidFill>
                <a:effectLst/>
                <a:latin typeface="+mn-lt"/>
                <a:ea typeface="+mn-ea"/>
                <a:cs typeface="+mn-cs"/>
              </a:rPr>
              <a:t> SNOMED CT provides codes for fine-grained clinical details and subtle distinctions that are necessary for research, unlike ICD codes, which are optimized for billing and public health statistics.</a:t>
            </a:r>
          </a:p>
          <a:p>
            <a:r>
              <a:rPr lang="en-US" sz="1200" b="1" i="0" u="none" strike="noStrike" kern="1200" dirty="0">
                <a:solidFill>
                  <a:schemeClr val="tx1"/>
                </a:solidFill>
                <a:effectLst/>
                <a:latin typeface="+mn-lt"/>
                <a:ea typeface="+mn-ea"/>
                <a:cs typeface="+mn-cs"/>
              </a:rPr>
              <a:t>Hierarchical Structure:</a:t>
            </a:r>
            <a:r>
              <a:rPr lang="en-US" sz="1200" b="0" i="0" u="none" strike="noStrike" kern="1200" dirty="0">
                <a:solidFill>
                  <a:schemeClr val="tx1"/>
                </a:solidFill>
                <a:effectLst/>
                <a:latin typeface="+mn-lt"/>
                <a:ea typeface="+mn-ea"/>
                <a:cs typeface="+mn-cs"/>
              </a:rPr>
              <a:t> Its poly-hierarchical structure allows researchers to query data efficiently. For instance, a query can easily capture all specific types of </a:t>
            </a:r>
            <a:r>
              <a:rPr lang="en-US" sz="1200" b="1" i="0" u="none" strike="noStrike" kern="1200" dirty="0">
                <a:solidFill>
                  <a:schemeClr val="tx1"/>
                </a:solidFill>
                <a:effectLst/>
                <a:latin typeface="+mn-lt"/>
                <a:ea typeface="+mn-ea"/>
                <a:cs typeface="+mn-cs"/>
              </a:rPr>
              <a:t>Asthma</a:t>
            </a:r>
            <a:r>
              <a:rPr lang="en-US" sz="1200" b="0" i="0" u="none" strike="noStrike" kern="1200" dirty="0">
                <a:solidFill>
                  <a:schemeClr val="tx1"/>
                </a:solidFill>
                <a:effectLst/>
                <a:latin typeface="+mn-lt"/>
                <a:ea typeface="+mn-ea"/>
                <a:cs typeface="+mn-cs"/>
              </a:rPr>
              <a:t> (a broad SNOMED concept) without having to list every single source code (ICD-10 code) individually.</a:t>
            </a:r>
          </a:p>
          <a:p>
            <a:r>
              <a:rPr lang="en-US" sz="1200" b="1" i="0" u="none" strike="noStrike" kern="1200" dirty="0">
                <a:solidFill>
                  <a:schemeClr val="tx1"/>
                </a:solidFill>
                <a:effectLst/>
                <a:latin typeface="+mn-lt"/>
                <a:ea typeface="+mn-ea"/>
                <a:cs typeface="+mn-cs"/>
              </a:rPr>
              <a:t>Unified Global Standard:</a:t>
            </a:r>
            <a:r>
              <a:rPr lang="en-US" sz="1200" b="0" i="0" u="none" strike="noStrike" kern="1200" dirty="0">
                <a:solidFill>
                  <a:schemeClr val="tx1"/>
                </a:solidFill>
                <a:effectLst/>
                <a:latin typeface="+mn-lt"/>
                <a:ea typeface="+mn-ea"/>
                <a:cs typeface="+mn-cs"/>
              </a:rPr>
              <a:t> As a globally accepted clinical standard, it acts as a superior "target language" to harmonize data from diverse systems (like the various ICD and CPT versions) into one consistent, research-ready format.</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3.  The Final Key (The "Why OMOP Concept ID?")</a:t>
            </a:r>
          </a:p>
          <a:p>
            <a:r>
              <a:rPr lang="en-US" sz="1200" b="0" i="0" u="none" strike="noStrike" kern="1200" dirty="0">
                <a:solidFill>
                  <a:schemeClr val="tx1"/>
                </a:solidFill>
                <a:effectLst/>
                <a:latin typeface="+mn-lt"/>
                <a:ea typeface="+mn-ea"/>
                <a:cs typeface="+mn-cs"/>
              </a:rPr>
              <a:t>All SNOMED Concepts are assigned a single, </a:t>
            </a:r>
            <a:r>
              <a:rPr lang="en-US" sz="1200" b="1" i="0" u="none" strike="noStrike" kern="1200" dirty="0">
                <a:solidFill>
                  <a:schemeClr val="tx1"/>
                </a:solidFill>
                <a:effectLst/>
                <a:latin typeface="+mn-lt"/>
                <a:ea typeface="+mn-ea"/>
                <a:cs typeface="+mn-cs"/>
              </a:rPr>
              <a:t>stable OMOP Concept ID</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This ID is used for analysis, ensuring that a patient coded with </a:t>
            </a:r>
            <a:r>
              <a:rPr lang="en-US" sz="1200" b="1" i="0" u="none" strike="noStrike" kern="1200" dirty="0">
                <a:solidFill>
                  <a:schemeClr val="tx1"/>
                </a:solidFill>
                <a:effectLst/>
                <a:latin typeface="+mn-lt"/>
                <a:ea typeface="+mn-ea"/>
                <a:cs typeface="+mn-cs"/>
              </a:rPr>
              <a:t>ICD-10</a:t>
            </a:r>
            <a:r>
              <a:rPr lang="en-US" sz="1200" b="0" i="0" u="none" strike="noStrike" kern="1200" dirty="0">
                <a:solidFill>
                  <a:schemeClr val="tx1"/>
                </a:solidFill>
                <a:effectLst/>
                <a:latin typeface="+mn-lt"/>
                <a:ea typeface="+mn-ea"/>
                <a:cs typeface="+mn-cs"/>
              </a:rPr>
              <a:t> in one site maps to the </a:t>
            </a:r>
            <a:r>
              <a:rPr lang="en-US" sz="1200" b="1" i="0" u="none" strike="noStrike" kern="1200" dirty="0">
                <a:solidFill>
                  <a:schemeClr val="tx1"/>
                </a:solidFill>
                <a:effectLst/>
                <a:latin typeface="+mn-lt"/>
                <a:ea typeface="+mn-ea"/>
                <a:cs typeface="+mn-cs"/>
              </a:rPr>
              <a:t>exact same ID</a:t>
            </a:r>
            <a:r>
              <a:rPr lang="en-US" sz="1200" b="0" i="0" u="none" strike="noStrike" kern="1200" dirty="0">
                <a:solidFill>
                  <a:schemeClr val="tx1"/>
                </a:solidFill>
                <a:effectLst/>
                <a:latin typeface="+mn-lt"/>
                <a:ea typeface="+mn-ea"/>
                <a:cs typeface="+mn-cs"/>
              </a:rPr>
              <a:t> as a patient coded with </a:t>
            </a:r>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in another site.</a:t>
            </a:r>
          </a:p>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E58793E-6F9B-2721-C05F-7A842AC67831}"/>
              </a:ext>
            </a:extLst>
          </p:cNvPr>
          <p:cNvSpPr>
            <a:spLocks noGrp="1"/>
          </p:cNvSpPr>
          <p:nvPr>
            <p:ph type="sldNum" sz="quarter" idx="5"/>
          </p:nvPr>
        </p:nvSpPr>
        <p:spPr/>
        <p:txBody>
          <a:bodyPr/>
          <a:lstStyle/>
          <a:p>
            <a:fld id="{A5B4ED3A-914E-6443-A2E7-C28A873C6BCA}" type="slidenum">
              <a:rPr lang="en-US" smtClean="0"/>
              <a:t>29</a:t>
            </a:fld>
            <a:endParaRPr lang="en-US"/>
          </a:p>
        </p:txBody>
      </p:sp>
    </p:spTree>
    <p:extLst>
      <p:ext uri="{BB962C8B-B14F-4D97-AF65-F5344CB8AC3E}">
        <p14:creationId xmlns:p14="http://schemas.microsoft.com/office/powerpoint/2010/main" val="4089182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is your data analysis experience level?</a:t>
            </a:r>
          </a:p>
          <a:p>
            <a:r>
              <a:rPr lang="en-US"/>
              <a:t>https://www.polleverywhere.com/multiple_choice_polls/7blKFs199cgFMHWWDvnGQ?state=opened&amp;flow=Default&amp;onscreen=persist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30</a:t>
            </a:fld>
            <a:endParaRPr lang="en-US"/>
          </a:p>
        </p:txBody>
      </p:sp>
    </p:spTree>
    <p:extLst>
      <p:ext uri="{BB962C8B-B14F-4D97-AF65-F5344CB8AC3E}">
        <p14:creationId xmlns:p14="http://schemas.microsoft.com/office/powerpoint/2010/main" val="23907601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analytic software/language do you use regularly? Multiple answer</a:t>
            </a:r>
          </a:p>
          <a:p>
            <a:r>
              <a:rPr lang="en-US"/>
              <a:t>https://www.polleverywhere.com/multiple_choice_polls/sseGmzIcLaZHDvFp3u63b?state=opened&amp;flow=Default&amp;onscreen=persist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31</a:t>
            </a:fld>
            <a:endParaRPr lang="en-US"/>
          </a:p>
        </p:txBody>
      </p:sp>
    </p:spTree>
    <p:extLst>
      <p:ext uri="{BB962C8B-B14F-4D97-AF65-F5344CB8AC3E}">
        <p14:creationId xmlns:p14="http://schemas.microsoft.com/office/powerpoint/2010/main" val="3303638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Which software / language do you want to learn more about?</a:t>
            </a:r>
          </a:p>
          <a:p>
            <a:r>
              <a:rPr lang="en-US"/>
              <a:t>https://www.polleverywhere.com/ranking_polls/B88bv4vKmHahl1dYU2EVz</a:t>
            </a:r>
          </a:p>
        </p:txBody>
      </p:sp>
      <p:sp>
        <p:nvSpPr>
          <p:cNvPr id="4" name="Slide Number Placeholder 3"/>
          <p:cNvSpPr>
            <a:spLocks noGrp="1"/>
          </p:cNvSpPr>
          <p:nvPr>
            <p:ph type="sldNum" sz="quarter" idx="5"/>
          </p:nvPr>
        </p:nvSpPr>
        <p:spPr/>
        <p:txBody>
          <a:bodyPr/>
          <a:lstStyle/>
          <a:p>
            <a:fld id="{A5B4ED3A-914E-6443-A2E7-C28A873C6BCA}" type="slidenum">
              <a:rPr lang="en-US" smtClean="0"/>
              <a:t>32</a:t>
            </a:fld>
            <a:endParaRPr lang="en-US"/>
          </a:p>
        </p:txBody>
      </p:sp>
    </p:spTree>
    <p:extLst>
      <p:ext uri="{BB962C8B-B14F-4D97-AF65-F5344CB8AC3E}">
        <p14:creationId xmlns:p14="http://schemas.microsoft.com/office/powerpoint/2010/main" val="32368042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92CC-FEDB-D043-1624-9DB9403AD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F2EB6-D08A-2ED5-93EE-96F59CCE4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95C11-AD75-3648-29AA-F0352CFD4F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63F22-94C5-328C-B632-48282D20B819}"/>
              </a:ext>
            </a:extLst>
          </p:cNvPr>
          <p:cNvSpPr>
            <a:spLocks noGrp="1"/>
          </p:cNvSpPr>
          <p:nvPr>
            <p:ph type="sldNum" sz="quarter" idx="5"/>
          </p:nvPr>
        </p:nvSpPr>
        <p:spPr/>
        <p:txBody>
          <a:bodyPr/>
          <a:lstStyle/>
          <a:p>
            <a:fld id="{A5B4ED3A-914E-6443-A2E7-C28A873C6BCA}" type="slidenum">
              <a:rPr lang="en-US" smtClean="0"/>
              <a:t>33</a:t>
            </a:fld>
            <a:endParaRPr lang="en-US"/>
          </a:p>
        </p:txBody>
      </p:sp>
    </p:spTree>
    <p:extLst>
      <p:ext uri="{BB962C8B-B14F-4D97-AF65-F5344CB8AC3E}">
        <p14:creationId xmlns:p14="http://schemas.microsoft.com/office/powerpoint/2010/main" val="3514361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46FA-5DA5-84A1-1601-FFC61CBE1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14F55-6F01-2A35-321B-D2DC25628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3D49D-3A9B-697F-5057-ED606EE18E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AC1C0-48DA-B21F-8FBD-CEAC69630A39}"/>
              </a:ext>
            </a:extLst>
          </p:cNvPr>
          <p:cNvSpPr>
            <a:spLocks noGrp="1"/>
          </p:cNvSpPr>
          <p:nvPr>
            <p:ph type="sldNum" sz="quarter" idx="5"/>
          </p:nvPr>
        </p:nvSpPr>
        <p:spPr/>
        <p:txBody>
          <a:bodyPr/>
          <a:lstStyle/>
          <a:p>
            <a:fld id="{A5B4ED3A-914E-6443-A2E7-C28A873C6BCA}" type="slidenum">
              <a:rPr lang="en-US" smtClean="0"/>
              <a:t>34</a:t>
            </a:fld>
            <a:endParaRPr lang="en-US"/>
          </a:p>
        </p:txBody>
      </p:sp>
    </p:spTree>
    <p:extLst>
      <p:ext uri="{BB962C8B-B14F-4D97-AF65-F5344CB8AC3E}">
        <p14:creationId xmlns:p14="http://schemas.microsoft.com/office/powerpoint/2010/main" val="15101239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Rate your level of experience with using Jupyter Notebooks (for R or Python)</a:t>
            </a:r>
          </a:p>
          <a:p>
            <a:r>
              <a:rPr lang="en-US"/>
              <a:t>https://www.polleverywhere.com/multiple_choice_polls/JuKRPF8zDuKuadmn0eeIL?state=opened&amp;flow=Default&amp;onscreen=persist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35</a:t>
            </a:fld>
            <a:endParaRPr lang="en-US"/>
          </a:p>
        </p:txBody>
      </p:sp>
    </p:spTree>
    <p:extLst>
      <p:ext uri="{BB962C8B-B14F-4D97-AF65-F5344CB8AC3E}">
        <p14:creationId xmlns:p14="http://schemas.microsoft.com/office/powerpoint/2010/main" val="22113976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A66B-EF73-1F05-057D-5912596CE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05F45-041D-BEA9-9152-6271A35B7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65849-C20F-76DD-39A7-DF08BE3ED0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79E07B-3DD6-A8F9-17D2-B05E9F061A5F}"/>
              </a:ext>
            </a:extLst>
          </p:cNvPr>
          <p:cNvSpPr>
            <a:spLocks noGrp="1"/>
          </p:cNvSpPr>
          <p:nvPr>
            <p:ph type="sldNum" sz="quarter" idx="5"/>
          </p:nvPr>
        </p:nvSpPr>
        <p:spPr/>
        <p:txBody>
          <a:bodyPr/>
          <a:lstStyle/>
          <a:p>
            <a:fld id="{A5B4ED3A-914E-6443-A2E7-C28A873C6BCA}" type="slidenum">
              <a:rPr lang="en-US" smtClean="0"/>
              <a:t>36</a:t>
            </a:fld>
            <a:endParaRPr lang="en-US"/>
          </a:p>
        </p:txBody>
      </p:sp>
    </p:spTree>
    <p:extLst>
      <p:ext uri="{BB962C8B-B14F-4D97-AF65-F5344CB8AC3E}">
        <p14:creationId xmlns:p14="http://schemas.microsoft.com/office/powerpoint/2010/main" val="2535710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4F4E-4E9F-1755-BD25-65BE0582E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1A85C-3531-AE0C-7D31-9B78EF426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D92C8-6C2B-8E58-FDE3-3FD658DBF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07E7B5-7209-FB01-25AB-BCAA986DCC9C}"/>
              </a:ext>
            </a:extLst>
          </p:cNvPr>
          <p:cNvSpPr>
            <a:spLocks noGrp="1"/>
          </p:cNvSpPr>
          <p:nvPr>
            <p:ph type="sldNum" sz="quarter" idx="5"/>
          </p:nvPr>
        </p:nvSpPr>
        <p:spPr/>
        <p:txBody>
          <a:bodyPr/>
          <a:lstStyle/>
          <a:p>
            <a:fld id="{A5B4ED3A-914E-6443-A2E7-C28A873C6BCA}" type="slidenum">
              <a:rPr lang="en-US" smtClean="0"/>
              <a:t>37</a:t>
            </a:fld>
            <a:endParaRPr lang="en-US"/>
          </a:p>
        </p:txBody>
      </p:sp>
    </p:spTree>
    <p:extLst>
      <p:ext uri="{BB962C8B-B14F-4D97-AF65-F5344CB8AC3E}">
        <p14:creationId xmlns:p14="http://schemas.microsoft.com/office/powerpoint/2010/main" val="15167905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E8F2-8DDA-F52E-B8E0-CEE2CCF8E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BB6F3-9838-8297-B828-BBE437FCB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93AFE-CB1E-B783-AAB6-24835338F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8C7A1-7FD7-1769-5A22-3896DFC563B8}"/>
              </a:ext>
            </a:extLst>
          </p:cNvPr>
          <p:cNvSpPr>
            <a:spLocks noGrp="1"/>
          </p:cNvSpPr>
          <p:nvPr>
            <p:ph type="sldNum" sz="quarter" idx="5"/>
          </p:nvPr>
        </p:nvSpPr>
        <p:spPr/>
        <p:txBody>
          <a:bodyPr/>
          <a:lstStyle/>
          <a:p>
            <a:fld id="{A5B4ED3A-914E-6443-A2E7-C28A873C6BCA}" type="slidenum">
              <a:rPr lang="en-US" smtClean="0"/>
              <a:t>38</a:t>
            </a:fld>
            <a:endParaRPr lang="en-US"/>
          </a:p>
        </p:txBody>
      </p:sp>
    </p:spTree>
    <p:extLst>
      <p:ext uri="{BB962C8B-B14F-4D97-AF65-F5344CB8AC3E}">
        <p14:creationId xmlns:p14="http://schemas.microsoft.com/office/powerpoint/2010/main" val="6515270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39</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40</a:t>
            </a:fld>
            <a:endParaRPr lang="en-US"/>
          </a:p>
        </p:txBody>
      </p:sp>
    </p:spTree>
    <p:extLst>
      <p:ext uri="{BB962C8B-B14F-4D97-AF65-F5344CB8AC3E}">
        <p14:creationId xmlns:p14="http://schemas.microsoft.com/office/powerpoint/2010/main" val="857287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15718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image with subtitl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27C2AB-62FC-D444-BDA2-B209A9D810D8}"/>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6750BC7C-018E-2D04-5C75-24EE70C9F2CD}"/>
              </a:ext>
            </a:extLst>
          </p:cNvPr>
          <p:cNvSpPr>
            <a:spLocks noGrp="1"/>
          </p:cNvSpPr>
          <p:nvPr>
            <p:ph type="body" sz="quarter" idx="11" hasCustomPrompt="1"/>
          </p:nvPr>
        </p:nvSpPr>
        <p:spPr>
          <a:xfrm>
            <a:off x="494357" y="1597735"/>
            <a:ext cx="2637726"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Gallery page title</a:t>
            </a:r>
          </a:p>
        </p:txBody>
      </p:sp>
      <p:sp>
        <p:nvSpPr>
          <p:cNvPr id="4" name="Text Placeholder 11">
            <a:extLst>
              <a:ext uri="{FF2B5EF4-FFF2-40B4-BE49-F238E27FC236}">
                <a16:creationId xmlns:a16="http://schemas.microsoft.com/office/drawing/2014/main" id="{27C36B33-7438-E96F-1BC4-32AA585A0C0B}"/>
              </a:ext>
            </a:extLst>
          </p:cNvPr>
          <p:cNvSpPr>
            <a:spLocks noGrp="1"/>
          </p:cNvSpPr>
          <p:nvPr>
            <p:ph type="body" sz="quarter" idx="15" hasCustomPrompt="1"/>
          </p:nvPr>
        </p:nvSpPr>
        <p:spPr>
          <a:xfrm>
            <a:off x="497984" y="3185056"/>
            <a:ext cx="2634099"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Picture Placeholder 11">
            <a:extLst>
              <a:ext uri="{FF2B5EF4-FFF2-40B4-BE49-F238E27FC236}">
                <a16:creationId xmlns:a16="http://schemas.microsoft.com/office/drawing/2014/main" id="{50FE3F16-A821-B3A7-DC00-E9D27FF81F19}"/>
              </a:ext>
            </a:extLst>
          </p:cNvPr>
          <p:cNvSpPr>
            <a:spLocks noGrp="1"/>
          </p:cNvSpPr>
          <p:nvPr>
            <p:ph type="pic" sz="quarter" idx="12"/>
          </p:nvPr>
        </p:nvSpPr>
        <p:spPr>
          <a:xfrm>
            <a:off x="4043680" y="10510"/>
            <a:ext cx="8148320" cy="6858000"/>
          </a:xfrm>
        </p:spPr>
        <p:txBody>
          <a:bodyPr/>
          <a:lstStyle/>
          <a:p>
            <a:endParaRPr lang="en-US" dirty="0"/>
          </a:p>
        </p:txBody>
      </p:sp>
      <p:sp>
        <p:nvSpPr>
          <p:cNvPr id="10" name="Text Placeholder 13">
            <a:extLst>
              <a:ext uri="{FF2B5EF4-FFF2-40B4-BE49-F238E27FC236}">
                <a16:creationId xmlns:a16="http://schemas.microsoft.com/office/drawing/2014/main" id="{DE249EE8-08AE-FE5A-918B-0D489684FAEB}"/>
              </a:ext>
            </a:extLst>
          </p:cNvPr>
          <p:cNvSpPr>
            <a:spLocks noGrp="1"/>
          </p:cNvSpPr>
          <p:nvPr>
            <p:ph type="body" sz="quarter" idx="16" hasCustomPrompt="1"/>
          </p:nvPr>
        </p:nvSpPr>
        <p:spPr>
          <a:xfrm>
            <a:off x="533469" y="6003579"/>
            <a:ext cx="3035300" cy="450850"/>
          </a:xfrm>
        </p:spPr>
        <p:txBody>
          <a:bodyPr>
            <a:normAutofit/>
          </a:bodyPr>
          <a:lstStyle>
            <a:lvl1pPr marL="0" indent="0">
              <a:buNone/>
              <a:defRPr sz="1200">
                <a:solidFill>
                  <a:schemeClr val="bg1"/>
                </a:solidFill>
                <a:latin typeface="+mn-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sz="1200" dirty="0"/>
              <a:t>Caption caption caption.</a:t>
            </a:r>
            <a:endParaRPr lang="en-US" dirty="0"/>
          </a:p>
        </p:txBody>
      </p:sp>
    </p:spTree>
    <p:extLst>
      <p:ext uri="{BB962C8B-B14F-4D97-AF65-F5344CB8AC3E}">
        <p14:creationId xmlns:p14="http://schemas.microsoft.com/office/powerpoint/2010/main" val="194568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s://support.researchallofus.org/hc/en-us/articles/29349213795348-Setting-Up-Your-Google-Cloud-Platform-GCP-Billing-Account"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hyperlink" Target="https://www.youtube.com/watch?v=xP1I9GQy5c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hyperlink" Target="https://support.researchallofus.org/hc/en-us/articles/360039539411-Getting-Started-and-What-to-Know-About-Costs"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hyperlink" Target="https://support.researchallofus.org/hc/en-us/articles/360039539411-Getting-Started-and-What-to-Know-About-Cost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2fHTK-lSa0" TargetMode="External"/><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hyperlink" Target="https://aou-cost-estimator-app.streamlit.app/" TargetMode="Externa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researchallofus.org/" TargetMode="External"/><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8" Type="http://schemas.openxmlformats.org/officeDocument/2006/relationships/hyperlink" Target="https://support.researchallofus.org/hc/en-us/categories/360002157352-Getting-Started" TargetMode="External"/><Relationship Id="rId3" Type="http://schemas.openxmlformats.org/officeDocument/2006/relationships/hyperlink" Target="https://www.researchallofus.org/publications/" TargetMode="External"/><Relationship Id="rId7" Type="http://schemas.openxmlformats.org/officeDocument/2006/relationships/hyperlink" Target="https://support.researchallofus.org/hc/en-us/articles/29349213795348-Setting-Up-Your-Google-Cloud-Platform-GCP-Billing-Account" TargetMode="External"/><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hyperlink" Target="https://www.youtube.com/watch?v=vrRbfC1p4qw" TargetMode="External"/><Relationship Id="rId5" Type="http://schemas.openxmlformats.org/officeDocument/2006/relationships/hyperlink" Target="https://www.youtube.com/watch?v=V1Gt3gputpU&amp;t=2326s" TargetMode="External"/><Relationship Id="rId4" Type="http://schemas.openxmlformats.org/officeDocument/2006/relationships/hyperlink" Target="https://www.youtube.com/watch?v=xP1I9GQy5cg"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library.medicine.yale.edu/services/classes" TargetMode="External"/><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hyperlink" Target="https://schedule.yale.edu/event/15588217"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790060" y="1433524"/>
            <a:ext cx="6423025" cy="1964794"/>
          </a:xfrm>
        </p:spPr>
        <p:txBody>
          <a:bodyPr/>
          <a:lstStyle/>
          <a:p>
            <a:r>
              <a:rPr lang="en-US" dirty="0">
                <a:latin typeface="Avenir Book" panose="02000503020000020003" pitchFamily="2" charset="0"/>
              </a:rPr>
              <a:t>An Introduction to the All of Us Researcher Program</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0" y="4057896"/>
            <a:ext cx="5732462"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3749156"/>
            <a:ext cx="5554662" cy="266700"/>
          </a:xfrm>
        </p:spPr>
        <p:txBody>
          <a:bodyPr/>
          <a:lstStyle/>
          <a:p>
            <a:r>
              <a:rPr lang="en-US" dirty="0"/>
              <a:t>MAXIMILIAN WEGENER, MPH</a:t>
            </a:r>
          </a:p>
        </p:txBody>
      </p:sp>
      <p:sp>
        <p:nvSpPr>
          <p:cNvPr id="6" name="Textbox 1">
            <a:extLst>
              <a:ext uri="{FF2B5EF4-FFF2-40B4-BE49-F238E27FC236}">
                <a16:creationId xmlns:a16="http://schemas.microsoft.com/office/drawing/2014/main" id="{DCB4424F-D13C-B37B-B534-D01171445A02}"/>
              </a:ext>
            </a:extLst>
          </p:cNvPr>
          <p:cNvSpPr txBox="1">
            <a:spLocks/>
          </p:cNvSpPr>
          <p:nvPr/>
        </p:nvSpPr>
        <p:spPr>
          <a:xfrm>
            <a:off x="4708384" y="6273800"/>
            <a:ext cx="2942549" cy="342522"/>
          </a:xfrm>
          <a:prstGeom prst="rect">
            <a:avLst/>
          </a:prstGeom>
        </p:spPr>
        <p:txBody>
          <a:bodyPr wrap="square" lIns="0" tIns="0" rIns="0" bIns="0" rtlCol="0">
            <a:noAutofit/>
          </a:bodyPr>
          <a:lstStyle/>
          <a:p>
            <a:pPr marL="12700" marR="0">
              <a:lnSpc>
                <a:spcPts val="1705"/>
              </a:lnSpc>
              <a:spcBef>
                <a:spcPts val="35"/>
              </a:spcBef>
            </a:pPr>
            <a:r>
              <a:rPr lang="en-US" sz="24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7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SCHOOL</a:t>
            </a:r>
            <a:r>
              <a:rPr lang="en-US" sz="1200" spc="1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OF</a:t>
            </a:r>
            <a:r>
              <a:rPr lang="en-US" sz="120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MEDICINE</a:t>
            </a:r>
            <a:endParaRPr lang="en-US" dirty="0">
              <a:effectLst/>
              <a:latin typeface="YaleNew" panose="02000602050000020003" pitchFamily="2" charset="77"/>
              <a:ea typeface="Arial" panose="020B0604020202020204" pitchFamily="34" charset="0"/>
            </a:endParaRPr>
          </a:p>
          <a:p>
            <a:pPr marL="376555" marR="0">
              <a:lnSpc>
                <a:spcPts val="785"/>
              </a:lnSpc>
            </a:pP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       Biomedical</a:t>
            </a:r>
            <a:r>
              <a:rPr lang="en-US" sz="1050" i="1" spc="3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Informatics</a:t>
            </a:r>
            <a:r>
              <a:rPr lang="en-US" sz="1050" i="1" spc="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212121"/>
                </a:solidFill>
                <a:effectLst/>
                <a:latin typeface="YaleNew" panose="02000602050000020003" pitchFamily="2" charset="77"/>
                <a:ea typeface="Arial" panose="020B0604020202020204" pitchFamily="34" charset="0"/>
                <a:cs typeface="Arial" panose="020B0604020202020204" pitchFamily="34" charset="0"/>
              </a:rPr>
              <a:t>and</a:t>
            </a:r>
            <a:r>
              <a:rPr lang="en-US" sz="1050" i="1" spc="2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Data</a:t>
            </a:r>
            <a:r>
              <a:rPr lang="en-US" sz="105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 Science</a:t>
            </a:r>
            <a:endParaRPr lang="en-US" dirty="0">
              <a:effectLst/>
              <a:latin typeface="YaleNew" panose="02000602050000020003" pitchFamily="2" charset="77"/>
              <a:ea typeface="Arial" panose="020B0604020202020204" pitchFamily="34" charset="0"/>
            </a:endParaRP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8102600" y="6169660"/>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C302-EFD2-C148-18AC-25687AF43B7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09063F1-00EC-C725-2398-222ECAAE9D8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Interactive poll questions</a:t>
            </a:r>
          </a:p>
        </p:txBody>
      </p:sp>
      <p:sp>
        <p:nvSpPr>
          <p:cNvPr id="6" name="Slide Number Placeholder 5">
            <a:extLst>
              <a:ext uri="{FF2B5EF4-FFF2-40B4-BE49-F238E27FC236}">
                <a16:creationId xmlns:a16="http://schemas.microsoft.com/office/drawing/2014/main" id="{28F2178C-7904-230F-946F-A4C46EA7E995}"/>
              </a:ext>
            </a:extLst>
          </p:cNvPr>
          <p:cNvSpPr>
            <a:spLocks noGrp="1"/>
          </p:cNvSpPr>
          <p:nvPr>
            <p:ph type="sldNum" sz="quarter" idx="18"/>
          </p:nvPr>
        </p:nvSpPr>
        <p:spPr/>
        <p:txBody>
          <a:bodyPr/>
          <a:lstStyle/>
          <a:p>
            <a:fld id="{548469FB-C78A-B94B-B04A-B5BC8C934F85}" type="slidenum">
              <a:rPr lang="en-US" smtClean="0"/>
              <a:t>2</a:t>
            </a:fld>
            <a:endParaRPr lang="en-US"/>
          </a:p>
        </p:txBody>
      </p:sp>
      <p:pic>
        <p:nvPicPr>
          <p:cNvPr id="2" name="Picture 1">
            <a:extLst>
              <a:ext uri="{FF2B5EF4-FFF2-40B4-BE49-F238E27FC236}">
                <a16:creationId xmlns:a16="http://schemas.microsoft.com/office/drawing/2014/main" id="{4363CA7D-213E-1C91-B67A-C77699EBA599}"/>
              </a:ext>
            </a:extLst>
          </p:cNvPr>
          <p:cNvPicPr>
            <a:picLocks noChangeAspect="1"/>
          </p:cNvPicPr>
          <p:nvPr/>
        </p:nvPicPr>
        <p:blipFill>
          <a:blip r:embed="rId3"/>
          <a:stretch>
            <a:fillRect/>
          </a:stretch>
        </p:blipFill>
        <p:spPr>
          <a:xfrm>
            <a:off x="5296907" y="243308"/>
            <a:ext cx="5664720" cy="6295604"/>
          </a:xfrm>
          <a:prstGeom prst="rect">
            <a:avLst/>
          </a:prstGeom>
        </p:spPr>
      </p:pic>
      <p:sp>
        <p:nvSpPr>
          <p:cNvPr id="4" name="Oval 3">
            <a:extLst>
              <a:ext uri="{FF2B5EF4-FFF2-40B4-BE49-F238E27FC236}">
                <a16:creationId xmlns:a16="http://schemas.microsoft.com/office/drawing/2014/main" id="{009B0DA8-9AE9-2A95-5B46-5858BF3BC709}"/>
              </a:ext>
            </a:extLst>
          </p:cNvPr>
          <p:cNvSpPr/>
          <p:nvPr/>
        </p:nvSpPr>
        <p:spPr>
          <a:xfrm>
            <a:off x="5518768" y="5057522"/>
            <a:ext cx="1408014" cy="712099"/>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3341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6D6A-D5EB-89C6-8721-9B456A629AA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209DC86-BBFB-DD37-63AA-B1E7874EAC29}"/>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Interactive poll questions</a:t>
            </a:r>
          </a:p>
        </p:txBody>
      </p:sp>
      <p:sp>
        <p:nvSpPr>
          <p:cNvPr id="6" name="Slide Number Placeholder 5">
            <a:extLst>
              <a:ext uri="{FF2B5EF4-FFF2-40B4-BE49-F238E27FC236}">
                <a16:creationId xmlns:a16="http://schemas.microsoft.com/office/drawing/2014/main" id="{B99BBC4B-6D4B-5E0B-3ED0-048BB529CEDD}"/>
              </a:ext>
            </a:extLst>
          </p:cNvPr>
          <p:cNvSpPr>
            <a:spLocks noGrp="1"/>
          </p:cNvSpPr>
          <p:nvPr>
            <p:ph type="sldNum" sz="quarter" idx="18"/>
          </p:nvPr>
        </p:nvSpPr>
        <p:spPr/>
        <p:txBody>
          <a:bodyPr/>
          <a:lstStyle/>
          <a:p>
            <a:fld id="{548469FB-C78A-B94B-B04A-B5BC8C934F85}" type="slidenum">
              <a:rPr lang="en-US" smtClean="0"/>
              <a:t>3</a:t>
            </a:fld>
            <a:endParaRPr lang="en-US"/>
          </a:p>
        </p:txBody>
      </p:sp>
      <p:pic>
        <p:nvPicPr>
          <p:cNvPr id="5" name="Picture 4">
            <a:extLst>
              <a:ext uri="{FF2B5EF4-FFF2-40B4-BE49-F238E27FC236}">
                <a16:creationId xmlns:a16="http://schemas.microsoft.com/office/drawing/2014/main" id="{C346020C-1CEE-BE6D-F2CE-511E1BEE3F52}"/>
              </a:ext>
            </a:extLst>
          </p:cNvPr>
          <p:cNvPicPr>
            <a:picLocks noChangeAspect="1"/>
          </p:cNvPicPr>
          <p:nvPr/>
        </p:nvPicPr>
        <p:blipFill>
          <a:blip r:embed="rId3"/>
          <a:stretch>
            <a:fillRect/>
          </a:stretch>
        </p:blipFill>
        <p:spPr>
          <a:xfrm>
            <a:off x="5398376" y="165921"/>
            <a:ext cx="5955424" cy="5955424"/>
          </a:xfrm>
          <a:prstGeom prst="rect">
            <a:avLst/>
          </a:prstGeom>
        </p:spPr>
      </p:pic>
    </p:spTree>
    <p:extLst>
      <p:ext uri="{BB962C8B-B14F-4D97-AF65-F5344CB8AC3E}">
        <p14:creationId xmlns:p14="http://schemas.microsoft.com/office/powerpoint/2010/main" val="2546088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5181600" y="1422651"/>
            <a:ext cx="6628457" cy="5435349"/>
          </a:xfrm>
        </p:spPr>
        <p:txBody>
          <a:bodyPr>
            <a:normAutofit/>
          </a:bodyPr>
          <a:lstStyle/>
          <a:p>
            <a:r>
              <a:rPr lang="en-US" sz="2000" dirty="0">
                <a:latin typeface="Avenir Book" panose="02000503020000020003" pitchFamily="2" charset="0"/>
              </a:rPr>
              <a:t>Learning objectives</a:t>
            </a:r>
          </a:p>
          <a:p>
            <a:endParaRPr lang="en-US" sz="2000" dirty="0">
              <a:latin typeface="Avenir Book" panose="02000503020000020003" pitchFamily="2" charset="0"/>
            </a:endParaRPr>
          </a:p>
          <a:p>
            <a:r>
              <a:rPr lang="en-US" sz="2000" dirty="0">
                <a:latin typeface="Avenir Book" panose="02000503020000020003" pitchFamily="2" charset="0"/>
              </a:rPr>
              <a:t>About All of US</a:t>
            </a:r>
          </a:p>
          <a:p>
            <a:endParaRPr lang="en-US" sz="2000" dirty="0">
              <a:latin typeface="Avenir Book" panose="02000503020000020003" pitchFamily="2" charset="0"/>
            </a:endParaRPr>
          </a:p>
          <a:p>
            <a:r>
              <a:rPr lang="en-US" sz="2000" dirty="0">
                <a:latin typeface="Avenir Book" panose="02000503020000020003" pitchFamily="2" charset="0"/>
              </a:rPr>
              <a:t>Data sources</a:t>
            </a:r>
          </a:p>
          <a:p>
            <a:endParaRPr lang="en-US" sz="2000" dirty="0">
              <a:latin typeface="Avenir Book" panose="02000503020000020003" pitchFamily="2" charset="0"/>
            </a:endParaRPr>
          </a:p>
          <a:p>
            <a:r>
              <a:rPr lang="en-US" sz="2000" dirty="0">
                <a:latin typeface="Avenir Book" panose="02000503020000020003" pitchFamily="2" charset="0"/>
              </a:rPr>
              <a:t>Accessing data</a:t>
            </a:r>
          </a:p>
          <a:p>
            <a:endParaRPr lang="en-US" sz="2000" dirty="0">
              <a:latin typeface="Avenir Book" panose="02000503020000020003" pitchFamily="2" charset="0"/>
            </a:endParaRPr>
          </a:p>
          <a:p>
            <a:r>
              <a:rPr lang="en-US" sz="2000" dirty="0">
                <a:latin typeface="Avenir Book" panose="02000503020000020003" pitchFamily="2" charset="0"/>
              </a:rPr>
              <a:t>Analyzing data</a:t>
            </a:r>
          </a:p>
          <a:p>
            <a:endParaRPr lang="en-US" sz="2000" dirty="0">
              <a:latin typeface="Avenir Book" panose="02000503020000020003" pitchFamily="2" charset="0"/>
            </a:endParaRPr>
          </a:p>
          <a:p>
            <a:r>
              <a:rPr lang="en-US" sz="2000" dirty="0">
                <a:latin typeface="Avenir Book" panose="02000503020000020003" pitchFamily="2" charset="0"/>
              </a:rPr>
              <a:t>Create an All of Us account and Workspace </a:t>
            </a:r>
          </a:p>
          <a:p>
            <a:endParaRPr lang="en-US" sz="1400"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450962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5080001" y="805218"/>
            <a:ext cx="5941351" cy="5912579"/>
          </a:xfrm>
        </p:spPr>
        <p:txBody>
          <a:bodyPr>
            <a:normAutofit/>
          </a:bodyPr>
          <a:lstStyle/>
          <a:p>
            <a:pPr marL="514350" lvl="1" indent="-514350">
              <a:lnSpc>
                <a:spcPct val="100000"/>
              </a:lnSpc>
              <a:spcBef>
                <a:spcPts val="1000"/>
              </a:spcBef>
              <a:buFont typeface="+mj-lt"/>
              <a:buAutoNum type="arabicPeriod"/>
            </a:pPr>
            <a:r>
              <a:rPr lang="en-US" sz="2000" dirty="0">
                <a:latin typeface="Avenir Book" panose="02000503020000020003" pitchFamily="2" charset="0"/>
              </a:rPr>
              <a:t>Explain the All of Us program</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Identify key data sources</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Understand how data are stored</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Create datasets using the cohort builder + dataset builder</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Explain some of the analytic methods available for All of Us data</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Create a user account and workspace</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After this training, you should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5</a:t>
            </a:fld>
            <a:endParaRPr lang="en-US"/>
          </a:p>
        </p:txBody>
      </p:sp>
    </p:spTree>
    <p:extLst>
      <p:ext uri="{BB962C8B-B14F-4D97-AF65-F5344CB8AC3E}">
        <p14:creationId xmlns:p14="http://schemas.microsoft.com/office/powerpoint/2010/main" val="347234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FC4E79-F871-E420-2F3D-1783E74D6CE9}"/>
              </a:ext>
            </a:extLst>
          </p:cNvPr>
          <p:cNvSpPr>
            <a:spLocks noGrp="1"/>
          </p:cNvSpPr>
          <p:nvPr>
            <p:ph type="body" sz="quarter" idx="11"/>
          </p:nvPr>
        </p:nvSpPr>
        <p:spPr>
          <a:xfrm>
            <a:off x="494357" y="1597735"/>
            <a:ext cx="2799176" cy="1376693"/>
          </a:xfrm>
        </p:spPr>
        <p:txBody>
          <a:bodyPr/>
          <a:lstStyle/>
          <a:p>
            <a:r>
              <a:rPr lang="en-US" dirty="0">
                <a:latin typeface="YaleNew" panose="02000602050000020003" pitchFamily="2" charset="77"/>
              </a:rPr>
              <a:t>Course Progression</a:t>
            </a:r>
          </a:p>
        </p:txBody>
      </p:sp>
      <p:sp>
        <p:nvSpPr>
          <p:cNvPr id="3" name="Text Placeholder 2">
            <a:extLst>
              <a:ext uri="{FF2B5EF4-FFF2-40B4-BE49-F238E27FC236}">
                <a16:creationId xmlns:a16="http://schemas.microsoft.com/office/drawing/2014/main" id="{71B5483B-BCF3-D349-9AFC-4D735C342F5C}"/>
              </a:ext>
            </a:extLst>
          </p:cNvPr>
          <p:cNvSpPr>
            <a:spLocks noGrp="1"/>
          </p:cNvSpPr>
          <p:nvPr>
            <p:ph type="body" sz="quarter" idx="15"/>
          </p:nvPr>
        </p:nvSpPr>
        <p:spPr/>
        <p:txBody>
          <a:bodyPr/>
          <a:lstStyle/>
          <a:p>
            <a:r>
              <a:rPr lang="en-US" dirty="0"/>
              <a:t>Current Level and Future Directions</a:t>
            </a:r>
          </a:p>
        </p:txBody>
      </p:sp>
      <p:pic>
        <p:nvPicPr>
          <p:cNvPr id="15" name="Picture 14" descr="A blue line with black text&#10;&#10;Description automatically generated">
            <a:extLst>
              <a:ext uri="{FF2B5EF4-FFF2-40B4-BE49-F238E27FC236}">
                <a16:creationId xmlns:a16="http://schemas.microsoft.com/office/drawing/2014/main" id="{C08E6084-FD9F-B97A-F37D-0BD2CB0FB4B7}"/>
              </a:ext>
            </a:extLst>
          </p:cNvPr>
          <p:cNvPicPr>
            <a:picLocks noChangeAspect="1"/>
          </p:cNvPicPr>
          <p:nvPr/>
        </p:nvPicPr>
        <p:blipFill>
          <a:blip r:embed="rId3"/>
          <a:stretch>
            <a:fillRect/>
          </a:stretch>
        </p:blipFill>
        <p:spPr>
          <a:xfrm>
            <a:off x="4058632" y="2434893"/>
            <a:ext cx="7772400" cy="1767026"/>
          </a:xfrm>
          <a:prstGeom prst="rect">
            <a:avLst/>
          </a:prstGeom>
        </p:spPr>
      </p:pic>
    </p:spTree>
    <p:extLst>
      <p:ext uri="{BB962C8B-B14F-4D97-AF65-F5344CB8AC3E}">
        <p14:creationId xmlns:p14="http://schemas.microsoft.com/office/powerpoint/2010/main" val="133344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8BAB-507D-73DE-5911-711427DB36F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3DCF00D-AF2B-CA97-F39F-CBF1147F506A}"/>
              </a:ext>
            </a:extLst>
          </p:cNvPr>
          <p:cNvSpPr>
            <a:spLocks noGrp="1"/>
          </p:cNvSpPr>
          <p:nvPr>
            <p:ph type="subTitle" idx="1"/>
          </p:nvPr>
        </p:nvSpPr>
        <p:spPr/>
        <p:txBody>
          <a:bodyPr/>
          <a:lstStyle/>
          <a:p>
            <a:endParaRPr lang="en-US"/>
          </a:p>
        </p:txBody>
      </p:sp>
      <p:pic>
        <p:nvPicPr>
          <p:cNvPr id="5" name="slide.url=https://www.polleverywhere.com/multiple_choice_polls/mJz6ARM0ep0clYbIfjwbU?state=opened&amp;flow=Default&amp;onscreen=persist">
            <a:extLst>
              <a:ext uri="{FF2B5EF4-FFF2-40B4-BE49-F238E27FC236}">
                <a16:creationId xmlns:a16="http://schemas.microsoft.com/office/drawing/2014/main" id="{0289B054-939B-2A46-C92B-A8D658053AAF}"/>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074103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5181600" y="1790700"/>
            <a:ext cx="6803553" cy="3898900"/>
          </a:xfrm>
        </p:spPr>
        <p:txBody>
          <a:bodyPr>
            <a:normAutofit/>
          </a:bodyPr>
          <a:lstStyle/>
          <a:p>
            <a:pPr marL="514350" lvl="1" indent="-514350">
              <a:lnSpc>
                <a:spcPct val="100000"/>
              </a:lnSpc>
              <a:spcBef>
                <a:spcPts val="0"/>
              </a:spcBef>
            </a:pPr>
            <a:r>
              <a:rPr lang="en-US" sz="2000" dirty="0">
                <a:latin typeface="Avenir Book" panose="02000503020000020003" pitchFamily="2" charset="0"/>
              </a:rPr>
              <a:t>A national initiative by the NIH</a:t>
            </a:r>
          </a:p>
          <a:p>
            <a:pPr marL="514350" lvl="1" indent="-514350">
              <a:lnSpc>
                <a:spcPct val="100000"/>
              </a:lnSpc>
              <a:spcBef>
                <a:spcPts val="0"/>
              </a:spcBef>
              <a:buFont typeface="+mj-lt"/>
              <a:buAutoNum type="arabicPeriod"/>
            </a:pPr>
            <a:endParaRPr lang="en-US" sz="2000" dirty="0">
              <a:latin typeface="Avenir Book" panose="02000503020000020003" pitchFamily="2" charset="0"/>
            </a:endParaRPr>
          </a:p>
          <a:p>
            <a:pPr marL="457200" lvl="1" indent="-457200">
              <a:lnSpc>
                <a:spcPct val="100000"/>
              </a:lnSpc>
              <a:spcBef>
                <a:spcPts val="0"/>
              </a:spcBef>
            </a:pPr>
            <a:r>
              <a:rPr lang="en-US" sz="2000" dirty="0">
                <a:latin typeface="Avenir Book" panose="02000503020000020003" pitchFamily="2" charset="0"/>
              </a:rPr>
              <a:t>Launched in 2018</a:t>
            </a:r>
          </a:p>
          <a:p>
            <a:pPr marL="514350" lvl="1" indent="-514350">
              <a:lnSpc>
                <a:spcPct val="100000"/>
              </a:lnSpc>
              <a:spcBef>
                <a:spcPts val="0"/>
              </a:spcBef>
              <a:buFont typeface="+mj-lt"/>
              <a:buAutoNum type="arabicPeriod"/>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To gather health data from over 1 million people</a:t>
            </a:r>
          </a:p>
          <a:p>
            <a:pPr marL="514350" lvl="1" indent="-514350">
              <a:lnSpc>
                <a:spcPct val="100000"/>
              </a:lnSpc>
              <a:spcBef>
                <a:spcPts val="0"/>
              </a:spcBef>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Eligible participants join voluntarily</a:t>
            </a:r>
          </a:p>
          <a:p>
            <a:pPr marL="971550" lvl="2" indent="-514350">
              <a:lnSpc>
                <a:spcPct val="100000"/>
              </a:lnSpc>
              <a:spcBef>
                <a:spcPts val="0"/>
              </a:spcBef>
              <a:buFont typeface="Courier New" panose="02070309020205020404" pitchFamily="49" charset="0"/>
              <a:buChar char="o"/>
            </a:pPr>
            <a:r>
              <a:rPr lang="en-US" sz="1800" dirty="0">
                <a:latin typeface="Avenir Book" panose="02000503020000020003" pitchFamily="2" charset="0"/>
              </a:rPr>
              <a:t>signing up via </a:t>
            </a:r>
            <a:r>
              <a:rPr lang="en-US" sz="1800" dirty="0" err="1">
                <a:latin typeface="Avenir Book" panose="02000503020000020003" pitchFamily="2" charset="0"/>
              </a:rPr>
              <a:t>JoinAllofUs.org</a:t>
            </a:r>
            <a:r>
              <a:rPr lang="en-US" sz="1800" dirty="0">
                <a:latin typeface="Avenir Book" panose="02000503020000020003" pitchFamily="2" charset="0"/>
              </a:rPr>
              <a:t>  </a:t>
            </a:r>
          </a:p>
          <a:p>
            <a:pPr marL="971550" lvl="2" indent="-514350">
              <a:lnSpc>
                <a:spcPct val="100000"/>
              </a:lnSpc>
              <a:spcBef>
                <a:spcPts val="0"/>
              </a:spcBef>
              <a:buFont typeface="Courier New" panose="02070309020205020404" pitchFamily="49" charset="0"/>
              <a:buChar char="o"/>
            </a:pPr>
            <a:r>
              <a:rPr lang="en-US" sz="1800" dirty="0">
                <a:latin typeface="Avenir Book" panose="02000503020000020003" pitchFamily="2" charset="0"/>
              </a:rPr>
              <a:t>participating health care provider</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a:xfrm>
            <a:off x="575147" y="1706582"/>
            <a:ext cx="2866553" cy="1643569"/>
          </a:xfrm>
        </p:spPr>
        <p:txBody>
          <a:bodyPr/>
          <a:lstStyle/>
          <a:p>
            <a:r>
              <a:rPr lang="en-US" dirty="0">
                <a:latin typeface="YaleNew" panose="02000602050000020003" pitchFamily="2" charset="77"/>
              </a:rPr>
              <a:t>About the All of Us Research Program</a:t>
            </a:r>
          </a:p>
        </p:txBody>
      </p:sp>
      <p:sp>
        <p:nvSpPr>
          <p:cNvPr id="5" name="Text Placeholder 3">
            <a:extLst>
              <a:ext uri="{FF2B5EF4-FFF2-40B4-BE49-F238E27FC236}">
                <a16:creationId xmlns:a16="http://schemas.microsoft.com/office/drawing/2014/main" id="{C3DC4C43-10E2-A436-4B10-13DA9807914C}"/>
              </a:ext>
            </a:extLst>
          </p:cNvPr>
          <p:cNvSpPr>
            <a:spLocks noGrp="1"/>
          </p:cNvSpPr>
          <p:nvPr>
            <p:ph type="body" sz="quarter" idx="15"/>
          </p:nvPr>
        </p:nvSpPr>
        <p:spPr>
          <a:xfrm>
            <a:off x="593506" y="4134226"/>
            <a:ext cx="3030943" cy="266700"/>
          </a:xfrm>
        </p:spPr>
        <p:txBody>
          <a:bodyPr/>
          <a:lstStyle/>
          <a:p>
            <a:r>
              <a:rPr lang="en-US" dirty="0">
                <a:solidFill>
                  <a:schemeClr val="bg1"/>
                </a:solidFill>
              </a:rPr>
              <a:t>Background</a:t>
            </a:r>
            <a:endParaRPr lang="en-US" dirty="0"/>
          </a:p>
        </p:txBody>
      </p:sp>
      <p:sp>
        <p:nvSpPr>
          <p:cNvPr id="4" name="Slide Number Placeholder 3">
            <a:extLst>
              <a:ext uri="{FF2B5EF4-FFF2-40B4-BE49-F238E27FC236}">
                <a16:creationId xmlns:a16="http://schemas.microsoft.com/office/drawing/2014/main" id="{B1DB4A70-C844-1D95-B05C-A52BB049F1CB}"/>
              </a:ext>
            </a:extLst>
          </p:cNvPr>
          <p:cNvSpPr>
            <a:spLocks noGrp="1"/>
          </p:cNvSpPr>
          <p:nvPr>
            <p:ph type="sldNum" sz="quarter" idx="18"/>
          </p:nvPr>
        </p:nvSpPr>
        <p:spPr/>
        <p:txBody>
          <a:bodyPr/>
          <a:lstStyle/>
          <a:p>
            <a:fld id="{548469FB-C78A-B94B-B04A-B5BC8C934F85}" type="slidenum">
              <a:rPr lang="en-US" smtClean="0"/>
              <a:t>8</a:t>
            </a:fld>
            <a:endParaRPr lang="en-US"/>
          </a:p>
        </p:txBody>
      </p:sp>
    </p:spTree>
    <p:extLst>
      <p:ext uri="{BB962C8B-B14F-4D97-AF65-F5344CB8AC3E}">
        <p14:creationId xmlns:p14="http://schemas.microsoft.com/office/powerpoint/2010/main" val="1489808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33C3-175B-F97A-8B19-2DA6BA47BBE5}"/>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32461D4-4A4A-D5F5-BF3F-1ADA1E2F2595}"/>
              </a:ext>
            </a:extLst>
          </p:cNvPr>
          <p:cNvSpPr>
            <a:spLocks noGrp="1"/>
          </p:cNvSpPr>
          <p:nvPr>
            <p:ph type="pic" sz="quarter" idx="12"/>
          </p:nvPr>
        </p:nvSpPr>
        <p:spPr>
          <a:xfrm>
            <a:off x="5079052" y="1567597"/>
            <a:ext cx="6803553" cy="5714497"/>
          </a:xfrm>
        </p:spPr>
        <p:txBody>
          <a:bodyPr>
            <a:normAutofit/>
          </a:bodyPr>
          <a:lstStyle/>
          <a:p>
            <a:pPr marL="514350" lvl="1" indent="-514350">
              <a:lnSpc>
                <a:spcPct val="100000"/>
              </a:lnSpc>
              <a:spcBef>
                <a:spcPts val="0"/>
              </a:spcBef>
            </a:pPr>
            <a:r>
              <a:rPr lang="en-US" sz="2000" dirty="0">
                <a:latin typeface="Avenir Book" panose="02000503020000020003" pitchFamily="2" charset="0"/>
              </a:rPr>
              <a:t>Enable precision medicine using data on lifestyle, environment, and genetics. </a:t>
            </a:r>
          </a:p>
          <a:p>
            <a:pPr marL="514350" lvl="1" indent="-514350">
              <a:lnSpc>
                <a:spcPct val="100000"/>
              </a:lnSpc>
              <a:spcBef>
                <a:spcPts val="0"/>
              </a:spcBef>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Shift from one-size-fits-all to personalized healthcare.</a:t>
            </a:r>
          </a:p>
          <a:p>
            <a:pPr marL="514350" lvl="1" indent="-514350">
              <a:lnSpc>
                <a:spcPct val="100000"/>
              </a:lnSpc>
              <a:spcBef>
                <a:spcPts val="0"/>
              </a:spcBef>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Boost health research and medical breakthroughs.</a:t>
            </a:r>
          </a:p>
          <a:p>
            <a:pPr marL="514350" lvl="1" indent="-514350">
              <a:lnSpc>
                <a:spcPct val="100000"/>
              </a:lnSpc>
              <a:spcBef>
                <a:spcPts val="0"/>
              </a:spcBef>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Tailor and make healthcare equitable.</a:t>
            </a:r>
          </a:p>
          <a:p>
            <a:pPr marL="514350" lvl="1" indent="-514350">
              <a:lnSpc>
                <a:spcPct val="100000"/>
              </a:lnSpc>
              <a:spcBef>
                <a:spcPts val="0"/>
              </a:spcBef>
            </a:pP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Support diverse studies reflecting all populations.</a:t>
            </a:r>
          </a:p>
          <a:p>
            <a:endParaRPr lang="en-US" sz="2400" dirty="0"/>
          </a:p>
        </p:txBody>
      </p:sp>
      <p:sp>
        <p:nvSpPr>
          <p:cNvPr id="3" name="Text Placeholder 2">
            <a:extLst>
              <a:ext uri="{FF2B5EF4-FFF2-40B4-BE49-F238E27FC236}">
                <a16:creationId xmlns:a16="http://schemas.microsoft.com/office/drawing/2014/main" id="{D70D017C-E6F7-C7C8-028E-CB0293D33867}"/>
              </a:ext>
            </a:extLst>
          </p:cNvPr>
          <p:cNvSpPr>
            <a:spLocks noGrp="1"/>
          </p:cNvSpPr>
          <p:nvPr>
            <p:ph type="body" sz="quarter" idx="11"/>
          </p:nvPr>
        </p:nvSpPr>
        <p:spPr>
          <a:xfrm>
            <a:off x="571500" y="1719282"/>
            <a:ext cx="2832100" cy="1643569"/>
          </a:xfrm>
        </p:spPr>
        <p:txBody>
          <a:bodyPr vert="horz" lIns="91440" tIns="45720" rIns="91440" bIns="45720" rtlCol="0">
            <a:noAutofit/>
          </a:bodyPr>
          <a:lstStyle/>
          <a:p>
            <a:r>
              <a:rPr lang="en-US" dirty="0">
                <a:latin typeface="YaleNew" panose="02000602050000020003" pitchFamily="2" charset="77"/>
              </a:rPr>
              <a:t>About the All of Us Research Program</a:t>
            </a:r>
          </a:p>
        </p:txBody>
      </p:sp>
      <p:sp>
        <p:nvSpPr>
          <p:cNvPr id="4" name="Text Placeholder 3">
            <a:extLst>
              <a:ext uri="{FF2B5EF4-FFF2-40B4-BE49-F238E27FC236}">
                <a16:creationId xmlns:a16="http://schemas.microsoft.com/office/drawing/2014/main" id="{62FCB43F-9002-F142-96B7-D1B78C10A4DE}"/>
              </a:ext>
            </a:extLst>
          </p:cNvPr>
          <p:cNvSpPr>
            <a:spLocks noGrp="1"/>
          </p:cNvSpPr>
          <p:nvPr>
            <p:ph type="body" sz="quarter" idx="15"/>
          </p:nvPr>
        </p:nvSpPr>
        <p:spPr>
          <a:xfrm>
            <a:off x="504606" y="4121526"/>
            <a:ext cx="3030943" cy="266700"/>
          </a:xfrm>
        </p:spPr>
        <p:txBody>
          <a:bodyPr/>
          <a:lstStyle/>
          <a:p>
            <a:r>
              <a:rPr lang="en-US" dirty="0">
                <a:solidFill>
                  <a:schemeClr val="bg1"/>
                </a:solidFill>
              </a:rPr>
              <a:t>Vision and </a:t>
            </a:r>
            <a:r>
              <a:rPr lang="en-US" dirty="0"/>
              <a:t>Goals</a:t>
            </a:r>
          </a:p>
        </p:txBody>
      </p:sp>
      <p:sp>
        <p:nvSpPr>
          <p:cNvPr id="5" name="Slide Number Placeholder 4">
            <a:extLst>
              <a:ext uri="{FF2B5EF4-FFF2-40B4-BE49-F238E27FC236}">
                <a16:creationId xmlns:a16="http://schemas.microsoft.com/office/drawing/2014/main" id="{27F9EFBB-9BE0-A284-C952-8673E1EC5F29}"/>
              </a:ext>
            </a:extLst>
          </p:cNvPr>
          <p:cNvSpPr>
            <a:spLocks noGrp="1"/>
          </p:cNvSpPr>
          <p:nvPr>
            <p:ph type="sldNum" sz="quarter" idx="18"/>
          </p:nvPr>
        </p:nvSpPr>
        <p:spPr/>
        <p:txBody>
          <a:bodyPr/>
          <a:lstStyle/>
          <a:p>
            <a:fld id="{548469FB-C78A-B94B-B04A-B5BC8C934F85}" type="slidenum">
              <a:rPr lang="en-US" smtClean="0"/>
              <a:t>9</a:t>
            </a:fld>
            <a:endParaRPr lang="en-US"/>
          </a:p>
        </p:txBody>
      </p:sp>
    </p:spTree>
    <p:extLst>
      <p:ext uri="{BB962C8B-B14F-4D97-AF65-F5344CB8AC3E}">
        <p14:creationId xmlns:p14="http://schemas.microsoft.com/office/powerpoint/2010/main" val="2891441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33C3-175B-F97A-8B19-2DA6BA47BBE5}"/>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32461D4-4A4A-D5F5-BF3F-1ADA1E2F2595}"/>
              </a:ext>
            </a:extLst>
          </p:cNvPr>
          <p:cNvSpPr>
            <a:spLocks noGrp="1"/>
          </p:cNvSpPr>
          <p:nvPr>
            <p:ph type="pic" sz="quarter" idx="12"/>
          </p:nvPr>
        </p:nvSpPr>
        <p:spPr>
          <a:xfrm>
            <a:off x="5079052" y="1261660"/>
            <a:ext cx="6803553" cy="5765046"/>
          </a:xfrm>
        </p:spPr>
        <p:txBody>
          <a:bodyPr>
            <a:normAutofit/>
          </a:bodyPr>
          <a:lstStyle/>
          <a:p>
            <a:pPr marL="514350" lvl="1" indent="-514350">
              <a:lnSpc>
                <a:spcPct val="100000"/>
              </a:lnSpc>
              <a:spcBef>
                <a:spcPts val="0"/>
              </a:spcBef>
            </a:pPr>
            <a:r>
              <a:rPr lang="en-US" sz="2000" dirty="0">
                <a:latin typeface="Avenir Book" panose="02000503020000020003" pitchFamily="2" charset="0"/>
              </a:rPr>
              <a:t>Participant-Centered</a:t>
            </a:r>
          </a:p>
          <a:p>
            <a:pPr lvl="2"/>
            <a:r>
              <a:rPr lang="en-US" sz="1800" dirty="0">
                <a:latin typeface="Avenir Book" panose="02000503020000020003" pitchFamily="2" charset="0"/>
              </a:rPr>
              <a:t>Participants view and access their data</a:t>
            </a:r>
          </a:p>
          <a:p>
            <a:pPr lvl="2"/>
            <a:endParaRPr lang="en-US" sz="18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Open science</a:t>
            </a:r>
          </a:p>
          <a:p>
            <a:pPr lvl="2"/>
            <a:r>
              <a:rPr lang="en-US" sz="1800" dirty="0">
                <a:latin typeface="Avenir Book" panose="02000503020000020003" pitchFamily="2" charset="0"/>
              </a:rPr>
              <a:t>De-identified data available globally</a:t>
            </a:r>
          </a:p>
          <a:p>
            <a:pPr lvl="2"/>
            <a:endParaRPr lang="en-US" sz="18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Research opportunities </a:t>
            </a:r>
          </a:p>
          <a:p>
            <a:pPr lvl="2"/>
            <a:r>
              <a:rPr lang="en-US" sz="1800" dirty="0">
                <a:latin typeface="Avenir Book" panose="02000503020000020003" pitchFamily="2" charset="0"/>
              </a:rPr>
              <a:t>Health disparities; environmental impacts; disease prevention and treatment</a:t>
            </a:r>
          </a:p>
          <a:p>
            <a:pPr lvl="2"/>
            <a:r>
              <a:rPr lang="en-US" sz="1800" dirty="0">
                <a:latin typeface="Avenir Book" panose="02000503020000020003" pitchFamily="2" charset="0"/>
              </a:rPr>
              <a:t>Phenotypic and genotypic data</a:t>
            </a:r>
          </a:p>
          <a:p>
            <a:pPr lvl="2"/>
            <a:endParaRPr lang="en-US" sz="18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Scalability &amp; Innovation</a:t>
            </a:r>
          </a:p>
          <a:p>
            <a:pPr lvl="2"/>
            <a:r>
              <a:rPr lang="en-US" sz="1800" dirty="0">
                <a:latin typeface="Avenir Book" panose="02000503020000020003" pitchFamily="2" charset="0"/>
              </a:rPr>
              <a:t>Complex analyses; AI and machine learning</a:t>
            </a:r>
          </a:p>
        </p:txBody>
      </p:sp>
      <p:sp>
        <p:nvSpPr>
          <p:cNvPr id="3" name="Text Placeholder 2">
            <a:extLst>
              <a:ext uri="{FF2B5EF4-FFF2-40B4-BE49-F238E27FC236}">
                <a16:creationId xmlns:a16="http://schemas.microsoft.com/office/drawing/2014/main" id="{D70D017C-E6F7-C7C8-028E-CB0293D33867}"/>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About the All of Us Research Program</a:t>
            </a:r>
          </a:p>
        </p:txBody>
      </p:sp>
      <p:sp>
        <p:nvSpPr>
          <p:cNvPr id="4" name="Text Placeholder 3">
            <a:extLst>
              <a:ext uri="{FF2B5EF4-FFF2-40B4-BE49-F238E27FC236}">
                <a16:creationId xmlns:a16="http://schemas.microsoft.com/office/drawing/2014/main" id="{62FCB43F-9002-F142-96B7-D1B78C10A4DE}"/>
              </a:ext>
            </a:extLst>
          </p:cNvPr>
          <p:cNvSpPr>
            <a:spLocks noGrp="1"/>
          </p:cNvSpPr>
          <p:nvPr>
            <p:ph type="body" sz="quarter" idx="15"/>
          </p:nvPr>
        </p:nvSpPr>
        <p:spPr>
          <a:xfrm>
            <a:off x="504606" y="4146926"/>
            <a:ext cx="3030943" cy="266700"/>
          </a:xfrm>
        </p:spPr>
        <p:txBody>
          <a:bodyPr/>
          <a:lstStyle/>
          <a:p>
            <a:r>
              <a:rPr lang="en-US" dirty="0">
                <a:solidFill>
                  <a:schemeClr val="bg1"/>
                </a:solidFill>
              </a:rPr>
              <a:t>What makes it unique</a:t>
            </a:r>
            <a:endParaRPr lang="en-US" dirty="0"/>
          </a:p>
        </p:txBody>
      </p:sp>
      <p:sp>
        <p:nvSpPr>
          <p:cNvPr id="5" name="Slide Number Placeholder 4">
            <a:extLst>
              <a:ext uri="{FF2B5EF4-FFF2-40B4-BE49-F238E27FC236}">
                <a16:creationId xmlns:a16="http://schemas.microsoft.com/office/drawing/2014/main" id="{543EA546-BF87-E0C9-2785-9D67CCE7E17B}"/>
              </a:ext>
            </a:extLst>
          </p:cNvPr>
          <p:cNvSpPr>
            <a:spLocks noGrp="1"/>
          </p:cNvSpPr>
          <p:nvPr>
            <p:ph type="sldNum" sz="quarter" idx="18"/>
          </p:nvPr>
        </p:nvSpPr>
        <p:spPr/>
        <p:txBody>
          <a:bodyPr/>
          <a:lstStyle/>
          <a:p>
            <a:fld id="{548469FB-C78A-B94B-B04A-B5BC8C934F85}" type="slidenum">
              <a:rPr lang="en-US" smtClean="0"/>
              <a:t>10</a:t>
            </a:fld>
            <a:endParaRPr lang="en-US"/>
          </a:p>
        </p:txBody>
      </p:sp>
    </p:spTree>
    <p:extLst>
      <p:ext uri="{BB962C8B-B14F-4D97-AF65-F5344CB8AC3E}">
        <p14:creationId xmlns:p14="http://schemas.microsoft.com/office/powerpoint/2010/main" val="1892294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E6B3-8EE3-55C5-FDCC-780E2923CA9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50ECC20-A59D-93A5-49C1-EBBB39E21062}"/>
              </a:ext>
            </a:extLst>
          </p:cNvPr>
          <p:cNvSpPr>
            <a:spLocks noGrp="1"/>
          </p:cNvSpPr>
          <p:nvPr>
            <p:ph type="body" sz="quarter" idx="11"/>
          </p:nvPr>
        </p:nvSpPr>
        <p:spPr>
          <a:xfrm>
            <a:off x="520699" y="1663700"/>
            <a:ext cx="3290809" cy="1229251"/>
          </a:xfrm>
        </p:spPr>
        <p:txBody>
          <a:bodyPr vert="horz" lIns="91440" tIns="45720" rIns="91440" bIns="45720" rtlCol="0">
            <a:noAutofit/>
          </a:bodyPr>
          <a:lstStyle/>
          <a:p>
            <a:r>
              <a:rPr lang="en-US" dirty="0">
                <a:latin typeface="YaleNew" panose="02000602050000020003" pitchFamily="2" charset="77"/>
              </a:rPr>
              <a:t>Data Sources</a:t>
            </a:r>
          </a:p>
        </p:txBody>
      </p:sp>
      <p:sp>
        <p:nvSpPr>
          <p:cNvPr id="4" name="Text Placeholder 3">
            <a:extLst>
              <a:ext uri="{FF2B5EF4-FFF2-40B4-BE49-F238E27FC236}">
                <a16:creationId xmlns:a16="http://schemas.microsoft.com/office/drawing/2014/main" id="{5140D547-A06A-7220-77A7-A2468D67292A}"/>
              </a:ext>
            </a:extLst>
          </p:cNvPr>
          <p:cNvSpPr>
            <a:spLocks noGrp="1"/>
          </p:cNvSpPr>
          <p:nvPr>
            <p:ph type="body" sz="quarter" idx="15"/>
          </p:nvPr>
        </p:nvSpPr>
        <p:spPr>
          <a:xfrm>
            <a:off x="520700" y="2832100"/>
            <a:ext cx="2760849" cy="1739274"/>
          </a:xfrm>
        </p:spPr>
        <p:txBody>
          <a:bodyPr/>
          <a:lstStyle/>
          <a:p>
            <a:r>
              <a:rPr lang="en-US" dirty="0">
                <a:solidFill>
                  <a:schemeClr val="bg1"/>
                </a:solidFill>
              </a:rPr>
              <a:t>Surveys</a:t>
            </a:r>
          </a:p>
          <a:p>
            <a:r>
              <a:rPr lang="en-US" dirty="0"/>
              <a:t>EHR</a:t>
            </a:r>
          </a:p>
          <a:p>
            <a:r>
              <a:rPr lang="en-US" dirty="0"/>
              <a:t>Wearables</a:t>
            </a:r>
          </a:p>
          <a:p>
            <a:r>
              <a:rPr lang="en-US" dirty="0"/>
              <a:t>Physical measurements</a:t>
            </a:r>
          </a:p>
          <a:p>
            <a:r>
              <a:rPr lang="en-US" dirty="0"/>
              <a:t>Genomic</a:t>
            </a:r>
          </a:p>
        </p:txBody>
      </p:sp>
      <p:pic>
        <p:nvPicPr>
          <p:cNvPr id="13" name="Picture 12">
            <a:extLst>
              <a:ext uri="{FF2B5EF4-FFF2-40B4-BE49-F238E27FC236}">
                <a16:creationId xmlns:a16="http://schemas.microsoft.com/office/drawing/2014/main" id="{0CF58E1C-EBA7-C06D-D6AD-55338E377056}"/>
              </a:ext>
            </a:extLst>
          </p:cNvPr>
          <p:cNvPicPr>
            <a:picLocks noChangeAspect="1"/>
          </p:cNvPicPr>
          <p:nvPr/>
        </p:nvPicPr>
        <p:blipFill>
          <a:blip r:embed="rId3"/>
          <a:stretch>
            <a:fillRect/>
          </a:stretch>
        </p:blipFill>
        <p:spPr>
          <a:xfrm>
            <a:off x="5272222" y="538916"/>
            <a:ext cx="823777" cy="934284"/>
          </a:xfrm>
          <a:prstGeom prst="rect">
            <a:avLst/>
          </a:prstGeom>
        </p:spPr>
      </p:pic>
      <p:pic>
        <p:nvPicPr>
          <p:cNvPr id="15" name="Picture 14">
            <a:extLst>
              <a:ext uri="{FF2B5EF4-FFF2-40B4-BE49-F238E27FC236}">
                <a16:creationId xmlns:a16="http://schemas.microsoft.com/office/drawing/2014/main" id="{B94CD5E7-3F23-AFE5-4C72-D56D60DC6FDC}"/>
              </a:ext>
            </a:extLst>
          </p:cNvPr>
          <p:cNvPicPr>
            <a:picLocks noChangeAspect="1"/>
          </p:cNvPicPr>
          <p:nvPr/>
        </p:nvPicPr>
        <p:blipFill>
          <a:blip r:embed="rId4"/>
          <a:stretch>
            <a:fillRect/>
          </a:stretch>
        </p:blipFill>
        <p:spPr>
          <a:xfrm>
            <a:off x="5308601" y="5442201"/>
            <a:ext cx="787400" cy="775554"/>
          </a:xfrm>
          <a:prstGeom prst="rect">
            <a:avLst/>
          </a:prstGeom>
        </p:spPr>
      </p:pic>
      <p:pic>
        <p:nvPicPr>
          <p:cNvPr id="16" name="Picture 15">
            <a:extLst>
              <a:ext uri="{FF2B5EF4-FFF2-40B4-BE49-F238E27FC236}">
                <a16:creationId xmlns:a16="http://schemas.microsoft.com/office/drawing/2014/main" id="{A8453839-938A-D49B-C79F-48D5FBC3C151}"/>
              </a:ext>
            </a:extLst>
          </p:cNvPr>
          <p:cNvPicPr>
            <a:picLocks noChangeAspect="1"/>
          </p:cNvPicPr>
          <p:nvPr/>
        </p:nvPicPr>
        <p:blipFill>
          <a:blip r:embed="rId5"/>
          <a:stretch>
            <a:fillRect/>
          </a:stretch>
        </p:blipFill>
        <p:spPr>
          <a:xfrm>
            <a:off x="5295900" y="1854200"/>
            <a:ext cx="764897" cy="790642"/>
          </a:xfrm>
          <a:prstGeom prst="rect">
            <a:avLst/>
          </a:prstGeom>
        </p:spPr>
      </p:pic>
      <p:pic>
        <p:nvPicPr>
          <p:cNvPr id="17" name="Picture 16">
            <a:extLst>
              <a:ext uri="{FF2B5EF4-FFF2-40B4-BE49-F238E27FC236}">
                <a16:creationId xmlns:a16="http://schemas.microsoft.com/office/drawing/2014/main" id="{45FBDBE0-1952-928D-E61D-3E3EAF22B875}"/>
              </a:ext>
            </a:extLst>
          </p:cNvPr>
          <p:cNvPicPr>
            <a:picLocks noChangeAspect="1"/>
          </p:cNvPicPr>
          <p:nvPr/>
        </p:nvPicPr>
        <p:blipFill>
          <a:blip r:embed="rId6"/>
          <a:stretch>
            <a:fillRect/>
          </a:stretch>
        </p:blipFill>
        <p:spPr>
          <a:xfrm>
            <a:off x="5308600" y="3060702"/>
            <a:ext cx="774700" cy="783276"/>
          </a:xfrm>
          <a:prstGeom prst="rect">
            <a:avLst/>
          </a:prstGeom>
        </p:spPr>
      </p:pic>
      <p:pic>
        <p:nvPicPr>
          <p:cNvPr id="18" name="Picture 17">
            <a:extLst>
              <a:ext uri="{FF2B5EF4-FFF2-40B4-BE49-F238E27FC236}">
                <a16:creationId xmlns:a16="http://schemas.microsoft.com/office/drawing/2014/main" id="{3ACF5F3E-182F-2DE7-018B-35ED2F52254D}"/>
              </a:ext>
            </a:extLst>
          </p:cNvPr>
          <p:cNvPicPr>
            <a:picLocks noChangeAspect="1"/>
          </p:cNvPicPr>
          <p:nvPr/>
        </p:nvPicPr>
        <p:blipFill>
          <a:blip r:embed="rId7"/>
          <a:stretch>
            <a:fillRect/>
          </a:stretch>
        </p:blipFill>
        <p:spPr>
          <a:xfrm>
            <a:off x="5308601" y="4307001"/>
            <a:ext cx="774699" cy="673770"/>
          </a:xfrm>
          <a:prstGeom prst="rect">
            <a:avLst/>
          </a:prstGeom>
        </p:spPr>
      </p:pic>
      <p:sp>
        <p:nvSpPr>
          <p:cNvPr id="2" name="TextBox 1">
            <a:extLst>
              <a:ext uri="{FF2B5EF4-FFF2-40B4-BE49-F238E27FC236}">
                <a16:creationId xmlns:a16="http://schemas.microsoft.com/office/drawing/2014/main" id="{35478091-A925-DD36-14D8-A4E68CFB1AA1}"/>
              </a:ext>
            </a:extLst>
          </p:cNvPr>
          <p:cNvSpPr txBox="1"/>
          <p:nvPr/>
        </p:nvSpPr>
        <p:spPr>
          <a:xfrm>
            <a:off x="6415873" y="761805"/>
            <a:ext cx="4163227" cy="584775"/>
          </a:xfrm>
          <a:prstGeom prst="rect">
            <a:avLst/>
          </a:prstGeom>
          <a:noFill/>
        </p:spPr>
        <p:txBody>
          <a:bodyPr wrap="square" rtlCol="0">
            <a:spAutoFit/>
          </a:bodyPr>
          <a:lstStyle/>
          <a:p>
            <a:r>
              <a:rPr lang="en-US" sz="1600" dirty="0">
                <a:latin typeface="Avenir Book" panose="02000503020000020003" pitchFamily="2" charset="0"/>
              </a:rPr>
              <a:t>Lifestyles, medical history, healthcare access, etc.</a:t>
            </a:r>
          </a:p>
        </p:txBody>
      </p:sp>
      <p:sp>
        <p:nvSpPr>
          <p:cNvPr id="5" name="TextBox 4">
            <a:extLst>
              <a:ext uri="{FF2B5EF4-FFF2-40B4-BE49-F238E27FC236}">
                <a16:creationId xmlns:a16="http://schemas.microsoft.com/office/drawing/2014/main" id="{C32D17A5-5BCC-AB54-593B-ACF4711CE273}"/>
              </a:ext>
            </a:extLst>
          </p:cNvPr>
          <p:cNvSpPr txBox="1"/>
          <p:nvPr/>
        </p:nvSpPr>
        <p:spPr>
          <a:xfrm>
            <a:off x="6400800" y="2006600"/>
            <a:ext cx="5342832" cy="830997"/>
          </a:xfrm>
          <a:prstGeom prst="rect">
            <a:avLst/>
          </a:prstGeom>
          <a:noFill/>
        </p:spPr>
        <p:txBody>
          <a:bodyPr wrap="square" rtlCol="0">
            <a:spAutoFit/>
          </a:bodyPr>
          <a:lstStyle/>
          <a:p>
            <a:r>
              <a:rPr lang="en-US" sz="1600" dirty="0">
                <a:latin typeface="Avenir Book" panose="02000503020000020003" pitchFamily="2" charset="0"/>
              </a:rPr>
              <a:t>Standardized using Observational Medical Outcomes Partnership (OMOP) Common Data Model (CDM)</a:t>
            </a:r>
          </a:p>
          <a:p>
            <a:endParaRPr lang="en-US" sz="1600" dirty="0">
              <a:latin typeface="Avenir Book" panose="02000503020000020003" pitchFamily="2" charset="0"/>
            </a:endParaRPr>
          </a:p>
        </p:txBody>
      </p:sp>
      <p:sp>
        <p:nvSpPr>
          <p:cNvPr id="6" name="TextBox 5">
            <a:extLst>
              <a:ext uri="{FF2B5EF4-FFF2-40B4-BE49-F238E27FC236}">
                <a16:creationId xmlns:a16="http://schemas.microsoft.com/office/drawing/2014/main" id="{D8E7F936-82CE-9357-ABD5-30ED407B38DE}"/>
              </a:ext>
            </a:extLst>
          </p:cNvPr>
          <p:cNvSpPr txBox="1"/>
          <p:nvPr/>
        </p:nvSpPr>
        <p:spPr>
          <a:xfrm>
            <a:off x="6400800" y="4317425"/>
            <a:ext cx="4289426" cy="584775"/>
          </a:xfrm>
          <a:prstGeom prst="rect">
            <a:avLst/>
          </a:prstGeom>
          <a:noFill/>
        </p:spPr>
        <p:txBody>
          <a:bodyPr wrap="square" rtlCol="0">
            <a:spAutoFit/>
          </a:bodyPr>
          <a:lstStyle/>
          <a:p>
            <a:r>
              <a:rPr lang="en-US" sz="1600" dirty="0">
                <a:latin typeface="Avenir Book" panose="02000503020000020003" pitchFamily="2" charset="0"/>
              </a:rPr>
              <a:t>Sources: EHRs, self-reported height and weight, in-person visits.</a:t>
            </a:r>
          </a:p>
        </p:txBody>
      </p:sp>
      <p:sp>
        <p:nvSpPr>
          <p:cNvPr id="7" name="TextBox 6">
            <a:extLst>
              <a:ext uri="{FF2B5EF4-FFF2-40B4-BE49-F238E27FC236}">
                <a16:creationId xmlns:a16="http://schemas.microsoft.com/office/drawing/2014/main" id="{C947B692-90DF-81BF-5093-FB92D26B5A64}"/>
              </a:ext>
            </a:extLst>
          </p:cNvPr>
          <p:cNvSpPr txBox="1"/>
          <p:nvPr/>
        </p:nvSpPr>
        <p:spPr>
          <a:xfrm>
            <a:off x="6400800" y="5507630"/>
            <a:ext cx="4130657" cy="584775"/>
          </a:xfrm>
          <a:prstGeom prst="rect">
            <a:avLst/>
          </a:prstGeom>
          <a:noFill/>
        </p:spPr>
        <p:txBody>
          <a:bodyPr wrap="square" rtlCol="0">
            <a:spAutoFit/>
          </a:bodyPr>
          <a:lstStyle/>
          <a:p>
            <a:r>
              <a:rPr lang="en-US" sz="1600" dirty="0">
                <a:latin typeface="Avenir Book" panose="02000503020000020003" pitchFamily="2" charset="0"/>
              </a:rPr>
              <a:t>Whole genome sequencing and genotyping from blood, saliva, &amp; urine</a:t>
            </a:r>
          </a:p>
        </p:txBody>
      </p:sp>
      <p:sp>
        <p:nvSpPr>
          <p:cNvPr id="8" name="TextBox 7">
            <a:extLst>
              <a:ext uri="{FF2B5EF4-FFF2-40B4-BE49-F238E27FC236}">
                <a16:creationId xmlns:a16="http://schemas.microsoft.com/office/drawing/2014/main" id="{7507DC60-A8D7-5E02-B87B-20F360EAAEA3}"/>
              </a:ext>
            </a:extLst>
          </p:cNvPr>
          <p:cNvSpPr txBox="1"/>
          <p:nvPr/>
        </p:nvSpPr>
        <p:spPr>
          <a:xfrm>
            <a:off x="6400800" y="3192588"/>
            <a:ext cx="4152900" cy="584775"/>
          </a:xfrm>
          <a:prstGeom prst="rect">
            <a:avLst/>
          </a:prstGeom>
          <a:noFill/>
        </p:spPr>
        <p:txBody>
          <a:bodyPr wrap="square" rtlCol="0">
            <a:spAutoFit/>
          </a:bodyPr>
          <a:lstStyle/>
          <a:p>
            <a:r>
              <a:rPr lang="en-US" sz="1600" dirty="0">
                <a:latin typeface="Avenir Book" panose="02000503020000020003" pitchFamily="2" charset="0"/>
              </a:rPr>
              <a:t>Heart rate, activity, or sleep data from devices like Fitbit</a:t>
            </a:r>
          </a:p>
        </p:txBody>
      </p:sp>
      <p:sp>
        <p:nvSpPr>
          <p:cNvPr id="19" name="Slide Number Placeholder 18">
            <a:extLst>
              <a:ext uri="{FF2B5EF4-FFF2-40B4-BE49-F238E27FC236}">
                <a16:creationId xmlns:a16="http://schemas.microsoft.com/office/drawing/2014/main" id="{48F0FDCE-758D-9DD7-3411-33D696C9085A}"/>
              </a:ext>
            </a:extLst>
          </p:cNvPr>
          <p:cNvSpPr>
            <a:spLocks noGrp="1"/>
          </p:cNvSpPr>
          <p:nvPr>
            <p:ph type="sldNum" sz="quarter" idx="18"/>
          </p:nvPr>
        </p:nvSpPr>
        <p:spPr/>
        <p:txBody>
          <a:bodyPr/>
          <a:lstStyle/>
          <a:p>
            <a:fld id="{548469FB-C78A-B94B-B04A-B5BC8C934F85}" type="slidenum">
              <a:rPr lang="en-US" smtClean="0"/>
              <a:t>11</a:t>
            </a:fld>
            <a:endParaRPr lang="en-US"/>
          </a:p>
        </p:txBody>
      </p:sp>
    </p:spTree>
    <p:extLst>
      <p:ext uri="{BB962C8B-B14F-4D97-AF65-F5344CB8AC3E}">
        <p14:creationId xmlns:p14="http://schemas.microsoft.com/office/powerpoint/2010/main" val="71905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0E36-6CEE-B2C4-3CEF-7FD2B187F73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6C97934-B5E5-B053-28CD-818410E3E741}"/>
              </a:ext>
            </a:extLst>
          </p:cNvPr>
          <p:cNvSpPr>
            <a:spLocks noGrp="1"/>
          </p:cNvSpPr>
          <p:nvPr>
            <p:ph type="subTitle" idx="1"/>
          </p:nvPr>
        </p:nvSpPr>
        <p:spPr/>
        <p:txBody>
          <a:bodyPr/>
          <a:lstStyle/>
          <a:p>
            <a:endParaRPr lang="en-US"/>
          </a:p>
        </p:txBody>
      </p:sp>
      <p:pic>
        <p:nvPicPr>
          <p:cNvPr id="5" name="slide.url=https://www.polleverywhere.com/free_text_polls/GT3jNB9uF45UDsjUwrhbA">
            <a:extLst>
              <a:ext uri="{FF2B5EF4-FFF2-40B4-BE49-F238E27FC236}">
                <a16:creationId xmlns:a16="http://schemas.microsoft.com/office/drawing/2014/main" id="{14A71708-FB44-0383-8E32-C2BFE940F0F2}"/>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946418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BF1E-4D25-BA0A-698D-0B84DF0BAAEB}"/>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18B6CA1-B07C-82C5-B037-C073D29A9CC2}"/>
              </a:ext>
            </a:extLst>
          </p:cNvPr>
          <p:cNvSpPr>
            <a:spLocks noGrp="1"/>
          </p:cNvSpPr>
          <p:nvPr>
            <p:ph type="pic" sz="quarter" idx="12"/>
          </p:nvPr>
        </p:nvSpPr>
        <p:spPr>
          <a:xfrm>
            <a:off x="5154304" y="1790700"/>
            <a:ext cx="6197600" cy="5371346"/>
          </a:xfrm>
        </p:spPr>
        <p:txBody>
          <a:bodyPr>
            <a:normAutofit/>
          </a:bodyPr>
          <a:lstStyle/>
          <a:p>
            <a:pPr marL="514350" lvl="1" indent="-514350">
              <a:lnSpc>
                <a:spcPct val="100000"/>
              </a:lnSpc>
              <a:spcBef>
                <a:spcPts val="0"/>
              </a:spcBef>
            </a:pPr>
            <a:r>
              <a:rPr lang="en-US" sz="2000" dirty="0">
                <a:latin typeface="Avenir Book" panose="02000503020000020003" pitchFamily="2" charset="0"/>
              </a:rPr>
              <a:t>Organized in a curated data repository (CDR)</a:t>
            </a:r>
          </a:p>
          <a:p>
            <a:pPr lvl="2"/>
            <a:r>
              <a:rPr lang="en-US" sz="1800" dirty="0">
                <a:latin typeface="Avenir Book" panose="02000503020000020003" pitchFamily="2" charset="0"/>
              </a:rPr>
              <a:t>De-identified</a:t>
            </a:r>
          </a:p>
          <a:p>
            <a:pPr lvl="2"/>
            <a:r>
              <a:rPr lang="en-US" sz="1800" dirty="0">
                <a:latin typeface="Avenir Book" panose="02000503020000020003" pitchFamily="2" charset="0"/>
              </a:rPr>
              <a:t>Cleaned, validated, standardized</a:t>
            </a:r>
          </a:p>
          <a:p>
            <a:pPr lvl="2"/>
            <a:endParaRPr lang="en-US" sz="18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Hosted on Google Cloud Platform (GCP)</a:t>
            </a:r>
          </a:p>
          <a:p>
            <a:pPr lvl="2"/>
            <a:r>
              <a:rPr lang="en-US" sz="1800" dirty="0">
                <a:latin typeface="Avenir Book" panose="02000503020000020003" pitchFamily="2" charset="0"/>
              </a:rPr>
              <a:t>Scalability, security, and computational power</a:t>
            </a:r>
          </a:p>
          <a:p>
            <a:pPr lvl="2"/>
            <a:r>
              <a:rPr lang="en-US" sz="1800" dirty="0">
                <a:latin typeface="Avenir Book" panose="02000503020000020003" pitchFamily="2" charset="0"/>
              </a:rPr>
              <a:t>Data accessed from anywhere</a:t>
            </a:r>
          </a:p>
          <a:p>
            <a:pPr lvl="2"/>
            <a:r>
              <a:rPr lang="en-US" sz="1800" dirty="0">
                <a:latin typeface="Avenir Book" panose="02000503020000020003" pitchFamily="2" charset="0"/>
              </a:rPr>
              <a:t>Large-scale data processing and advanced analytics</a:t>
            </a:r>
          </a:p>
          <a:p>
            <a:pPr marL="514350" lvl="1" indent="-514350">
              <a:lnSpc>
                <a:spcPct val="100000"/>
              </a:lnSpc>
              <a:spcBef>
                <a:spcPts val="0"/>
              </a:spcBef>
            </a:pPr>
            <a:endParaRPr lang="en-US" sz="2000" dirty="0">
              <a:latin typeface="Avenir Book" panose="02000503020000020003" pitchFamily="2" charset="0"/>
            </a:endParaRPr>
          </a:p>
          <a:p>
            <a:pPr lvl="2"/>
            <a:endParaRPr lang="en-US" sz="1800" dirty="0"/>
          </a:p>
        </p:txBody>
      </p:sp>
      <p:sp>
        <p:nvSpPr>
          <p:cNvPr id="3" name="Text Placeholder 2">
            <a:extLst>
              <a:ext uri="{FF2B5EF4-FFF2-40B4-BE49-F238E27FC236}">
                <a16:creationId xmlns:a16="http://schemas.microsoft.com/office/drawing/2014/main" id="{68FFAD99-3EA2-2420-9E50-7C7E6812E2D9}"/>
              </a:ext>
            </a:extLst>
          </p:cNvPr>
          <p:cNvSpPr>
            <a:spLocks noGrp="1"/>
          </p:cNvSpPr>
          <p:nvPr>
            <p:ph type="body" sz="quarter" idx="11"/>
          </p:nvPr>
        </p:nvSpPr>
        <p:spPr>
          <a:xfrm>
            <a:off x="558800" y="1689100"/>
            <a:ext cx="3515762" cy="1643569"/>
          </a:xfrm>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CD5F294F-1B78-CF3A-BFF9-24442830DA59}"/>
              </a:ext>
            </a:extLst>
          </p:cNvPr>
          <p:cNvSpPr>
            <a:spLocks noGrp="1"/>
          </p:cNvSpPr>
          <p:nvPr>
            <p:ph type="body" sz="quarter" idx="15"/>
          </p:nvPr>
        </p:nvSpPr>
        <p:spPr>
          <a:xfrm>
            <a:off x="609600" y="3380144"/>
            <a:ext cx="3030943" cy="266700"/>
          </a:xfrm>
        </p:spPr>
        <p:txBody>
          <a:bodyPr/>
          <a:lstStyle/>
          <a:p>
            <a:r>
              <a:rPr lang="en-US" dirty="0">
                <a:solidFill>
                  <a:schemeClr val="bg1"/>
                </a:solidFill>
              </a:rPr>
              <a:t>Background</a:t>
            </a:r>
            <a:endParaRPr lang="en-US" dirty="0"/>
          </a:p>
        </p:txBody>
      </p:sp>
      <p:sp>
        <p:nvSpPr>
          <p:cNvPr id="5" name="Slide Number Placeholder 4">
            <a:extLst>
              <a:ext uri="{FF2B5EF4-FFF2-40B4-BE49-F238E27FC236}">
                <a16:creationId xmlns:a16="http://schemas.microsoft.com/office/drawing/2014/main" id="{D976C1CA-2D3F-A0F4-B2F7-D8D772FA057C}"/>
              </a:ext>
            </a:extLst>
          </p:cNvPr>
          <p:cNvSpPr>
            <a:spLocks noGrp="1"/>
          </p:cNvSpPr>
          <p:nvPr>
            <p:ph type="sldNum" sz="quarter" idx="18"/>
          </p:nvPr>
        </p:nvSpPr>
        <p:spPr/>
        <p:txBody>
          <a:bodyPr/>
          <a:lstStyle/>
          <a:p>
            <a:fld id="{548469FB-C78A-B94B-B04A-B5BC8C934F85}" type="slidenum">
              <a:rPr lang="en-US" smtClean="0"/>
              <a:t>13</a:t>
            </a:fld>
            <a:endParaRPr lang="en-US"/>
          </a:p>
        </p:txBody>
      </p:sp>
    </p:spTree>
    <p:extLst>
      <p:ext uri="{BB962C8B-B14F-4D97-AF65-F5344CB8AC3E}">
        <p14:creationId xmlns:p14="http://schemas.microsoft.com/office/powerpoint/2010/main" val="3819265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5B79F-1483-5519-02E0-AEAD3C715B77}"/>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118F1E8-83E2-AAA4-03D6-7B1312D04E09}"/>
              </a:ext>
            </a:extLst>
          </p:cNvPr>
          <p:cNvSpPr>
            <a:spLocks noGrp="1"/>
          </p:cNvSpPr>
          <p:nvPr>
            <p:ph type="pic" sz="quarter" idx="12"/>
          </p:nvPr>
        </p:nvSpPr>
        <p:spPr>
          <a:xfrm>
            <a:off x="5181600" y="1322885"/>
            <a:ext cx="6337300" cy="5853946"/>
          </a:xfrm>
        </p:spPr>
        <p:txBody>
          <a:bodyPr>
            <a:normAutofit/>
          </a:bodyPr>
          <a:lstStyle/>
          <a:p>
            <a:pPr marL="514350" lvl="1" indent="-514350">
              <a:lnSpc>
                <a:spcPct val="100000"/>
              </a:lnSpc>
              <a:spcBef>
                <a:spcPts val="0"/>
              </a:spcBef>
            </a:pPr>
            <a:r>
              <a:rPr lang="en-US" sz="2000" dirty="0">
                <a:latin typeface="Avenir Book" panose="02000503020000020003" pitchFamily="2" charset="0"/>
              </a:rPr>
              <a:t>Google </a:t>
            </a:r>
            <a:r>
              <a:rPr lang="en-US" sz="2000" dirty="0" err="1">
                <a:latin typeface="Avenir Book" panose="02000503020000020003" pitchFamily="2" charset="0"/>
              </a:rPr>
              <a:t>BigQuery</a:t>
            </a:r>
            <a:endParaRPr lang="en-US" sz="2000" dirty="0">
              <a:latin typeface="Avenir Book" panose="02000503020000020003" pitchFamily="2" charset="0"/>
            </a:endParaRPr>
          </a:p>
          <a:p>
            <a:pPr lvl="2"/>
            <a:r>
              <a:rPr lang="en-US" sz="1800" dirty="0">
                <a:latin typeface="Avenir Book" panose="02000503020000020003" pitchFamily="2" charset="0"/>
              </a:rPr>
              <a:t>Database for the CDR</a:t>
            </a:r>
          </a:p>
          <a:p>
            <a:pPr lvl="2"/>
            <a:r>
              <a:rPr lang="en-US" sz="1800" dirty="0">
                <a:latin typeface="Avenir Book" panose="02000503020000020003" pitchFamily="2" charset="0"/>
              </a:rPr>
              <a:t>Uses SQL-like queries to retrieve data</a:t>
            </a:r>
          </a:p>
          <a:p>
            <a:pPr lvl="2"/>
            <a:r>
              <a:rPr lang="en-US" sz="1800" dirty="0">
                <a:latin typeface="Avenir Book" panose="02000503020000020003" pitchFamily="2" charset="0"/>
              </a:rPr>
              <a:t>R, Python, or SAS</a:t>
            </a:r>
          </a:p>
          <a:p>
            <a:pPr lvl="2"/>
            <a:r>
              <a:rPr lang="en-US" sz="1800" dirty="0">
                <a:latin typeface="Avenir Book" panose="02000503020000020003" pitchFamily="2" charset="0"/>
              </a:rPr>
              <a:t>Billed for queries executed and data processed </a:t>
            </a:r>
          </a:p>
          <a:p>
            <a:pPr lvl="2"/>
            <a:r>
              <a:rPr lang="en-US" sz="1800" b="1" dirty="0">
                <a:latin typeface="Avenir Book" panose="02000503020000020003" pitchFamily="2" charset="0"/>
              </a:rPr>
              <a:t>Large genomic datasets can be costly</a:t>
            </a:r>
          </a:p>
          <a:p>
            <a:pPr lvl="2"/>
            <a:endParaRPr lang="en-US" sz="18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$300 credit for Google Cloud usage</a:t>
            </a:r>
            <a:br>
              <a:rPr lang="en-US" sz="2000" dirty="0">
                <a:latin typeface="Avenir Book" panose="02000503020000020003" pitchFamily="2" charset="0"/>
              </a:rPr>
            </a:b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The credit will eventually run out</a:t>
            </a:r>
            <a:br>
              <a:rPr lang="en-US" sz="2000" dirty="0">
                <a:latin typeface="Avenir Book" panose="02000503020000020003" pitchFamily="2" charset="0"/>
              </a:rPr>
            </a:br>
            <a:endParaRPr lang="en-US" sz="2000" dirty="0">
              <a:latin typeface="Avenir Book" panose="02000503020000020003" pitchFamily="2" charset="0"/>
            </a:endParaRPr>
          </a:p>
          <a:p>
            <a:pPr marL="514350" lvl="1" indent="-514350">
              <a:lnSpc>
                <a:spcPct val="100000"/>
              </a:lnSpc>
              <a:spcBef>
                <a:spcPts val="0"/>
              </a:spcBef>
            </a:pPr>
            <a:r>
              <a:rPr lang="en-US" sz="2000" dirty="0">
                <a:latin typeface="Avenir Book" panose="02000503020000020003" pitchFamily="2" charset="0"/>
              </a:rPr>
              <a:t>Set up a billing account to continue your work</a:t>
            </a:r>
          </a:p>
          <a:p>
            <a:pPr lvl="2"/>
            <a:r>
              <a:rPr lang="en-US" sz="1800" dirty="0">
                <a:latin typeface="Avenir Book" panose="02000503020000020003" pitchFamily="2" charset="0"/>
              </a:rPr>
              <a:t>Navigate </a:t>
            </a:r>
            <a:r>
              <a:rPr lang="en-US" sz="1800" dirty="0">
                <a:latin typeface="Avenir Book" panose="02000503020000020003" pitchFamily="2" charset="0"/>
                <a:hlinkClick r:id="rId3"/>
              </a:rPr>
              <a:t>here</a:t>
            </a:r>
            <a:r>
              <a:rPr lang="en-US" sz="1800" dirty="0">
                <a:latin typeface="Avenir Book" panose="02000503020000020003" pitchFamily="2" charset="0"/>
              </a:rPr>
              <a:t> for more information</a:t>
            </a:r>
          </a:p>
          <a:p>
            <a:pPr lvl="2"/>
            <a:r>
              <a:rPr lang="en-US" sz="1800" dirty="0">
                <a:latin typeface="Avenir Book" panose="02000503020000020003" pitchFamily="2" charset="0"/>
              </a:rPr>
              <a:t>helpful video </a:t>
            </a:r>
            <a:r>
              <a:rPr lang="en-US" sz="1800" dirty="0">
                <a:latin typeface="Avenir Book" panose="02000503020000020003" pitchFamily="2" charset="0"/>
                <a:hlinkClick r:id="rId4"/>
              </a:rPr>
              <a:t>here</a:t>
            </a:r>
            <a:r>
              <a:rPr lang="en-US" sz="1800" dirty="0">
                <a:latin typeface="Avenir Book" panose="02000503020000020003" pitchFamily="2" charset="0"/>
              </a:rPr>
              <a:t> covering billing in more detail</a:t>
            </a:r>
          </a:p>
          <a:p>
            <a:pPr marL="514350" lvl="1" indent="-514350">
              <a:lnSpc>
                <a:spcPct val="100000"/>
              </a:lnSpc>
              <a:spcBef>
                <a:spcPts val="0"/>
              </a:spcBef>
            </a:pPr>
            <a:endParaRPr lang="en-US" sz="2000" dirty="0">
              <a:latin typeface="Avenir Book" panose="02000503020000020003" pitchFamily="2" charset="0"/>
            </a:endParaRPr>
          </a:p>
          <a:p>
            <a:pPr lvl="2"/>
            <a:endParaRPr lang="en-US" sz="1800" dirty="0">
              <a:latin typeface="Avenir Book" panose="02000503020000020003" pitchFamily="2" charset="0"/>
            </a:endParaRPr>
          </a:p>
          <a:p>
            <a:pPr lvl="2"/>
            <a:endParaRPr lang="en-US" sz="18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DD44F435-DA48-4CEC-ED12-BE1E93F766AA}"/>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10" name="Text Placeholder 2">
            <a:extLst>
              <a:ext uri="{FF2B5EF4-FFF2-40B4-BE49-F238E27FC236}">
                <a16:creationId xmlns:a16="http://schemas.microsoft.com/office/drawing/2014/main" id="{80DD5A70-56D3-6841-21AD-AD450F7B23B7}"/>
              </a:ext>
            </a:extLst>
          </p:cNvPr>
          <p:cNvSpPr txBox="1">
            <a:spLocks/>
          </p:cNvSpPr>
          <p:nvPr/>
        </p:nvSpPr>
        <p:spPr>
          <a:xfrm>
            <a:off x="558800" y="1689100"/>
            <a:ext cx="3515762"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
        <p:nvSpPr>
          <p:cNvPr id="11" name="Text Placeholder 3">
            <a:extLst>
              <a:ext uri="{FF2B5EF4-FFF2-40B4-BE49-F238E27FC236}">
                <a16:creationId xmlns:a16="http://schemas.microsoft.com/office/drawing/2014/main" id="{88952F48-5FFB-7765-BB80-C999FDD40C70}"/>
              </a:ext>
            </a:extLst>
          </p:cNvPr>
          <p:cNvSpPr txBox="1">
            <a:spLocks/>
          </p:cNvSpPr>
          <p:nvPr/>
        </p:nvSpPr>
        <p:spPr>
          <a:xfrm>
            <a:off x="609600" y="3380144"/>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a:t>Background</a:t>
            </a:r>
            <a:endParaRPr lang="en-US" dirty="0"/>
          </a:p>
        </p:txBody>
      </p:sp>
    </p:spTree>
    <p:extLst>
      <p:ext uri="{BB962C8B-B14F-4D97-AF65-F5344CB8AC3E}">
        <p14:creationId xmlns:p14="http://schemas.microsoft.com/office/powerpoint/2010/main" val="496413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5F8E-84FC-7816-291E-8BBE809C382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03642BE-31ED-1C59-B523-DF446D0B0F15}"/>
              </a:ext>
            </a:extLst>
          </p:cNvPr>
          <p:cNvSpPr>
            <a:spLocks noGrp="1"/>
          </p:cNvSpPr>
          <p:nvPr>
            <p:ph type="pic" sz="quarter" idx="12"/>
          </p:nvPr>
        </p:nvSpPr>
        <p:spPr>
          <a:xfrm>
            <a:off x="4367813" y="818915"/>
            <a:ext cx="7499253" cy="4593297"/>
          </a:xfrm>
        </p:spPr>
        <p:txBody>
          <a:bodyPr>
            <a:noAutofit/>
          </a:bodyPr>
          <a:lstStyle/>
          <a:p>
            <a:pPr marL="0" indent="0">
              <a:lnSpc>
                <a:spcPct val="100000"/>
              </a:lnSpc>
              <a:spcBef>
                <a:spcPts val="0"/>
              </a:spcBef>
              <a:buNone/>
            </a:pPr>
            <a:r>
              <a:rPr lang="en-US" sz="2400" b="1" dirty="0">
                <a:solidFill>
                  <a:srgbClr val="002060"/>
                </a:solidFill>
                <a:latin typeface="Avenir Book" panose="02000503020000020003" pitchFamily="2" charset="0"/>
              </a:rPr>
              <a:t>Data Storage</a:t>
            </a:r>
          </a:p>
          <a:p>
            <a:pPr marL="0" indent="0">
              <a:lnSpc>
                <a:spcPct val="100000"/>
              </a:lnSpc>
              <a:spcBef>
                <a:spcPts val="0"/>
              </a:spcBef>
              <a:buNone/>
            </a:pPr>
            <a:endParaRPr lang="en-US" sz="2000" b="1" dirty="0">
              <a:latin typeface="Avenir Book" panose="02000503020000020003" pitchFamily="2" charset="0"/>
            </a:endParaRPr>
          </a:p>
          <a:p>
            <a:pPr marL="0" indent="0">
              <a:lnSpc>
                <a:spcPct val="100000"/>
              </a:lnSpc>
              <a:spcBef>
                <a:spcPts val="0"/>
              </a:spcBef>
              <a:buNone/>
            </a:pPr>
            <a:r>
              <a:rPr lang="en-US" sz="2000" b="1" dirty="0">
                <a:latin typeface="Avenir Book" panose="02000503020000020003" pitchFamily="2" charset="0"/>
              </a:rPr>
              <a:t>Persistent Disk</a:t>
            </a:r>
          </a:p>
          <a:p>
            <a:pPr>
              <a:lnSpc>
                <a:spcPct val="100000"/>
              </a:lnSpc>
              <a:spcBef>
                <a:spcPts val="0"/>
              </a:spcBef>
            </a:pPr>
            <a:r>
              <a:rPr lang="en-US" sz="1800" dirty="0">
                <a:latin typeface="Avenir Book" panose="02000503020000020003" pitchFamily="2" charset="0"/>
              </a:rPr>
              <a:t>Personal storage attached to a virtual machine (VM); not shared and data is saved even if the environment is deleted – best for active work</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sz="2000" b="1" dirty="0">
                <a:latin typeface="Avenir Book" panose="02000503020000020003" pitchFamily="2" charset="0"/>
              </a:rPr>
              <a:t>Workspace Bucket</a:t>
            </a:r>
            <a:endParaRPr lang="en-US" sz="2000" dirty="0">
              <a:latin typeface="Avenir Book" panose="02000503020000020003" pitchFamily="2" charset="0"/>
            </a:endParaRPr>
          </a:p>
          <a:p>
            <a:pPr>
              <a:lnSpc>
                <a:spcPct val="100000"/>
              </a:lnSpc>
              <a:spcBef>
                <a:spcPts val="0"/>
              </a:spcBef>
            </a:pPr>
            <a:r>
              <a:rPr lang="en-US" sz="1800" dirty="0">
                <a:latin typeface="Avenir Book" panose="02000503020000020003" pitchFamily="2" charset="0"/>
              </a:rPr>
              <a:t>A shared, permanent storage area for the entire workspace. It is the most cost-effective option for long-term storage and can be </a:t>
            </a:r>
            <a:r>
              <a:rPr lang="en-US" sz="1800" b="1" dirty="0">
                <a:latin typeface="Avenir Book" panose="02000503020000020003" pitchFamily="2" charset="0"/>
              </a:rPr>
              <a:t>accessed from multiple workspace notebooks </a:t>
            </a:r>
            <a:r>
              <a:rPr lang="en-US" sz="1800" dirty="0">
                <a:latin typeface="Avenir Book" panose="02000503020000020003" pitchFamily="2" charset="0"/>
              </a:rPr>
              <a:t>(using code snippets)</a:t>
            </a:r>
          </a:p>
          <a:p>
            <a:pPr>
              <a:lnSpc>
                <a:spcPct val="100000"/>
              </a:lnSpc>
              <a:spcBef>
                <a:spcPts val="0"/>
              </a:spcBef>
            </a:pPr>
            <a:endParaRPr lang="en-US" sz="2000" dirty="0">
              <a:latin typeface="Avenir Book" panose="02000503020000020003" pitchFamily="2" charset="0"/>
            </a:endParaRPr>
          </a:p>
          <a:p>
            <a:pPr marL="0" indent="0">
              <a:lnSpc>
                <a:spcPct val="100000"/>
              </a:lnSpc>
              <a:spcBef>
                <a:spcPts val="0"/>
              </a:spcBef>
              <a:buNone/>
            </a:pPr>
            <a:r>
              <a:rPr lang="en-US" sz="2000" b="1" dirty="0">
                <a:latin typeface="Avenir Book" panose="02000503020000020003" pitchFamily="2" charset="0"/>
              </a:rPr>
              <a:t>Cloud Analysis Environment</a:t>
            </a:r>
          </a:p>
          <a:p>
            <a:pPr>
              <a:lnSpc>
                <a:spcPct val="100000"/>
              </a:lnSpc>
              <a:spcBef>
                <a:spcPts val="0"/>
              </a:spcBef>
            </a:pPr>
            <a:r>
              <a:rPr lang="en-US" sz="1800" dirty="0">
                <a:latin typeface="Avenir Book" panose="02000503020000020003" pitchFamily="2" charset="0"/>
              </a:rPr>
              <a:t>A temporary virtual machine (VM) that provides the computational resources for data analysis. It is separate from the persistent disk and workspace bucket, and it is where you run your code and perform analyses.</a:t>
            </a:r>
          </a:p>
        </p:txBody>
      </p:sp>
      <p:sp>
        <p:nvSpPr>
          <p:cNvPr id="5" name="Slide Number Placeholder 4">
            <a:extLst>
              <a:ext uri="{FF2B5EF4-FFF2-40B4-BE49-F238E27FC236}">
                <a16:creationId xmlns:a16="http://schemas.microsoft.com/office/drawing/2014/main" id="{CC2065BE-DA3C-C582-FFCC-585D027CAC1C}"/>
              </a:ext>
            </a:extLst>
          </p:cNvPr>
          <p:cNvSpPr>
            <a:spLocks noGrp="1"/>
          </p:cNvSpPr>
          <p:nvPr>
            <p:ph type="sldNum" sz="quarter" idx="18"/>
          </p:nvPr>
        </p:nvSpPr>
        <p:spPr/>
        <p:txBody>
          <a:bodyPr/>
          <a:lstStyle/>
          <a:p>
            <a:fld id="{548469FB-C78A-B94B-B04A-B5BC8C934F85}" type="slidenum">
              <a:rPr lang="en-US" smtClean="0"/>
              <a:t>15</a:t>
            </a:fld>
            <a:endParaRPr lang="en-US"/>
          </a:p>
        </p:txBody>
      </p:sp>
      <p:pic>
        <p:nvPicPr>
          <p:cNvPr id="6" name="Picture 5">
            <a:extLst>
              <a:ext uri="{FF2B5EF4-FFF2-40B4-BE49-F238E27FC236}">
                <a16:creationId xmlns:a16="http://schemas.microsoft.com/office/drawing/2014/main" id="{7A4DC78A-2E25-697B-6FE1-249F29C0556B}"/>
              </a:ext>
            </a:extLst>
          </p:cNvPr>
          <p:cNvPicPr>
            <a:picLocks noChangeAspect="1"/>
          </p:cNvPicPr>
          <p:nvPr/>
        </p:nvPicPr>
        <p:blipFill>
          <a:blip r:embed="rId3"/>
          <a:stretch>
            <a:fillRect/>
          </a:stretch>
        </p:blipFill>
        <p:spPr>
          <a:xfrm>
            <a:off x="211183" y="4102949"/>
            <a:ext cx="3514338" cy="2618526"/>
          </a:xfrm>
          <a:prstGeom prst="rect">
            <a:avLst/>
          </a:prstGeom>
          <a:ln w="3175">
            <a:solidFill>
              <a:schemeClr val="tx1"/>
            </a:solidFill>
          </a:ln>
        </p:spPr>
      </p:pic>
      <p:sp>
        <p:nvSpPr>
          <p:cNvPr id="7" name="TextBox 6">
            <a:extLst>
              <a:ext uri="{FF2B5EF4-FFF2-40B4-BE49-F238E27FC236}">
                <a16:creationId xmlns:a16="http://schemas.microsoft.com/office/drawing/2014/main" id="{1F097D90-F1D3-8826-90B1-E826E36C1FCA}"/>
              </a:ext>
            </a:extLst>
          </p:cNvPr>
          <p:cNvSpPr txBox="1"/>
          <p:nvPr/>
        </p:nvSpPr>
        <p:spPr>
          <a:xfrm>
            <a:off x="2611310" y="4217069"/>
            <a:ext cx="1111169" cy="400110"/>
          </a:xfrm>
          <a:prstGeom prst="rect">
            <a:avLst/>
          </a:prstGeom>
          <a:noFill/>
        </p:spPr>
        <p:txBody>
          <a:bodyPr wrap="square" rtlCol="0">
            <a:spAutoFit/>
          </a:bodyPr>
          <a:lstStyle/>
          <a:p>
            <a:r>
              <a:rPr lang="en-US" sz="1000" i="1" dirty="0"/>
              <a:t>*for standard</a:t>
            </a:r>
          </a:p>
          <a:p>
            <a:r>
              <a:rPr lang="en-US" sz="1000" i="1" dirty="0"/>
              <a:t>environments</a:t>
            </a:r>
          </a:p>
        </p:txBody>
      </p:sp>
      <p:sp>
        <p:nvSpPr>
          <p:cNvPr id="8" name="Text Placeholder 2">
            <a:extLst>
              <a:ext uri="{FF2B5EF4-FFF2-40B4-BE49-F238E27FC236}">
                <a16:creationId xmlns:a16="http://schemas.microsoft.com/office/drawing/2014/main" id="{453FFEAD-BC30-D650-F4CE-35E183318892}"/>
              </a:ext>
            </a:extLst>
          </p:cNvPr>
          <p:cNvSpPr txBox="1">
            <a:spLocks/>
          </p:cNvSpPr>
          <p:nvPr/>
        </p:nvSpPr>
        <p:spPr>
          <a:xfrm>
            <a:off x="558800" y="1689100"/>
            <a:ext cx="3515762"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
        <p:nvSpPr>
          <p:cNvPr id="9" name="Text Placeholder 3">
            <a:extLst>
              <a:ext uri="{FF2B5EF4-FFF2-40B4-BE49-F238E27FC236}">
                <a16:creationId xmlns:a16="http://schemas.microsoft.com/office/drawing/2014/main" id="{CE4A8C3F-A22A-478E-7351-CE0303BD008B}"/>
              </a:ext>
            </a:extLst>
          </p:cNvPr>
          <p:cNvSpPr txBox="1">
            <a:spLocks/>
          </p:cNvSpPr>
          <p:nvPr/>
        </p:nvSpPr>
        <p:spPr>
          <a:xfrm>
            <a:off x="609600" y="3380144"/>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Background</a:t>
            </a:r>
          </a:p>
        </p:txBody>
      </p:sp>
    </p:spTree>
    <p:extLst>
      <p:ext uri="{BB962C8B-B14F-4D97-AF65-F5344CB8AC3E}">
        <p14:creationId xmlns:p14="http://schemas.microsoft.com/office/powerpoint/2010/main" val="1241447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417E-1F7F-BF1A-4E54-E0A4A8973C3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33F4E8-A94A-72E9-0FE9-2799643F87F7}"/>
              </a:ext>
            </a:extLst>
          </p:cNvPr>
          <p:cNvSpPr>
            <a:spLocks noGrp="1"/>
          </p:cNvSpPr>
          <p:nvPr>
            <p:ph type="body" sz="quarter" idx="11"/>
          </p:nvPr>
        </p:nvSpPr>
        <p:spPr>
          <a:xfrm>
            <a:off x="352116" y="2683002"/>
            <a:ext cx="3034570" cy="683409"/>
          </a:xfrm>
        </p:spPr>
        <p:txBody>
          <a:bodyPr/>
          <a:lstStyle/>
          <a:p>
            <a:r>
              <a:rPr lang="en-US" sz="1800" i="1" dirty="0">
                <a:latin typeface="YaleNew" panose="02000602050000020003" pitchFamily="2" charset="77"/>
                <a:hlinkClick r:id="rId3"/>
              </a:rPr>
              <a:t>Billing Notes</a:t>
            </a:r>
            <a:endParaRPr lang="en-US" sz="1800" i="1" dirty="0">
              <a:latin typeface="YaleNew" panose="02000602050000020003" pitchFamily="2" charset="77"/>
            </a:endParaRPr>
          </a:p>
        </p:txBody>
      </p:sp>
      <p:sp>
        <p:nvSpPr>
          <p:cNvPr id="5" name="Slide Number Placeholder 4">
            <a:extLst>
              <a:ext uri="{FF2B5EF4-FFF2-40B4-BE49-F238E27FC236}">
                <a16:creationId xmlns:a16="http://schemas.microsoft.com/office/drawing/2014/main" id="{7BDCFE91-1351-A9EE-A91B-52EC6B0722CF}"/>
              </a:ext>
            </a:extLst>
          </p:cNvPr>
          <p:cNvSpPr>
            <a:spLocks noGrp="1"/>
          </p:cNvSpPr>
          <p:nvPr>
            <p:ph type="sldNum" sz="quarter" idx="18"/>
          </p:nvPr>
        </p:nvSpPr>
        <p:spPr/>
        <p:txBody>
          <a:bodyPr/>
          <a:lstStyle/>
          <a:p>
            <a:fld id="{548469FB-C78A-B94B-B04A-B5BC8C934F85}" type="slidenum">
              <a:rPr lang="en-US" smtClean="0"/>
              <a:t>16</a:t>
            </a:fld>
            <a:endParaRPr lang="en-US" dirty="0"/>
          </a:p>
        </p:txBody>
      </p:sp>
      <p:pic>
        <p:nvPicPr>
          <p:cNvPr id="15" name="Picture Placeholder 11" descr="A screenshot of a computer program&#10;&#10;AI-generated content may be incorrect.">
            <a:extLst>
              <a:ext uri="{FF2B5EF4-FFF2-40B4-BE49-F238E27FC236}">
                <a16:creationId xmlns:a16="http://schemas.microsoft.com/office/drawing/2014/main" id="{A1F4911E-CED5-A393-93B2-034B06F39641}"/>
              </a:ext>
            </a:extLst>
          </p:cNvPr>
          <p:cNvPicPr>
            <a:picLocks noChangeAspect="1"/>
          </p:cNvPicPr>
          <p:nvPr/>
        </p:nvPicPr>
        <p:blipFill>
          <a:blip r:embed="rId4"/>
          <a:stretch>
            <a:fillRect/>
          </a:stretch>
        </p:blipFill>
        <p:spPr>
          <a:xfrm>
            <a:off x="4080885" y="21753"/>
            <a:ext cx="5792317" cy="6814493"/>
          </a:xfrm>
          <a:prstGeom prst="rect">
            <a:avLst/>
          </a:prstGeom>
          <a:noFill/>
          <a:ln w="3175">
            <a:solidFill>
              <a:schemeClr val="tx1"/>
            </a:solidFill>
          </a:ln>
        </p:spPr>
      </p:pic>
      <p:sp>
        <p:nvSpPr>
          <p:cNvPr id="16" name="TextBox 15">
            <a:extLst>
              <a:ext uri="{FF2B5EF4-FFF2-40B4-BE49-F238E27FC236}">
                <a16:creationId xmlns:a16="http://schemas.microsoft.com/office/drawing/2014/main" id="{DA4EE969-D195-6C63-97FD-BB7CCD21591A}"/>
              </a:ext>
            </a:extLst>
          </p:cNvPr>
          <p:cNvSpPr txBox="1"/>
          <p:nvPr/>
        </p:nvSpPr>
        <p:spPr>
          <a:xfrm>
            <a:off x="9982200" y="674399"/>
            <a:ext cx="2113344" cy="5509200"/>
          </a:xfrm>
          <a:prstGeom prst="rect">
            <a:avLst/>
          </a:prstGeom>
          <a:noFill/>
        </p:spPr>
        <p:txBody>
          <a:bodyPr wrap="square" rtlCol="0">
            <a:spAutoFit/>
          </a:bodyPr>
          <a:lstStyle/>
          <a:p>
            <a:r>
              <a:rPr lang="en-US" sz="1600" i="1" dirty="0">
                <a:latin typeface="Avenir Book" panose="02000503020000020003" pitchFamily="2" charset="0"/>
              </a:rPr>
              <a:t>*</a:t>
            </a:r>
            <a:r>
              <a:rPr lang="en-US" sz="1600" i="1" dirty="0" err="1">
                <a:latin typeface="Avenir Book" panose="02000503020000020003" pitchFamily="2" charset="0"/>
              </a:rPr>
              <a:t>Jupyter</a:t>
            </a:r>
            <a:r>
              <a:rPr lang="en-US" sz="1600" i="1" dirty="0">
                <a:latin typeface="Avenir Book" panose="02000503020000020003" pitchFamily="2" charset="0"/>
              </a:rPr>
              <a:t> Notebook virtual machine settings can be customized. Customizing default settings will impact costs. </a:t>
            </a:r>
          </a:p>
          <a:p>
            <a:br>
              <a:rPr lang="en-US" sz="1600" i="1" dirty="0">
                <a:latin typeface="Avenir Book" panose="02000503020000020003" pitchFamily="2" charset="0"/>
              </a:rPr>
            </a:br>
            <a:r>
              <a:rPr lang="en-US" sz="1600" i="1" dirty="0">
                <a:latin typeface="Avenir Book" panose="02000503020000020003" pitchFamily="2" charset="0"/>
              </a:rPr>
              <a:t>** RStudio and SAS virtual machine settings cannot be customized.</a:t>
            </a:r>
          </a:p>
          <a:p>
            <a:br>
              <a:rPr lang="en-US" sz="1600" i="1" dirty="0">
                <a:latin typeface="Avenir Book" panose="02000503020000020003" pitchFamily="2" charset="0"/>
              </a:rPr>
            </a:br>
            <a:r>
              <a:rPr lang="en-US" sz="1600" i="1" dirty="0">
                <a:solidFill>
                  <a:schemeClr val="tx2">
                    <a:lumMod val="75000"/>
                    <a:lumOff val="25000"/>
                  </a:schemeClr>
                </a:solidFill>
                <a:latin typeface="Avenir Book" panose="02000503020000020003" pitchFamily="2" charset="0"/>
              </a:rPr>
              <a:t>***Persistent disks incur a monthly charge until deleted. You can check for and delete unnecessary persistent disks by visiting your "Cloud Environments" page.</a:t>
            </a:r>
            <a:endParaRPr lang="en-US" sz="1600" dirty="0">
              <a:solidFill>
                <a:schemeClr val="tx2">
                  <a:lumMod val="75000"/>
                  <a:lumOff val="25000"/>
                </a:schemeClr>
              </a:solidFill>
              <a:latin typeface="Avenir Book" panose="02000503020000020003" pitchFamily="2" charset="0"/>
            </a:endParaRPr>
          </a:p>
        </p:txBody>
      </p:sp>
      <p:sp>
        <p:nvSpPr>
          <p:cNvPr id="18" name="TextBox 17">
            <a:extLst>
              <a:ext uri="{FF2B5EF4-FFF2-40B4-BE49-F238E27FC236}">
                <a16:creationId xmlns:a16="http://schemas.microsoft.com/office/drawing/2014/main" id="{106241B8-023A-FE55-74BE-B56D733D5509}"/>
              </a:ext>
            </a:extLst>
          </p:cNvPr>
          <p:cNvSpPr txBox="1"/>
          <p:nvPr/>
        </p:nvSpPr>
        <p:spPr>
          <a:xfrm>
            <a:off x="196770" y="4266438"/>
            <a:ext cx="3775117" cy="1467068"/>
          </a:xfrm>
          <a:prstGeom prst="rect">
            <a:avLst/>
          </a:prstGeom>
          <a:noFill/>
        </p:spPr>
        <p:txBody>
          <a:bodyPr wrap="square" rtlCol="0">
            <a:spAutoFit/>
          </a:bodyPr>
          <a:lstStyle/>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sz="1600" dirty="0">
                <a:solidFill>
                  <a:schemeClr val="bg1"/>
                </a:solidFill>
                <a:latin typeface="YaleNew" panose="02000602050000020003" pitchFamily="2" charset="77"/>
                <a:hlinkClick r:id="rId5"/>
              </a:rPr>
              <a:t>Set up a billing account to continue your work</a:t>
            </a:r>
            <a:endParaRPr lang="en-US" sz="1600" dirty="0">
              <a:solidFill>
                <a:schemeClr val="bg1"/>
              </a:solidFill>
              <a:latin typeface="YaleNew" panose="02000602050000020003" pitchFamily="2" charset="77"/>
            </a:endParaRPr>
          </a:p>
          <a:p>
            <a:endParaRPr lang="en-US" sz="1600" dirty="0"/>
          </a:p>
          <a:p>
            <a:r>
              <a:rPr lang="en-US" sz="1600" dirty="0">
                <a:hlinkClick r:id="rId6"/>
              </a:rPr>
              <a:t>Helpful video for billing and account setup</a:t>
            </a:r>
            <a:endParaRPr lang="en-US" sz="1600" dirty="0"/>
          </a:p>
        </p:txBody>
      </p:sp>
      <p:sp>
        <p:nvSpPr>
          <p:cNvPr id="2" name="TextBox 1">
            <a:extLst>
              <a:ext uri="{FF2B5EF4-FFF2-40B4-BE49-F238E27FC236}">
                <a16:creationId xmlns:a16="http://schemas.microsoft.com/office/drawing/2014/main" id="{6D738B4C-F51E-CE89-565E-DD75FAFD6B64}"/>
              </a:ext>
            </a:extLst>
          </p:cNvPr>
          <p:cNvSpPr txBox="1"/>
          <p:nvPr/>
        </p:nvSpPr>
        <p:spPr>
          <a:xfrm>
            <a:off x="352116" y="1127566"/>
            <a:ext cx="2603704" cy="1667123"/>
          </a:xfrm>
          <a:prstGeom prst="rect">
            <a:avLst/>
          </a:prstGeom>
          <a:noFill/>
        </p:spPr>
        <p:txBody>
          <a:bodyPr wrap="square" rtlCol="0">
            <a:spAutoFit/>
          </a:bodyPr>
          <a:lstStyle/>
          <a:p>
            <a:r>
              <a:rPr lang="en-US" sz="4000" dirty="0">
                <a:solidFill>
                  <a:schemeClr val="bg1"/>
                </a:solidFill>
                <a:latin typeface="YaleNew" panose="02000602050000020003" pitchFamily="2" charset="77"/>
              </a:rPr>
              <a:t>Accessing</a:t>
            </a:r>
            <a:r>
              <a:rPr lang="en-US" dirty="0">
                <a:latin typeface="YaleNew" panose="02000602050000020003" pitchFamily="2" charset="77"/>
              </a:rPr>
              <a:t> </a:t>
            </a:r>
          </a:p>
          <a:p>
            <a:pPr>
              <a:lnSpc>
                <a:spcPct val="90000"/>
              </a:lnSpc>
              <a:spcBef>
                <a:spcPts val="1000"/>
              </a:spcBef>
            </a:pPr>
            <a:r>
              <a:rPr lang="en-US" sz="4000" dirty="0">
                <a:solidFill>
                  <a:schemeClr val="bg1"/>
                </a:solidFill>
                <a:latin typeface="YaleNew" panose="02000602050000020003" pitchFamily="2" charset="77"/>
              </a:rPr>
              <a:t>Data</a:t>
            </a:r>
          </a:p>
          <a:p>
            <a:endParaRPr lang="en-US" dirty="0"/>
          </a:p>
        </p:txBody>
      </p:sp>
    </p:spTree>
    <p:extLst>
      <p:ext uri="{BB962C8B-B14F-4D97-AF65-F5344CB8AC3E}">
        <p14:creationId xmlns:p14="http://schemas.microsoft.com/office/powerpoint/2010/main" val="1006352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3B34-B2E9-3F1D-4B3F-33FD9747EA2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A9F27D2-02F0-6829-77F5-6863E43C0CD8}"/>
              </a:ext>
            </a:extLst>
          </p:cNvPr>
          <p:cNvSpPr>
            <a:spLocks noGrp="1"/>
          </p:cNvSpPr>
          <p:nvPr>
            <p:ph type="sldNum" sz="quarter" idx="18"/>
          </p:nvPr>
        </p:nvSpPr>
        <p:spPr/>
        <p:txBody>
          <a:bodyPr/>
          <a:lstStyle/>
          <a:p>
            <a:fld id="{548469FB-C78A-B94B-B04A-B5BC8C934F85}" type="slidenum">
              <a:rPr lang="en-US" smtClean="0"/>
              <a:t>17</a:t>
            </a:fld>
            <a:endParaRPr lang="en-US"/>
          </a:p>
        </p:txBody>
      </p:sp>
      <p:pic>
        <p:nvPicPr>
          <p:cNvPr id="2" name="Picture 1">
            <a:extLst>
              <a:ext uri="{FF2B5EF4-FFF2-40B4-BE49-F238E27FC236}">
                <a16:creationId xmlns:a16="http://schemas.microsoft.com/office/drawing/2014/main" id="{79D78D40-F766-FBEF-5590-5B086C291B30}"/>
              </a:ext>
            </a:extLst>
          </p:cNvPr>
          <p:cNvPicPr>
            <a:picLocks noChangeAspect="1"/>
          </p:cNvPicPr>
          <p:nvPr/>
        </p:nvPicPr>
        <p:blipFill>
          <a:blip r:embed="rId3"/>
          <a:stretch>
            <a:fillRect/>
          </a:stretch>
        </p:blipFill>
        <p:spPr>
          <a:xfrm>
            <a:off x="4702629" y="34401"/>
            <a:ext cx="6003165" cy="6793455"/>
          </a:xfrm>
          <a:prstGeom prst="rect">
            <a:avLst/>
          </a:prstGeom>
          <a:ln w="3175">
            <a:solidFill>
              <a:schemeClr val="tx1"/>
            </a:solidFill>
          </a:ln>
        </p:spPr>
      </p:pic>
      <p:sp>
        <p:nvSpPr>
          <p:cNvPr id="13" name="Text Placeholder 2">
            <a:extLst>
              <a:ext uri="{FF2B5EF4-FFF2-40B4-BE49-F238E27FC236}">
                <a16:creationId xmlns:a16="http://schemas.microsoft.com/office/drawing/2014/main" id="{7881A65C-2252-0BEB-7CB2-7A8FB306A14C}"/>
              </a:ext>
            </a:extLst>
          </p:cNvPr>
          <p:cNvSpPr txBox="1">
            <a:spLocks/>
          </p:cNvSpPr>
          <p:nvPr/>
        </p:nvSpPr>
        <p:spPr>
          <a:xfrm>
            <a:off x="352116" y="2683002"/>
            <a:ext cx="3034570" cy="68340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i="1">
                <a:latin typeface="YaleNew" panose="02000602050000020003" pitchFamily="2" charset="77"/>
                <a:hlinkClick r:id="rId4"/>
              </a:rPr>
              <a:t>Billing Notes</a:t>
            </a:r>
            <a:endParaRPr lang="en-US" sz="1800" i="1" dirty="0">
              <a:latin typeface="YaleNew" panose="02000602050000020003" pitchFamily="2" charset="77"/>
            </a:endParaRPr>
          </a:p>
        </p:txBody>
      </p:sp>
      <p:sp>
        <p:nvSpPr>
          <p:cNvPr id="14" name="TextBox 13">
            <a:extLst>
              <a:ext uri="{FF2B5EF4-FFF2-40B4-BE49-F238E27FC236}">
                <a16:creationId xmlns:a16="http://schemas.microsoft.com/office/drawing/2014/main" id="{5ABDCEB7-D06A-8B16-8AAD-A785108F7B96}"/>
              </a:ext>
            </a:extLst>
          </p:cNvPr>
          <p:cNvSpPr txBox="1"/>
          <p:nvPr/>
        </p:nvSpPr>
        <p:spPr>
          <a:xfrm>
            <a:off x="196770" y="4266438"/>
            <a:ext cx="3775117" cy="1467068"/>
          </a:xfrm>
          <a:prstGeom prst="rect">
            <a:avLst/>
          </a:prstGeom>
          <a:noFill/>
        </p:spPr>
        <p:txBody>
          <a:bodyPr wrap="square" rtlCol="0">
            <a:spAutoFit/>
          </a:bodyPr>
          <a:lstStyle/>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sz="1600" dirty="0">
                <a:solidFill>
                  <a:schemeClr val="bg1"/>
                </a:solidFill>
                <a:latin typeface="YaleNew" panose="02000602050000020003" pitchFamily="2" charset="77"/>
                <a:hlinkClick r:id="rId5"/>
              </a:rPr>
              <a:t>Set up a billing account to continue your work</a:t>
            </a:r>
            <a:endParaRPr lang="en-US" sz="1600" dirty="0">
              <a:solidFill>
                <a:schemeClr val="bg1"/>
              </a:solidFill>
              <a:latin typeface="YaleNew" panose="02000602050000020003" pitchFamily="2" charset="77"/>
            </a:endParaRPr>
          </a:p>
          <a:p>
            <a:endParaRPr lang="en-US" sz="1600" dirty="0"/>
          </a:p>
          <a:p>
            <a:r>
              <a:rPr lang="en-US" sz="1600" dirty="0">
                <a:hlinkClick r:id="rId6"/>
              </a:rPr>
              <a:t>Helpful video for billing and account setup</a:t>
            </a:r>
            <a:endParaRPr lang="en-US" sz="1600" dirty="0"/>
          </a:p>
        </p:txBody>
      </p:sp>
      <p:sp>
        <p:nvSpPr>
          <p:cNvPr id="15" name="TextBox 14">
            <a:extLst>
              <a:ext uri="{FF2B5EF4-FFF2-40B4-BE49-F238E27FC236}">
                <a16:creationId xmlns:a16="http://schemas.microsoft.com/office/drawing/2014/main" id="{27C6241D-4E4A-070E-168A-9B3D8AC3357E}"/>
              </a:ext>
            </a:extLst>
          </p:cNvPr>
          <p:cNvSpPr txBox="1"/>
          <p:nvPr/>
        </p:nvSpPr>
        <p:spPr>
          <a:xfrm>
            <a:off x="352116" y="1127566"/>
            <a:ext cx="2603704" cy="1667123"/>
          </a:xfrm>
          <a:prstGeom prst="rect">
            <a:avLst/>
          </a:prstGeom>
          <a:noFill/>
        </p:spPr>
        <p:txBody>
          <a:bodyPr wrap="square" rtlCol="0">
            <a:spAutoFit/>
          </a:bodyPr>
          <a:lstStyle/>
          <a:p>
            <a:r>
              <a:rPr lang="en-US" sz="4000" dirty="0">
                <a:solidFill>
                  <a:schemeClr val="bg1"/>
                </a:solidFill>
                <a:latin typeface="YaleNew" panose="02000602050000020003" pitchFamily="2" charset="77"/>
              </a:rPr>
              <a:t>Accessing</a:t>
            </a:r>
            <a:r>
              <a:rPr lang="en-US" dirty="0">
                <a:latin typeface="YaleNew" panose="02000602050000020003" pitchFamily="2" charset="77"/>
              </a:rPr>
              <a:t> </a:t>
            </a:r>
          </a:p>
          <a:p>
            <a:pPr>
              <a:lnSpc>
                <a:spcPct val="90000"/>
              </a:lnSpc>
              <a:spcBef>
                <a:spcPts val="1000"/>
              </a:spcBef>
            </a:pPr>
            <a:r>
              <a:rPr lang="en-US" sz="4000" dirty="0">
                <a:solidFill>
                  <a:schemeClr val="bg1"/>
                </a:solidFill>
                <a:latin typeface="YaleNew" panose="02000602050000020003" pitchFamily="2" charset="77"/>
              </a:rPr>
              <a:t>Data</a:t>
            </a:r>
          </a:p>
          <a:p>
            <a:endParaRPr lang="en-US" dirty="0"/>
          </a:p>
        </p:txBody>
      </p:sp>
    </p:spTree>
    <p:extLst>
      <p:ext uri="{BB962C8B-B14F-4D97-AF65-F5344CB8AC3E}">
        <p14:creationId xmlns:p14="http://schemas.microsoft.com/office/powerpoint/2010/main" val="3342901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C17F-1854-734D-428A-3426D143707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114215-8197-15C7-4085-9ED81A375982}"/>
              </a:ext>
            </a:extLst>
          </p:cNvPr>
          <p:cNvSpPr>
            <a:spLocks noGrp="1"/>
          </p:cNvSpPr>
          <p:nvPr>
            <p:ph type="sldNum" sz="quarter" idx="18"/>
          </p:nvPr>
        </p:nvSpPr>
        <p:spPr/>
        <p:txBody>
          <a:bodyPr/>
          <a:lstStyle/>
          <a:p>
            <a:fld id="{548469FB-C78A-B94B-B04A-B5BC8C934F85}" type="slidenum">
              <a:rPr lang="en-US" smtClean="0"/>
              <a:t>18</a:t>
            </a:fld>
            <a:endParaRPr lang="en-US"/>
          </a:p>
        </p:txBody>
      </p:sp>
      <p:sp>
        <p:nvSpPr>
          <p:cNvPr id="20" name="Text Placeholder 2">
            <a:extLst>
              <a:ext uri="{FF2B5EF4-FFF2-40B4-BE49-F238E27FC236}">
                <a16:creationId xmlns:a16="http://schemas.microsoft.com/office/drawing/2014/main" id="{E5ECBD88-FAC8-AA7C-0B34-BF3CC91122C7}"/>
              </a:ext>
            </a:extLst>
          </p:cNvPr>
          <p:cNvSpPr>
            <a:spLocks noGrp="1"/>
          </p:cNvSpPr>
          <p:nvPr>
            <p:ph type="body" sz="quarter" idx="11"/>
          </p:nvPr>
        </p:nvSpPr>
        <p:spPr>
          <a:xfrm>
            <a:off x="494356" y="1878921"/>
            <a:ext cx="3034570" cy="683409"/>
          </a:xfrm>
        </p:spPr>
        <p:txBody>
          <a:bodyPr/>
          <a:lstStyle/>
          <a:p>
            <a:r>
              <a:rPr lang="en-US" dirty="0">
                <a:latin typeface="YaleNew" panose="02000602050000020003" pitchFamily="2" charset="77"/>
              </a:rPr>
              <a:t>Saving Money!</a:t>
            </a:r>
          </a:p>
        </p:txBody>
      </p:sp>
      <p:sp>
        <p:nvSpPr>
          <p:cNvPr id="21" name="Text Placeholder 3">
            <a:extLst>
              <a:ext uri="{FF2B5EF4-FFF2-40B4-BE49-F238E27FC236}">
                <a16:creationId xmlns:a16="http://schemas.microsoft.com/office/drawing/2014/main" id="{A85685EC-4E1B-D12F-EB66-FF51A198C228}"/>
              </a:ext>
            </a:extLst>
          </p:cNvPr>
          <p:cNvSpPr>
            <a:spLocks noGrp="1"/>
          </p:cNvSpPr>
          <p:nvPr>
            <p:ph type="body" sz="quarter" idx="15"/>
          </p:nvPr>
        </p:nvSpPr>
        <p:spPr>
          <a:xfrm>
            <a:off x="494356" y="2562330"/>
            <a:ext cx="3034571" cy="602906"/>
          </a:xfrm>
        </p:spPr>
        <p:txBody>
          <a:bodyPr/>
          <a:lstStyle/>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3" name="TextBox 2">
            <a:extLst>
              <a:ext uri="{FF2B5EF4-FFF2-40B4-BE49-F238E27FC236}">
                <a16:creationId xmlns:a16="http://schemas.microsoft.com/office/drawing/2014/main" id="{C5DF281B-9B60-1CCA-ED20-3ED3DBCE81B9}"/>
              </a:ext>
            </a:extLst>
          </p:cNvPr>
          <p:cNvSpPr txBox="1"/>
          <p:nvPr/>
        </p:nvSpPr>
        <p:spPr>
          <a:xfrm>
            <a:off x="152696" y="3692765"/>
            <a:ext cx="3717890" cy="1200329"/>
          </a:xfrm>
          <a:prstGeom prst="rect">
            <a:avLst/>
          </a:prstGeom>
          <a:noFill/>
        </p:spPr>
        <p:txBody>
          <a:bodyPr wrap="square" rtlCol="0">
            <a:spAutoFit/>
          </a:bodyPr>
          <a:lstStyle/>
          <a:p>
            <a:endParaRPr lang="en-US" dirty="0"/>
          </a:p>
          <a:p>
            <a:r>
              <a:rPr lang="en-US" dirty="0">
                <a:hlinkClick r:id="rId3"/>
              </a:rPr>
              <a:t>How to Delete Persistent Disk and Environment</a:t>
            </a:r>
            <a:endParaRPr lang="en-US" dirty="0"/>
          </a:p>
          <a:p>
            <a:endParaRPr lang="en-US" dirty="0"/>
          </a:p>
        </p:txBody>
      </p:sp>
      <p:sp>
        <p:nvSpPr>
          <p:cNvPr id="6" name="TextBox 5">
            <a:extLst>
              <a:ext uri="{FF2B5EF4-FFF2-40B4-BE49-F238E27FC236}">
                <a16:creationId xmlns:a16="http://schemas.microsoft.com/office/drawing/2014/main" id="{500BCF6C-B8AC-DCD0-AA3F-9FFFADABE4EA}"/>
              </a:ext>
            </a:extLst>
          </p:cNvPr>
          <p:cNvSpPr txBox="1"/>
          <p:nvPr/>
        </p:nvSpPr>
        <p:spPr>
          <a:xfrm>
            <a:off x="4705141" y="1118522"/>
            <a:ext cx="6648659" cy="4832092"/>
          </a:xfrm>
          <a:prstGeom prst="rect">
            <a:avLst/>
          </a:prstGeom>
          <a:noFill/>
        </p:spPr>
        <p:txBody>
          <a:bodyPr wrap="square" rtlCol="0">
            <a:spAutoFit/>
          </a:bodyPr>
          <a:lstStyle/>
          <a:p>
            <a:r>
              <a:rPr lang="en-US" sz="3000" b="1" dirty="0">
                <a:solidFill>
                  <a:srgbClr val="002060"/>
                </a:solidFill>
                <a:latin typeface="Avenir Book" panose="02000503020000020003" pitchFamily="2" charset="0"/>
              </a:rPr>
              <a:t>Once you save your data to the workspace bucket:</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Delete your environment and persistent disk</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Code notebooks are saved in the workspace bucket and will not be deleted</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You can always start a new environment to continue your analysis because your code and data in the workspace bucket remain intact</a:t>
            </a:r>
          </a:p>
        </p:txBody>
      </p:sp>
    </p:spTree>
    <p:extLst>
      <p:ext uri="{BB962C8B-B14F-4D97-AF65-F5344CB8AC3E}">
        <p14:creationId xmlns:p14="http://schemas.microsoft.com/office/powerpoint/2010/main" val="2479410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15BF82-222D-4F21-FC15-F9270DA65858}"/>
              </a:ext>
            </a:extLst>
          </p:cNvPr>
          <p:cNvSpPr>
            <a:spLocks noGrp="1"/>
          </p:cNvSpPr>
          <p:nvPr>
            <p:ph type="body" sz="quarter" idx="11"/>
          </p:nvPr>
        </p:nvSpPr>
        <p:spPr/>
        <p:txBody>
          <a:bodyPr/>
          <a:lstStyle/>
          <a:p>
            <a:r>
              <a:rPr lang="en-US" dirty="0">
                <a:hlinkClick r:id="rId2"/>
              </a:rPr>
              <a:t>My AoU Cost Estimator App</a:t>
            </a:r>
            <a:endParaRPr lang="en-US" dirty="0"/>
          </a:p>
        </p:txBody>
      </p:sp>
      <p:sp>
        <p:nvSpPr>
          <p:cNvPr id="5" name="Slide Number Placeholder 4">
            <a:extLst>
              <a:ext uri="{FF2B5EF4-FFF2-40B4-BE49-F238E27FC236}">
                <a16:creationId xmlns:a16="http://schemas.microsoft.com/office/drawing/2014/main" id="{DBE3D5F8-9199-1BA4-626D-CBF8BCB02CB6}"/>
              </a:ext>
            </a:extLst>
          </p:cNvPr>
          <p:cNvSpPr>
            <a:spLocks noGrp="1"/>
          </p:cNvSpPr>
          <p:nvPr>
            <p:ph type="sldNum" sz="quarter" idx="18"/>
          </p:nvPr>
        </p:nvSpPr>
        <p:spPr/>
        <p:txBody>
          <a:bodyPr/>
          <a:lstStyle/>
          <a:p>
            <a:fld id="{548469FB-C78A-B94B-B04A-B5BC8C934F85}" type="slidenum">
              <a:rPr lang="en-US" smtClean="0"/>
              <a:t>19</a:t>
            </a:fld>
            <a:endParaRPr lang="en-US"/>
          </a:p>
        </p:txBody>
      </p:sp>
      <p:sp>
        <p:nvSpPr>
          <p:cNvPr id="8" name="TextBox 7">
            <a:extLst>
              <a:ext uri="{FF2B5EF4-FFF2-40B4-BE49-F238E27FC236}">
                <a16:creationId xmlns:a16="http://schemas.microsoft.com/office/drawing/2014/main" id="{FB28D8FF-D33B-4062-B26E-B5631CF251CA}"/>
              </a:ext>
            </a:extLst>
          </p:cNvPr>
          <p:cNvSpPr txBox="1"/>
          <p:nvPr/>
        </p:nvSpPr>
        <p:spPr>
          <a:xfrm>
            <a:off x="4705141" y="1118522"/>
            <a:ext cx="6648659" cy="4462760"/>
          </a:xfrm>
          <a:prstGeom prst="rect">
            <a:avLst/>
          </a:prstGeom>
          <a:noFill/>
        </p:spPr>
        <p:txBody>
          <a:bodyPr wrap="square" rtlCol="0">
            <a:spAutoFit/>
          </a:bodyPr>
          <a:lstStyle/>
          <a:p>
            <a:r>
              <a:rPr lang="en-US" sz="3000" b="1" dirty="0">
                <a:solidFill>
                  <a:srgbClr val="002060"/>
                </a:solidFill>
                <a:latin typeface="Avenir Book" panose="02000503020000020003" pitchFamily="2" charset="0"/>
              </a:rPr>
              <a:t>Can use this application to estimate the following:</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Upfront costs</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Total compute costs</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Data storage costs for duration of the project</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Total project cost</a:t>
            </a:r>
          </a:p>
        </p:txBody>
      </p:sp>
      <p:sp>
        <p:nvSpPr>
          <p:cNvPr id="9" name="TextBox 8">
            <a:extLst>
              <a:ext uri="{FF2B5EF4-FFF2-40B4-BE49-F238E27FC236}">
                <a16:creationId xmlns:a16="http://schemas.microsoft.com/office/drawing/2014/main" id="{05D4A543-36A2-AAFD-BF06-E8BDCAA00048}"/>
              </a:ext>
            </a:extLst>
          </p:cNvPr>
          <p:cNvSpPr txBox="1"/>
          <p:nvPr/>
        </p:nvSpPr>
        <p:spPr>
          <a:xfrm>
            <a:off x="152696" y="3692765"/>
            <a:ext cx="3717890" cy="2102692"/>
          </a:xfrm>
          <a:prstGeom prst="rect">
            <a:avLst/>
          </a:prstGeom>
          <a:noFill/>
        </p:spPr>
        <p:txBody>
          <a:bodyPr wrap="square" rtlCol="0">
            <a:spAutoFit/>
          </a:bodyPr>
          <a:lstStyle/>
          <a:p>
            <a:pPr>
              <a:lnSpc>
                <a:spcPct val="90000"/>
              </a:lnSpc>
              <a:spcBef>
                <a:spcPts val="1000"/>
              </a:spcBef>
            </a:pPr>
            <a:r>
              <a:rPr lang="en-US" b="1" dirty="0">
                <a:solidFill>
                  <a:schemeClr val="bg1"/>
                </a:solidFill>
                <a:latin typeface="YaleNew" panose="02000602050000020003" pitchFamily="2" charset="77"/>
                <a:cs typeface="Calibri" panose="020F0502020204030204" pitchFamily="34" charset="0"/>
              </a:rPr>
              <a:t>NOTES</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Beta phase (updates will be made)</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Not an official AoU app</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Pay attention to the parameters you need</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Please provide feedback</a:t>
            </a:r>
          </a:p>
        </p:txBody>
      </p:sp>
    </p:spTree>
    <p:extLst>
      <p:ext uri="{BB962C8B-B14F-4D97-AF65-F5344CB8AC3E}">
        <p14:creationId xmlns:p14="http://schemas.microsoft.com/office/powerpoint/2010/main" val="1265380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C3D7-E94A-5E84-560F-5F35F13FFBF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E2EDA2D-0A25-1A9D-B78C-638315E61DE4}"/>
              </a:ext>
            </a:extLst>
          </p:cNvPr>
          <p:cNvSpPr>
            <a:spLocks noGrp="1"/>
          </p:cNvSpPr>
          <p:nvPr>
            <p:ph type="subTitle" idx="1"/>
          </p:nvPr>
        </p:nvSpPr>
        <p:spPr/>
        <p:txBody>
          <a:bodyPr/>
          <a:lstStyle/>
          <a:p>
            <a:endParaRPr lang="en-US"/>
          </a:p>
        </p:txBody>
      </p:sp>
      <p:pic>
        <p:nvPicPr>
          <p:cNvPr id="5" name="slide.url=https://www.polleverywhere.com/multiple_choice_polls/hLkFcZ58OkTGRVuCWfRtl?state=opened&amp;flow=Default&amp;onscreen=persist">
            <a:extLst>
              <a:ext uri="{FF2B5EF4-FFF2-40B4-BE49-F238E27FC236}">
                <a16:creationId xmlns:a16="http://schemas.microsoft.com/office/drawing/2014/main" id="{01A7D900-C774-470D-C04A-3D9FA92242A9}"/>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20915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04050-47BB-688C-3643-D57486FBE01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9D29C58-FB5D-B31F-9E4B-36DA32885895}"/>
              </a:ext>
            </a:extLst>
          </p:cNvPr>
          <p:cNvSpPr>
            <a:spLocks noGrp="1"/>
          </p:cNvSpPr>
          <p:nvPr>
            <p:ph type="pic" sz="quarter" idx="12"/>
          </p:nvPr>
        </p:nvSpPr>
        <p:spPr>
          <a:xfrm>
            <a:off x="5080948" y="1492724"/>
            <a:ext cx="6828953" cy="5752346"/>
          </a:xfrm>
        </p:spPr>
        <p:txBody>
          <a:bodyPr>
            <a:normAutofit/>
          </a:bodyPr>
          <a:lstStyle/>
          <a:p>
            <a:r>
              <a:rPr lang="en-US" sz="2000" dirty="0">
                <a:latin typeface="Avenir Book" panose="02000503020000020003" pitchFamily="2" charset="0"/>
              </a:rPr>
              <a:t>Create a Research Hub account</a:t>
            </a:r>
          </a:p>
          <a:p>
            <a:pPr marL="971550" lvl="2" indent="-514350">
              <a:lnSpc>
                <a:spcPct val="100000"/>
              </a:lnSpc>
              <a:spcBef>
                <a:spcPts val="0"/>
              </a:spcBef>
            </a:pPr>
            <a:r>
              <a:rPr lang="en-US" sz="1800" dirty="0">
                <a:latin typeface="Avenir Book" panose="02000503020000020003" pitchFamily="2" charset="0"/>
              </a:rPr>
              <a:t>Navigate to </a:t>
            </a:r>
            <a:r>
              <a:rPr lang="en-US" sz="1800" dirty="0">
                <a:latin typeface="Avenir Book" panose="02000503020000020003" pitchFamily="2" charset="0"/>
                <a:hlinkClick r:id="rId3">
                  <a:extLst>
                    <a:ext uri="{A12FA001-AC4F-418D-AE19-62706E023703}">
                      <ahyp:hlinkClr xmlns:ahyp="http://schemas.microsoft.com/office/drawing/2018/hyperlinkcolor" val="tx"/>
                    </a:ext>
                  </a:extLst>
                </a:hlinkClick>
              </a:rPr>
              <a:t>All of Us Research Hub</a:t>
            </a:r>
            <a:r>
              <a:rPr lang="en-US" sz="1800" dirty="0">
                <a:latin typeface="Avenir Book" panose="02000503020000020003" pitchFamily="2" charset="0"/>
              </a:rPr>
              <a:t> and choose create an account and follow the prompts</a:t>
            </a:r>
            <a:br>
              <a:rPr lang="en-US" sz="1800" dirty="0">
                <a:latin typeface="Avenir Book" panose="02000503020000020003" pitchFamily="2" charset="0"/>
              </a:rPr>
            </a:br>
            <a:endParaRPr lang="en-US" sz="1800" dirty="0">
              <a:latin typeface="Avenir Book" panose="02000503020000020003" pitchFamily="2" charset="0"/>
            </a:endParaRPr>
          </a:p>
          <a:p>
            <a:r>
              <a:rPr lang="en-US" sz="2000" dirty="0">
                <a:latin typeface="Avenir Book" panose="02000503020000020003" pitchFamily="2" charset="0"/>
              </a:rPr>
              <a:t>Complete data access registration</a:t>
            </a:r>
          </a:p>
          <a:p>
            <a:pPr marL="971550" lvl="2" indent="-514350">
              <a:lnSpc>
                <a:spcPct val="100000"/>
              </a:lnSpc>
              <a:spcBef>
                <a:spcPts val="0"/>
              </a:spcBef>
            </a:pPr>
            <a:r>
              <a:rPr lang="en-US" sz="1800" dirty="0">
                <a:latin typeface="Avenir Book" panose="02000503020000020003" pitchFamily="2" charset="0"/>
              </a:rPr>
              <a:t>ID verification; mandatory trainings; code of conduct</a:t>
            </a:r>
            <a:br>
              <a:rPr lang="en-US" sz="1800" dirty="0">
                <a:latin typeface="Avenir Book" panose="02000503020000020003" pitchFamily="2" charset="0"/>
              </a:rPr>
            </a:br>
            <a:endParaRPr lang="en-US" sz="1800" dirty="0">
              <a:latin typeface="Avenir Book" panose="02000503020000020003" pitchFamily="2" charset="0"/>
            </a:endParaRPr>
          </a:p>
          <a:p>
            <a:r>
              <a:rPr lang="en-US" sz="2000" dirty="0">
                <a:latin typeface="Avenir Book" panose="02000503020000020003" pitchFamily="2" charset="0"/>
              </a:rPr>
              <a:t>Create an all of us workspace</a:t>
            </a:r>
          </a:p>
          <a:p>
            <a:pPr marL="971550" lvl="2" indent="-514350">
              <a:lnSpc>
                <a:spcPct val="100000"/>
              </a:lnSpc>
              <a:spcBef>
                <a:spcPts val="0"/>
              </a:spcBef>
            </a:pPr>
            <a:r>
              <a:rPr lang="en-US" sz="1800" dirty="0">
                <a:latin typeface="Avenir Book" panose="02000503020000020003" pitchFamily="2" charset="0"/>
              </a:rPr>
              <a:t>Research Use Statement Questions</a:t>
            </a:r>
          </a:p>
          <a:p>
            <a:pPr marL="971550" lvl="2" indent="-514350">
              <a:lnSpc>
                <a:spcPct val="100000"/>
              </a:lnSpc>
              <a:spcBef>
                <a:spcPts val="0"/>
              </a:spcBef>
            </a:pPr>
            <a:r>
              <a:rPr lang="en-US" sz="1800" dirty="0">
                <a:latin typeface="Avenir Book" panose="02000503020000020003" pitchFamily="2" charset="0"/>
              </a:rPr>
              <a:t>All information is publicly available</a:t>
            </a:r>
          </a:p>
          <a:p>
            <a:pPr marL="971550" lvl="2" indent="-514350">
              <a:lnSpc>
                <a:spcPct val="100000"/>
              </a:lnSpc>
              <a:spcBef>
                <a:spcPts val="0"/>
              </a:spcBef>
            </a:pPr>
            <a:r>
              <a:rPr lang="en-US" sz="1800" dirty="0">
                <a:latin typeface="Avenir Book" panose="02000503020000020003" pitchFamily="2" charset="0"/>
              </a:rPr>
              <a:t>More than one workspace</a:t>
            </a:r>
          </a:p>
          <a:p>
            <a:pPr marL="971550" lvl="2" indent="-514350">
              <a:lnSpc>
                <a:spcPct val="100000"/>
              </a:lnSpc>
              <a:spcBef>
                <a:spcPts val="0"/>
              </a:spcBef>
            </a:pPr>
            <a:r>
              <a:rPr lang="en-US" sz="1800" dirty="0">
                <a:latin typeface="Avenir Book" panose="02000503020000020003" pitchFamily="2" charset="0"/>
              </a:rPr>
              <a:t>Shareable</a:t>
            </a:r>
          </a:p>
          <a:p>
            <a:pPr marL="971550" lvl="2" indent="-514350">
              <a:lnSpc>
                <a:spcPct val="100000"/>
              </a:lnSpc>
              <a:spcBef>
                <a:spcPts val="0"/>
              </a:spcBef>
            </a:pPr>
            <a:r>
              <a:rPr lang="en-US" sz="1800" dirty="0">
                <a:latin typeface="Avenir Book" panose="02000503020000020003" pitchFamily="2" charset="0"/>
              </a:rPr>
              <a:t>Where you interact with data</a:t>
            </a:r>
          </a:p>
          <a:p>
            <a:pPr lvl="2"/>
            <a:endParaRPr lang="en-US" sz="1800" dirty="0">
              <a:latin typeface="Avenir Book" panose="02000503020000020003" pitchFamily="2" charset="0"/>
            </a:endParaRPr>
          </a:p>
          <a:p>
            <a:pPr lvl="2"/>
            <a:endParaRPr lang="en-US" sz="18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7736E51B-CCD8-C235-3E08-46DB72BD7DF0}"/>
              </a:ext>
            </a:extLst>
          </p:cNvPr>
          <p:cNvSpPr>
            <a:spLocks noGrp="1"/>
          </p:cNvSpPr>
          <p:nvPr>
            <p:ph type="sldNum" sz="quarter" idx="18"/>
          </p:nvPr>
        </p:nvSpPr>
        <p:spPr/>
        <p:txBody>
          <a:bodyPr/>
          <a:lstStyle/>
          <a:p>
            <a:fld id="{548469FB-C78A-B94B-B04A-B5BC8C934F85}" type="slidenum">
              <a:rPr lang="en-US" smtClean="0"/>
              <a:t>21</a:t>
            </a:fld>
            <a:endParaRPr lang="en-US"/>
          </a:p>
        </p:txBody>
      </p:sp>
      <p:sp>
        <p:nvSpPr>
          <p:cNvPr id="5" name="Text Placeholder 2">
            <a:extLst>
              <a:ext uri="{FF2B5EF4-FFF2-40B4-BE49-F238E27FC236}">
                <a16:creationId xmlns:a16="http://schemas.microsoft.com/office/drawing/2014/main" id="{2F63F6A9-F394-068A-8D25-00E713E89184}"/>
              </a:ext>
            </a:extLst>
          </p:cNvPr>
          <p:cNvSpPr txBox="1">
            <a:spLocks/>
          </p:cNvSpPr>
          <p:nvPr/>
        </p:nvSpPr>
        <p:spPr>
          <a:xfrm>
            <a:off x="558800" y="1689100"/>
            <a:ext cx="3515762"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7" name="Text Placeholder 3">
            <a:extLst>
              <a:ext uri="{FF2B5EF4-FFF2-40B4-BE49-F238E27FC236}">
                <a16:creationId xmlns:a16="http://schemas.microsoft.com/office/drawing/2014/main" id="{15504917-79BB-321A-7B4C-D8FE538DF5BA}"/>
              </a:ext>
            </a:extLst>
          </p:cNvPr>
          <p:cNvSpPr txBox="1">
            <a:spLocks/>
          </p:cNvSpPr>
          <p:nvPr/>
        </p:nvSpPr>
        <p:spPr>
          <a:xfrm>
            <a:off x="609600" y="3380144"/>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Create a workspace</a:t>
            </a:r>
          </a:p>
        </p:txBody>
      </p:sp>
    </p:spTree>
    <p:extLst>
      <p:ext uri="{BB962C8B-B14F-4D97-AF65-F5344CB8AC3E}">
        <p14:creationId xmlns:p14="http://schemas.microsoft.com/office/powerpoint/2010/main" val="818277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A9A87-E1CC-9FB7-F250-BAE2D5A2CD8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B5A6038-83F1-B2EA-1263-208AFD396E8C}"/>
              </a:ext>
            </a:extLst>
          </p:cNvPr>
          <p:cNvSpPr>
            <a:spLocks noGrp="1"/>
          </p:cNvSpPr>
          <p:nvPr>
            <p:ph type="subTitle" idx="1"/>
          </p:nvPr>
        </p:nvSpPr>
        <p:spPr/>
        <p:txBody>
          <a:bodyPr/>
          <a:lstStyle/>
          <a:p>
            <a:endParaRPr lang="en-US"/>
          </a:p>
        </p:txBody>
      </p:sp>
      <p:pic>
        <p:nvPicPr>
          <p:cNvPr id="5" name="slide.url=https://www.polleverywhere.com/multiple_choice_polls/muPCanqbmR6nBkDbOc3cC?state=opened&amp;flow=Default&amp;onscreen=persist">
            <a:extLst>
              <a:ext uri="{FF2B5EF4-FFF2-40B4-BE49-F238E27FC236}">
                <a16:creationId xmlns:a16="http://schemas.microsoft.com/office/drawing/2014/main" id="{C1F71EEC-99FF-A438-3C9A-8751B06DB653}"/>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20579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28DE-F80A-8DBD-D943-F2476335E64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E682C57-D543-F24B-FDEE-8F91727E4CF3}"/>
              </a:ext>
            </a:extLst>
          </p:cNvPr>
          <p:cNvSpPr>
            <a:spLocks noGrp="1"/>
          </p:cNvSpPr>
          <p:nvPr>
            <p:ph type="pic" sz="quarter" idx="12"/>
          </p:nvPr>
        </p:nvSpPr>
        <p:spPr>
          <a:xfrm>
            <a:off x="5076967" y="1054108"/>
            <a:ext cx="6819286" cy="5648282"/>
          </a:xfrm>
        </p:spPr>
        <p:txBody>
          <a:bodyPr>
            <a:normAutofit/>
          </a:bodyPr>
          <a:lstStyle/>
          <a:p>
            <a:pPr marL="457200" indent="-457200">
              <a:lnSpc>
                <a:spcPct val="100000"/>
              </a:lnSpc>
              <a:spcBef>
                <a:spcPts val="0"/>
              </a:spcBef>
              <a:buFont typeface="+mj-lt"/>
              <a:buAutoNum type="arabicPeriod"/>
            </a:pPr>
            <a:r>
              <a:rPr lang="en-US" sz="2000" dirty="0">
                <a:latin typeface="Avenir Book" panose="02000503020000020003" pitchFamily="2" charset="0"/>
              </a:rPr>
              <a:t>Build your own SQL query within an analysis environment (</a:t>
            </a:r>
            <a:r>
              <a:rPr lang="en-US" sz="2000" dirty="0" err="1">
                <a:latin typeface="Avenir Book" panose="02000503020000020003" pitchFamily="2" charset="0"/>
              </a:rPr>
              <a:t>Jupyter</a:t>
            </a:r>
            <a:r>
              <a:rPr lang="en-US" sz="2000" dirty="0">
                <a:latin typeface="Avenir Book" panose="02000503020000020003" pitchFamily="2" charset="0"/>
              </a:rPr>
              <a:t> Notebooks, </a:t>
            </a:r>
            <a:r>
              <a:rPr lang="en-US" sz="2000" dirty="0" err="1">
                <a:latin typeface="Avenir Book" panose="02000503020000020003" pitchFamily="2" charset="0"/>
              </a:rPr>
              <a:t>Rstudio</a:t>
            </a:r>
            <a:r>
              <a:rPr lang="en-US" sz="2000" dirty="0">
                <a:latin typeface="Avenir Book" panose="02000503020000020003" pitchFamily="2" charset="0"/>
              </a:rPr>
              <a:t>, SAS Studio)</a:t>
            </a:r>
            <a:br>
              <a:rPr lang="en-US" sz="2000" dirty="0">
                <a:latin typeface="Avenir Book" panose="02000503020000020003" pitchFamily="2" charset="0"/>
              </a:rPr>
            </a:br>
            <a:endParaRPr lang="en-US" sz="2000" dirty="0">
              <a:latin typeface="Avenir Book" panose="02000503020000020003" pitchFamily="2" charset="0"/>
            </a:endParaRPr>
          </a:p>
          <a:p>
            <a:pPr marL="457200" indent="-457200">
              <a:lnSpc>
                <a:spcPct val="100000"/>
              </a:lnSpc>
              <a:spcBef>
                <a:spcPts val="0"/>
              </a:spcBef>
              <a:buFont typeface="+mj-lt"/>
              <a:buAutoNum type="arabicPeriod"/>
            </a:pPr>
            <a:endParaRPr lang="en-US" sz="1100" dirty="0">
              <a:latin typeface="Avenir Book" panose="02000503020000020003" pitchFamily="2" charset="0"/>
            </a:endParaRPr>
          </a:p>
          <a:p>
            <a:pPr marL="457200" indent="-457200">
              <a:lnSpc>
                <a:spcPct val="100000"/>
              </a:lnSpc>
              <a:spcBef>
                <a:spcPts val="0"/>
              </a:spcBef>
              <a:buFont typeface="+mj-lt"/>
              <a:buAutoNum type="arabicPeriod"/>
            </a:pPr>
            <a:r>
              <a:rPr lang="en-US" sz="2000" b="1" dirty="0">
                <a:latin typeface="Avenir Book" panose="02000503020000020003" pitchFamily="2" charset="0"/>
              </a:rPr>
              <a:t>Cohort Builder + Dataset Builder</a:t>
            </a:r>
          </a:p>
          <a:p>
            <a:pPr lvl="1">
              <a:lnSpc>
                <a:spcPct val="100000"/>
              </a:lnSpc>
              <a:spcBef>
                <a:spcPts val="0"/>
              </a:spcBef>
            </a:pPr>
            <a:r>
              <a:rPr lang="en-US" sz="1800" dirty="0">
                <a:latin typeface="Avenir Book" panose="02000503020000020003" pitchFamily="2" charset="0"/>
              </a:rPr>
              <a:t>Click and choose</a:t>
            </a:r>
          </a:p>
          <a:p>
            <a:pPr lvl="1">
              <a:lnSpc>
                <a:spcPct val="100000"/>
              </a:lnSpc>
              <a:spcBef>
                <a:spcPts val="0"/>
              </a:spcBef>
            </a:pPr>
            <a:r>
              <a:rPr lang="en-US" sz="1800" dirty="0">
                <a:latin typeface="Avenir Book" panose="02000503020000020003" pitchFamily="2" charset="0"/>
              </a:rPr>
              <a:t>Better for non-SQL users</a:t>
            </a:r>
          </a:p>
          <a:p>
            <a:pPr lvl="1">
              <a:lnSpc>
                <a:spcPct val="100000"/>
              </a:lnSpc>
              <a:spcBef>
                <a:spcPts val="0"/>
              </a:spcBef>
            </a:pPr>
            <a:r>
              <a:rPr lang="en-US" sz="1800" dirty="0">
                <a:latin typeface="Avenir Book" panose="02000503020000020003" pitchFamily="2" charset="0"/>
              </a:rPr>
              <a:t>Less processing</a:t>
            </a:r>
          </a:p>
          <a:p>
            <a:pPr lvl="1">
              <a:lnSpc>
                <a:spcPct val="100000"/>
              </a:lnSpc>
              <a:spcBef>
                <a:spcPts val="0"/>
              </a:spcBef>
            </a:pPr>
            <a:r>
              <a:rPr lang="en-US" sz="1800" dirty="0">
                <a:latin typeface="Avenir Book" panose="02000503020000020003" pitchFamily="2" charset="0"/>
              </a:rPr>
              <a:t>Better for limiting data to what you need</a:t>
            </a:r>
          </a:p>
          <a:p>
            <a:pPr marL="971550" lvl="2" indent="-514350">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dirty="0">
              <a:latin typeface="Avenir Book" panose="02000503020000020003" pitchFamily="2" charset="0"/>
            </a:endParaRPr>
          </a:p>
        </p:txBody>
      </p:sp>
      <p:sp>
        <p:nvSpPr>
          <p:cNvPr id="3" name="Text Placeholder 2">
            <a:extLst>
              <a:ext uri="{FF2B5EF4-FFF2-40B4-BE49-F238E27FC236}">
                <a16:creationId xmlns:a16="http://schemas.microsoft.com/office/drawing/2014/main" id="{8E7CAE0A-C394-EA7A-4DA3-444D82EC323F}"/>
              </a:ext>
            </a:extLst>
          </p:cNvPr>
          <p:cNvSpPr>
            <a:spLocks noGrp="1"/>
          </p:cNvSpPr>
          <p:nvPr>
            <p:ph type="body" sz="quarter" idx="11"/>
          </p:nvPr>
        </p:nvSpPr>
        <p:spPr>
          <a:xfrm>
            <a:off x="609599" y="1678675"/>
            <a:ext cx="3201909" cy="1214276"/>
          </a:xfrm>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8B67F723-A1E3-6E93-B272-5F191AADB712}"/>
              </a:ext>
            </a:extLst>
          </p:cNvPr>
          <p:cNvSpPr>
            <a:spLocks noGrp="1"/>
          </p:cNvSpPr>
          <p:nvPr>
            <p:ph type="body" sz="quarter" idx="15"/>
          </p:nvPr>
        </p:nvSpPr>
        <p:spPr>
          <a:xfrm>
            <a:off x="557872" y="3334126"/>
            <a:ext cx="3030943" cy="266700"/>
          </a:xfrm>
        </p:spPr>
        <p:txBody>
          <a:bodyPr/>
          <a:lstStyle/>
          <a:p>
            <a:r>
              <a:rPr lang="en-US" dirty="0">
                <a:solidFill>
                  <a:schemeClr val="bg1"/>
                </a:solidFill>
              </a:rPr>
              <a:t>Two options</a:t>
            </a:r>
            <a:endParaRPr lang="en-US" dirty="0"/>
          </a:p>
        </p:txBody>
      </p:sp>
      <p:sp>
        <p:nvSpPr>
          <p:cNvPr id="6" name="Slide Number Placeholder 5">
            <a:extLst>
              <a:ext uri="{FF2B5EF4-FFF2-40B4-BE49-F238E27FC236}">
                <a16:creationId xmlns:a16="http://schemas.microsoft.com/office/drawing/2014/main" id="{8A6E966B-44CE-EFF2-2727-686AC7BD2930}"/>
              </a:ext>
            </a:extLst>
          </p:cNvPr>
          <p:cNvSpPr>
            <a:spLocks noGrp="1"/>
          </p:cNvSpPr>
          <p:nvPr>
            <p:ph type="sldNum" sz="quarter" idx="18"/>
          </p:nvPr>
        </p:nvSpPr>
        <p:spPr/>
        <p:txBody>
          <a:bodyPr/>
          <a:lstStyle/>
          <a:p>
            <a:fld id="{548469FB-C78A-B94B-B04A-B5BC8C934F85}" type="slidenum">
              <a:rPr lang="en-US" smtClean="0"/>
              <a:t>23</a:t>
            </a:fld>
            <a:endParaRPr lang="en-US"/>
          </a:p>
        </p:txBody>
      </p:sp>
      <p:pic>
        <p:nvPicPr>
          <p:cNvPr id="5" name="Picture 4">
            <a:extLst>
              <a:ext uri="{FF2B5EF4-FFF2-40B4-BE49-F238E27FC236}">
                <a16:creationId xmlns:a16="http://schemas.microsoft.com/office/drawing/2014/main" id="{0935A675-8DBD-9DFD-B6C5-979DEEB9D92F}"/>
              </a:ext>
            </a:extLst>
          </p:cNvPr>
          <p:cNvPicPr>
            <a:picLocks noChangeAspect="1"/>
          </p:cNvPicPr>
          <p:nvPr/>
        </p:nvPicPr>
        <p:blipFill>
          <a:blip r:embed="rId3"/>
          <a:srcRect l="-331" t="26977"/>
          <a:stretch/>
        </p:blipFill>
        <p:spPr>
          <a:xfrm>
            <a:off x="5538400" y="3894778"/>
            <a:ext cx="4978844" cy="2396839"/>
          </a:xfrm>
          <a:prstGeom prst="rect">
            <a:avLst/>
          </a:prstGeom>
        </p:spPr>
      </p:pic>
    </p:spTree>
    <p:extLst>
      <p:ext uri="{BB962C8B-B14F-4D97-AF65-F5344CB8AC3E}">
        <p14:creationId xmlns:p14="http://schemas.microsoft.com/office/powerpoint/2010/main" val="3349447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0730D-5F99-151C-8D41-B39EF585E022}"/>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DC6CE0-8420-0C81-4A25-D7443EA32982}"/>
              </a:ext>
            </a:extLst>
          </p:cNvPr>
          <p:cNvSpPr>
            <a:spLocks noGrp="1"/>
          </p:cNvSpPr>
          <p:nvPr>
            <p:ph type="pic" sz="quarter" idx="12"/>
          </p:nvPr>
        </p:nvSpPr>
        <p:spPr>
          <a:xfrm>
            <a:off x="4932365" y="533505"/>
            <a:ext cx="6323463" cy="4044670"/>
          </a:xfrm>
        </p:spPr>
        <p:txBody>
          <a:bodyPr>
            <a:normAutofit/>
          </a:bodyPr>
          <a:lstStyle/>
          <a:p>
            <a:pPr>
              <a:lnSpc>
                <a:spcPct val="100000"/>
              </a:lnSpc>
              <a:spcBef>
                <a:spcPts val="0"/>
              </a:spcBef>
            </a:pPr>
            <a:r>
              <a:rPr lang="en-US" sz="2000" dirty="0">
                <a:latin typeface="Avenir Book" panose="02000503020000020003" pitchFamily="2" charset="0"/>
              </a:rPr>
              <a:t>Subset your study population from all participants based on specified criteria using AND/OR operators</a:t>
            </a:r>
          </a:p>
          <a:p>
            <a:pPr lvl="1">
              <a:lnSpc>
                <a:spcPct val="100000"/>
              </a:lnSpc>
              <a:spcBef>
                <a:spcPts val="0"/>
              </a:spcBef>
              <a:buFont typeface="Courier New" panose="02070309020205020404" pitchFamily="49" charset="0"/>
              <a:buChar char="o"/>
            </a:pPr>
            <a:r>
              <a:rPr lang="en-US" sz="2000" dirty="0">
                <a:latin typeface="Avenir Book" panose="02000503020000020003" pitchFamily="2" charset="0"/>
              </a:rPr>
              <a:t>Demographics, conditions, measurements, medications, procedures, and surveys</a:t>
            </a:r>
          </a:p>
          <a:p>
            <a:pPr lvl="1">
              <a:lnSpc>
                <a:spcPct val="100000"/>
              </a:lnSpc>
              <a:spcBef>
                <a:spcPts val="0"/>
              </a:spcBef>
              <a:buFont typeface="Courier New" panose="02070309020205020404" pitchFamily="49" charset="0"/>
              <a:buChar char="o"/>
            </a:pPr>
            <a:endParaRPr lang="en-US" sz="20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Easily select inclusion and exclusion criteria</a:t>
            </a:r>
            <a:br>
              <a:rPr lang="en-US" sz="2000" dirty="0">
                <a:latin typeface="Avenir Book" panose="02000503020000020003" pitchFamily="2" charset="0"/>
              </a:rPr>
            </a:br>
            <a:endParaRPr lang="en-US" sz="20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Add temporal events </a:t>
            </a:r>
          </a:p>
          <a:p>
            <a:pPr lvl="1">
              <a:lnSpc>
                <a:spcPct val="100000"/>
              </a:lnSpc>
              <a:spcBef>
                <a:spcPts val="0"/>
              </a:spcBef>
              <a:buFont typeface="Courier New" panose="02070309020205020404" pitchFamily="49" charset="0"/>
              <a:buChar char="o"/>
            </a:pPr>
            <a:r>
              <a:rPr lang="en-US" sz="2000" dirty="0">
                <a:latin typeface="Avenir Book" panose="02000503020000020003" pitchFamily="2" charset="0"/>
              </a:rPr>
              <a:t>Illness occurs N days before medication was prescribed</a:t>
            </a:r>
          </a:p>
          <a:p>
            <a:pPr marL="457200" lvl="2" indent="0">
              <a:lnSpc>
                <a:spcPct val="120000"/>
              </a:lnSpc>
              <a:spcBef>
                <a:spcPts val="0"/>
              </a:spcBef>
              <a:buNone/>
            </a:pPr>
            <a:endParaRPr lang="en-US" dirty="0">
              <a:latin typeface="Avenir Book" panose="02000503020000020003" pitchFamily="2" charset="0"/>
            </a:endParaRPr>
          </a:p>
          <a:p>
            <a:pPr marL="457200" lvl="2" indent="0">
              <a:lnSpc>
                <a:spcPct val="120000"/>
              </a:lnSpc>
              <a:spcBef>
                <a:spcPts val="0"/>
              </a:spcBef>
              <a:buNone/>
            </a:pPr>
            <a:endParaRPr lang="en-US" dirty="0">
              <a:latin typeface="Avenir Book" panose="02000503020000020003" pitchFamily="2" charset="0"/>
            </a:endParaRPr>
          </a:p>
        </p:txBody>
      </p:sp>
      <p:sp>
        <p:nvSpPr>
          <p:cNvPr id="4" name="Text Placeholder 3">
            <a:extLst>
              <a:ext uri="{FF2B5EF4-FFF2-40B4-BE49-F238E27FC236}">
                <a16:creationId xmlns:a16="http://schemas.microsoft.com/office/drawing/2014/main" id="{C2852A16-863C-741B-8467-E0F4FBF33E49}"/>
              </a:ext>
            </a:extLst>
          </p:cNvPr>
          <p:cNvSpPr>
            <a:spLocks noGrp="1"/>
          </p:cNvSpPr>
          <p:nvPr>
            <p:ph type="body" sz="quarter" idx="15"/>
          </p:nvPr>
        </p:nvSpPr>
        <p:spPr>
          <a:xfrm>
            <a:off x="568656" y="3330054"/>
            <a:ext cx="2760849" cy="270772"/>
          </a:xfrm>
        </p:spPr>
        <p:txBody>
          <a:bodyPr/>
          <a:lstStyle/>
          <a:p>
            <a:r>
              <a:rPr lang="en-US" dirty="0">
                <a:solidFill>
                  <a:schemeClr val="bg1"/>
                </a:solidFill>
              </a:rPr>
              <a:t>Cohort builder</a:t>
            </a:r>
            <a:endParaRPr lang="en-US" dirty="0"/>
          </a:p>
        </p:txBody>
      </p:sp>
      <p:sp>
        <p:nvSpPr>
          <p:cNvPr id="6" name="Slide Number Placeholder 5">
            <a:extLst>
              <a:ext uri="{FF2B5EF4-FFF2-40B4-BE49-F238E27FC236}">
                <a16:creationId xmlns:a16="http://schemas.microsoft.com/office/drawing/2014/main" id="{C3AF76C4-8D97-CB27-9429-0D538717198E}"/>
              </a:ext>
            </a:extLst>
          </p:cNvPr>
          <p:cNvSpPr>
            <a:spLocks noGrp="1"/>
          </p:cNvSpPr>
          <p:nvPr>
            <p:ph type="sldNum" sz="quarter" idx="18"/>
          </p:nvPr>
        </p:nvSpPr>
        <p:spPr/>
        <p:txBody>
          <a:bodyPr/>
          <a:lstStyle/>
          <a:p>
            <a:fld id="{548469FB-C78A-B94B-B04A-B5BC8C934F85}" type="slidenum">
              <a:rPr lang="en-US" smtClean="0"/>
              <a:t>24</a:t>
            </a:fld>
            <a:endParaRPr lang="en-US"/>
          </a:p>
        </p:txBody>
      </p:sp>
      <p:sp>
        <p:nvSpPr>
          <p:cNvPr id="7" name="TextBox 6">
            <a:extLst>
              <a:ext uri="{FF2B5EF4-FFF2-40B4-BE49-F238E27FC236}">
                <a16:creationId xmlns:a16="http://schemas.microsoft.com/office/drawing/2014/main" id="{20166998-8E29-B59E-0AC6-67C25E4B7748}"/>
              </a:ext>
            </a:extLst>
          </p:cNvPr>
          <p:cNvSpPr txBox="1"/>
          <p:nvPr/>
        </p:nvSpPr>
        <p:spPr>
          <a:xfrm>
            <a:off x="5798118" y="4202874"/>
            <a:ext cx="4787900" cy="2031325"/>
          </a:xfrm>
          <a:prstGeom prst="rect">
            <a:avLst/>
          </a:prstGeom>
          <a:noFill/>
        </p:spPr>
        <p:txBody>
          <a:bodyPr wrap="square" rtlCol="0">
            <a:spAutoFit/>
          </a:bodyPr>
          <a:lstStyle/>
          <a:p>
            <a:r>
              <a:rPr lang="en-US" sz="18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Asian, Black, White </a:t>
            </a:r>
          </a:p>
          <a:p>
            <a:pPr marL="285750" indent="-285750">
              <a:buFont typeface="Arial" panose="020B0604020202020204" pitchFamily="34" charset="0"/>
              <a:buChar char="•"/>
            </a:pPr>
            <a:r>
              <a:rPr lang="en-US" u="sng" dirty="0">
                <a:latin typeface="Avenir Book" panose="02000503020000020003" pitchFamily="2" charset="0"/>
              </a:rPr>
              <a:t>Sex</a:t>
            </a:r>
            <a:r>
              <a:rPr lang="en-US" b="1" dirty="0">
                <a:latin typeface="Avenir Book" panose="02000503020000020003" pitchFamily="2" charset="0"/>
              </a:rPr>
              <a:t> -&gt; Woman</a:t>
            </a:r>
          </a:p>
          <a:p>
            <a:pPr marL="285750" indent="-285750">
              <a:buFont typeface="Arial" panose="020B0604020202020204" pitchFamily="34" charset="0"/>
              <a:buChar char="•"/>
            </a:pPr>
            <a:r>
              <a:rPr lang="en-US" sz="1800" u="sng" dirty="0">
                <a:latin typeface="Avenir Book" panose="02000503020000020003" pitchFamily="2" charset="0"/>
              </a:rPr>
              <a:t>Age</a:t>
            </a:r>
            <a:r>
              <a:rPr lang="en-US" sz="1800" b="1" dirty="0">
                <a:latin typeface="Avenir Book" panose="02000503020000020003" pitchFamily="2" charset="0"/>
              </a:rPr>
              <a:t> -&gt; 65</a:t>
            </a:r>
            <a:r>
              <a:rPr lang="en-US" sz="1800" dirty="0">
                <a:latin typeface="Avenir Book" panose="02000503020000020003" pitchFamily="2" charset="0"/>
              </a:rPr>
              <a:t> </a:t>
            </a:r>
            <a:r>
              <a:rPr lang="en-US" sz="1800" b="1" dirty="0">
                <a:latin typeface="Avenir Book" panose="02000503020000020003" pitchFamily="2" charset="0"/>
              </a:rPr>
              <a:t>or older</a:t>
            </a:r>
            <a:endParaRPr lang="en-US" b="1" dirty="0">
              <a:latin typeface="Avenir Book" panose="02000503020000020003" pitchFamily="2" charset="0"/>
            </a:endParaRPr>
          </a:p>
          <a:p>
            <a:pPr marL="285750" indent="-285750">
              <a:buFont typeface="Arial" panose="020B0604020202020204" pitchFamily="34" charset="0"/>
              <a:buChar char="•"/>
            </a:pPr>
            <a:r>
              <a:rPr lang="en-US" sz="1800" u="sng" dirty="0">
                <a:latin typeface="Avenir Book" panose="02000503020000020003" pitchFamily="2" charset="0"/>
              </a:rPr>
              <a:t>Condition</a:t>
            </a:r>
            <a:r>
              <a:rPr lang="en-US" sz="1800" dirty="0">
                <a:latin typeface="Avenir Book" panose="02000503020000020003" pitchFamily="2" charset="0"/>
              </a:rPr>
              <a:t> - Diagnosed with </a:t>
            </a:r>
            <a:r>
              <a:rPr lang="en-US" sz="1800" b="1" dirty="0">
                <a:latin typeface="Avenir Book" panose="02000503020000020003" pitchFamily="2" charset="0"/>
              </a:rPr>
              <a:t>breast cancer </a:t>
            </a:r>
          </a:p>
          <a:p>
            <a:pPr marL="285750" indent="-285750">
              <a:buFont typeface="Arial" panose="020B0604020202020204" pitchFamily="34" charset="0"/>
              <a:buChar char="•"/>
            </a:pPr>
            <a:r>
              <a:rPr lang="en-US" sz="1800" u="sng" dirty="0">
                <a:latin typeface="Avenir Book" panose="02000503020000020003" pitchFamily="2" charset="0"/>
              </a:rPr>
              <a:t>Medication</a:t>
            </a:r>
            <a:r>
              <a:rPr lang="en-US" sz="1800" dirty="0">
                <a:latin typeface="Avenir Book" panose="02000503020000020003" pitchFamily="2" charset="0"/>
              </a:rPr>
              <a:t> -Taking </a:t>
            </a:r>
            <a:r>
              <a:rPr lang="en-US" sz="1800" b="1" dirty="0">
                <a:latin typeface="Avenir Book" panose="02000503020000020003" pitchFamily="2" charset="0"/>
              </a:rPr>
              <a:t>tamoxifen</a:t>
            </a:r>
          </a:p>
          <a:p>
            <a:endParaRPr lang="en-US" dirty="0">
              <a:latin typeface="Avenir Book" panose="02000503020000020003" pitchFamily="2" charset="0"/>
            </a:endParaRPr>
          </a:p>
        </p:txBody>
      </p:sp>
      <p:pic>
        <p:nvPicPr>
          <p:cNvPr id="5" name="Picture 4">
            <a:extLst>
              <a:ext uri="{FF2B5EF4-FFF2-40B4-BE49-F238E27FC236}">
                <a16:creationId xmlns:a16="http://schemas.microsoft.com/office/drawing/2014/main" id="{7F8720A1-3574-226E-B734-6860BDE79275}"/>
              </a:ext>
            </a:extLst>
          </p:cNvPr>
          <p:cNvPicPr>
            <a:picLocks noChangeAspect="1"/>
          </p:cNvPicPr>
          <p:nvPr/>
        </p:nvPicPr>
        <p:blipFill>
          <a:blip r:embed="rId3"/>
          <a:stretch>
            <a:fillRect/>
          </a:stretch>
        </p:blipFill>
        <p:spPr>
          <a:xfrm>
            <a:off x="609600" y="3890981"/>
            <a:ext cx="2870579" cy="2655112"/>
          </a:xfrm>
          <a:prstGeom prst="rect">
            <a:avLst/>
          </a:prstGeom>
        </p:spPr>
      </p:pic>
      <p:sp>
        <p:nvSpPr>
          <p:cNvPr id="10" name="Text Placeholder 2">
            <a:extLst>
              <a:ext uri="{FF2B5EF4-FFF2-40B4-BE49-F238E27FC236}">
                <a16:creationId xmlns:a16="http://schemas.microsoft.com/office/drawing/2014/main" id="{67E2200D-F983-A369-C1D3-DB6D7220E03E}"/>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Tree>
    <p:extLst>
      <p:ext uri="{BB962C8B-B14F-4D97-AF65-F5344CB8AC3E}">
        <p14:creationId xmlns:p14="http://schemas.microsoft.com/office/powerpoint/2010/main" val="2367016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AB19-6E99-41F9-D9B4-7950A594430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ABF16E6-87D5-F7C0-25AE-6AB4544D211E}"/>
              </a:ext>
            </a:extLst>
          </p:cNvPr>
          <p:cNvSpPr>
            <a:spLocks noGrp="1"/>
          </p:cNvSpPr>
          <p:nvPr>
            <p:ph type="pic" sz="quarter" idx="12"/>
          </p:nvPr>
        </p:nvSpPr>
        <p:spPr>
          <a:xfrm>
            <a:off x="5181601" y="491318"/>
            <a:ext cx="6459940" cy="6289727"/>
          </a:xfrm>
        </p:spPr>
        <p:txBody>
          <a:bodyPr>
            <a:normAutofit/>
          </a:bodyPr>
          <a:lstStyle/>
          <a:p>
            <a:pPr>
              <a:lnSpc>
                <a:spcPct val="120000"/>
              </a:lnSpc>
              <a:spcBef>
                <a:spcPts val="0"/>
              </a:spcBef>
            </a:pPr>
            <a:r>
              <a:rPr lang="en" sz="2000" dirty="0">
                <a:latin typeface="Avenir Book" panose="02000503020000020003" pitchFamily="2" charset="0"/>
              </a:rPr>
              <a:t>Variables to include in your analysis</a:t>
            </a:r>
          </a:p>
          <a:p>
            <a:pPr algn="l">
              <a:lnSpc>
                <a:spcPct val="120000"/>
              </a:lnSpc>
              <a:spcBef>
                <a:spcPts val="0"/>
              </a:spcBef>
            </a:pPr>
            <a:r>
              <a:rPr lang="en-US" sz="2000" dirty="0">
                <a:latin typeface="Avenir Book" panose="02000503020000020003" pitchFamily="2" charset="0"/>
              </a:rPr>
              <a:t>Describe information from medical record </a:t>
            </a:r>
          </a:p>
          <a:p>
            <a:pPr lvl="1">
              <a:lnSpc>
                <a:spcPct val="120000"/>
              </a:lnSpc>
              <a:spcBef>
                <a:spcPts val="0"/>
              </a:spcBef>
              <a:buFont typeface="Courier New" panose="02070309020205020404" pitchFamily="49" charset="0"/>
              <a:buChar char="o"/>
            </a:pPr>
            <a:r>
              <a:rPr lang="en-US" sz="1800" dirty="0">
                <a:latin typeface="Avenir Book" panose="02000503020000020003" pitchFamily="2" charset="0"/>
              </a:rPr>
              <a:t>Demographics, conditions, prescription, physical measurements, etc.</a:t>
            </a:r>
          </a:p>
          <a:p>
            <a:pPr algn="l">
              <a:lnSpc>
                <a:spcPct val="120000"/>
              </a:lnSpc>
              <a:spcBef>
                <a:spcPts val="0"/>
              </a:spcBef>
            </a:pPr>
            <a:r>
              <a:rPr lang="en-US" sz="2000" dirty="0">
                <a:latin typeface="Avenir Book" panose="02000503020000020003" pitchFamily="2" charset="0"/>
              </a:rPr>
              <a:t>Organized into </a:t>
            </a:r>
            <a:r>
              <a:rPr lang="en-US" sz="2000" i="1" dirty="0">
                <a:latin typeface="Avenir Book" panose="02000503020000020003" pitchFamily="2" charset="0"/>
              </a:rPr>
              <a:t>concept domains </a:t>
            </a:r>
            <a:r>
              <a:rPr lang="en-US" sz="2000" dirty="0">
                <a:latin typeface="Avenir Book" panose="02000503020000020003" pitchFamily="2" charset="0"/>
              </a:rPr>
              <a:t>which are the subject areas for each concept</a:t>
            </a:r>
          </a:p>
          <a:p>
            <a:pPr>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sz="28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186125D9-FA8E-68B3-4CFB-A5FEFC3435DB}"/>
              </a:ext>
            </a:extLst>
          </p:cNvPr>
          <p:cNvSpPr>
            <a:spLocks noGrp="1"/>
          </p:cNvSpPr>
          <p:nvPr>
            <p:ph type="sldNum" sz="quarter" idx="18"/>
          </p:nvPr>
        </p:nvSpPr>
        <p:spPr/>
        <p:txBody>
          <a:bodyPr/>
          <a:lstStyle/>
          <a:p>
            <a:fld id="{548469FB-C78A-B94B-B04A-B5BC8C934F85}" type="slidenum">
              <a:rPr lang="en-US" smtClean="0"/>
              <a:t>25</a:t>
            </a:fld>
            <a:endParaRPr lang="en-US"/>
          </a:p>
        </p:txBody>
      </p:sp>
      <p:pic>
        <p:nvPicPr>
          <p:cNvPr id="5" name="Picture 4">
            <a:extLst>
              <a:ext uri="{FF2B5EF4-FFF2-40B4-BE49-F238E27FC236}">
                <a16:creationId xmlns:a16="http://schemas.microsoft.com/office/drawing/2014/main" id="{C5321EC1-A8C3-B238-9449-99A562BF2878}"/>
              </a:ext>
            </a:extLst>
          </p:cNvPr>
          <p:cNvPicPr>
            <a:picLocks noChangeAspect="1"/>
          </p:cNvPicPr>
          <p:nvPr/>
        </p:nvPicPr>
        <p:blipFill>
          <a:blip r:embed="rId3"/>
          <a:srcRect r="2752"/>
          <a:stretch/>
        </p:blipFill>
        <p:spPr>
          <a:xfrm>
            <a:off x="609600" y="4149569"/>
            <a:ext cx="2874409" cy="2042349"/>
          </a:xfrm>
          <a:prstGeom prst="rect">
            <a:avLst/>
          </a:prstGeom>
        </p:spPr>
      </p:pic>
      <p:graphicFrame>
        <p:nvGraphicFramePr>
          <p:cNvPr id="12" name="Table 11">
            <a:extLst>
              <a:ext uri="{FF2B5EF4-FFF2-40B4-BE49-F238E27FC236}">
                <a16:creationId xmlns:a16="http://schemas.microsoft.com/office/drawing/2014/main" id="{1E9DAF62-6E05-51BF-000C-91874F0B6251}"/>
              </a:ext>
            </a:extLst>
          </p:cNvPr>
          <p:cNvGraphicFramePr>
            <a:graphicFrameLocks noGrp="1"/>
          </p:cNvGraphicFramePr>
          <p:nvPr>
            <p:extLst>
              <p:ext uri="{D42A27DB-BD31-4B8C-83A1-F6EECF244321}">
                <p14:modId xmlns:p14="http://schemas.microsoft.com/office/powerpoint/2010/main" val="3717336851"/>
              </p:ext>
            </p:extLst>
          </p:nvPr>
        </p:nvGraphicFramePr>
        <p:xfrm>
          <a:off x="5181600" y="2920621"/>
          <a:ext cx="6428095" cy="3470009"/>
        </p:xfrm>
        <a:graphic>
          <a:graphicData uri="http://schemas.openxmlformats.org/drawingml/2006/table">
            <a:tbl>
              <a:tblPr/>
              <a:tblGrid>
                <a:gridCol w="1529842">
                  <a:extLst>
                    <a:ext uri="{9D8B030D-6E8A-4147-A177-3AD203B41FA5}">
                      <a16:colId xmlns:a16="http://schemas.microsoft.com/office/drawing/2014/main" val="2211983636"/>
                    </a:ext>
                  </a:extLst>
                </a:gridCol>
                <a:gridCol w="4898253">
                  <a:extLst>
                    <a:ext uri="{9D8B030D-6E8A-4147-A177-3AD203B41FA5}">
                      <a16:colId xmlns:a16="http://schemas.microsoft.com/office/drawing/2014/main" val="719298210"/>
                    </a:ext>
                  </a:extLst>
                </a:gridCol>
              </a:tblGrid>
              <a:tr h="275809">
                <a:tc>
                  <a:txBody>
                    <a:bodyPr/>
                    <a:lstStyle/>
                    <a:p>
                      <a:pPr algn="ctr" fontAlgn="b"/>
                      <a:r>
                        <a:rPr lang="en-US" sz="1400" b="1" i="0" u="none" strike="noStrike" dirty="0">
                          <a:solidFill>
                            <a:srgbClr val="000000"/>
                          </a:solidFill>
                          <a:effectLst/>
                          <a:latin typeface="Avenir Book" panose="02000503020000020003" pitchFamily="2" charset="0"/>
                        </a:rPr>
                        <a:t>Domain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1" i="0" u="none" strike="noStrike" dirty="0">
                          <a:solidFill>
                            <a:srgbClr val="000000"/>
                          </a:solidFill>
                          <a:effectLst/>
                          <a:latin typeface="Avenir Book" panose="02000503020000020003" pitchFamily="2"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741599"/>
                  </a:ext>
                </a:extLst>
              </a:tr>
              <a:tr h="275809">
                <a:tc>
                  <a:txBody>
                    <a:bodyPr/>
                    <a:lstStyle/>
                    <a:p>
                      <a:pPr algn="ctr" fontAlgn="b"/>
                      <a:r>
                        <a:rPr lang="en-US" sz="1400" b="0" i="0" u="sng" strike="noStrike" dirty="0">
                          <a:solidFill>
                            <a:srgbClr val="000000"/>
                          </a:solidFill>
                          <a:effectLst/>
                          <a:latin typeface="Avenir Book" panose="02000503020000020003" pitchFamily="2" charset="0"/>
                        </a:rPr>
                        <a:t>Conditions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ICD9 or ICD10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965196"/>
                  </a:ext>
                </a:extLst>
              </a:tr>
              <a:tr h="275809">
                <a:tc>
                  <a:txBody>
                    <a:bodyPr/>
                    <a:lstStyle/>
                    <a:p>
                      <a:pPr algn="ctr" fontAlgn="b"/>
                      <a:r>
                        <a:rPr lang="en-US" sz="1400" b="0" i="0" u="none" strike="noStrike" dirty="0">
                          <a:solidFill>
                            <a:srgbClr val="000000"/>
                          </a:solidFill>
                          <a:effectLst/>
                          <a:latin typeface="Avenir Book" panose="02000503020000020003" pitchFamily="2" charset="0"/>
                        </a:rPr>
                        <a:t>Procedures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Listed by ICD9, ICD10, CPT,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533423810"/>
                  </a:ext>
                </a:extLst>
              </a:tr>
              <a:tr h="471477">
                <a:tc>
                  <a:txBody>
                    <a:bodyPr/>
                    <a:lstStyle/>
                    <a:p>
                      <a:pPr algn="ctr" fontAlgn="b"/>
                      <a:r>
                        <a:rPr lang="en-US" sz="1400" b="0" i="0" u="none" strike="noStrike" dirty="0">
                          <a:solidFill>
                            <a:srgbClr val="000000"/>
                          </a:solidFill>
                          <a:effectLst/>
                          <a:latin typeface="Avenir Book" panose="02000503020000020003" pitchFamily="2" charset="0"/>
                        </a:rPr>
                        <a:t>Drugs or Medications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ingredient and organized by therapeutic uses.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311838"/>
                  </a:ext>
                </a:extLst>
              </a:tr>
              <a:tr h="539829">
                <a:tc>
                  <a:txBody>
                    <a:bodyPr/>
                    <a:lstStyle/>
                    <a:p>
                      <a:pPr algn="ctr" fontAlgn="b"/>
                      <a:r>
                        <a:rPr lang="en-US" sz="1400" b="1" i="0" u="none" strike="noStrike" dirty="0">
                          <a:solidFill>
                            <a:srgbClr val="000000"/>
                          </a:solidFill>
                          <a:effectLst/>
                          <a:latin typeface="Avenir Book" panose="02000503020000020003" pitchFamily="2" charset="0"/>
                        </a:rPr>
                        <a:t>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1" i="0" u="none" strike="noStrike" dirty="0">
                          <a:solidFill>
                            <a:srgbClr val="000000"/>
                          </a:solidFill>
                          <a:effectLst/>
                          <a:latin typeface="Avenir Book" panose="02000503020000020003" pitchFamily="2" charset="0"/>
                        </a:rPr>
                        <a:t>Laboratory tests and vital signs, organized in the LOINC code hierarchy.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72987164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Visits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Type of facility where medical care was received (ED, OP, IP).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994685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Questions and associated response options for participant-completed 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29605730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Physical 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At time of participant enrollment: BP, HR, height, weight, BMI, pregnancy, etc.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390988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Demographics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Age, gender, race, ethnicity, and deceased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86995043"/>
                  </a:ext>
                </a:extLst>
              </a:tr>
            </a:tbl>
          </a:graphicData>
        </a:graphic>
      </p:graphicFrame>
      <p:sp>
        <p:nvSpPr>
          <p:cNvPr id="9" name="Text Placeholder 2">
            <a:extLst>
              <a:ext uri="{FF2B5EF4-FFF2-40B4-BE49-F238E27FC236}">
                <a16:creationId xmlns:a16="http://schemas.microsoft.com/office/drawing/2014/main" id="{E63B0490-89C9-2DEB-B409-E0985646EBD5}"/>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0" name="Text Placeholder 3">
            <a:extLst>
              <a:ext uri="{FF2B5EF4-FFF2-40B4-BE49-F238E27FC236}">
                <a16:creationId xmlns:a16="http://schemas.microsoft.com/office/drawing/2014/main" id="{E30B56C8-14AC-2B01-541D-5B3FF12C0C1D}"/>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Concepts</a:t>
            </a:r>
          </a:p>
        </p:txBody>
      </p:sp>
    </p:spTree>
    <p:extLst>
      <p:ext uri="{BB962C8B-B14F-4D97-AF65-F5344CB8AC3E}">
        <p14:creationId xmlns:p14="http://schemas.microsoft.com/office/powerpoint/2010/main" val="3106159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66CD-DB99-8391-A73F-46BE9A741747}"/>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9D54B34-40EB-D33B-5642-1A8862DD6D53}"/>
              </a:ext>
            </a:extLst>
          </p:cNvPr>
          <p:cNvSpPr>
            <a:spLocks noGrp="1"/>
          </p:cNvSpPr>
          <p:nvPr>
            <p:ph type="pic" sz="quarter" idx="12"/>
          </p:nvPr>
        </p:nvSpPr>
        <p:spPr>
          <a:xfrm>
            <a:off x="4796452" y="331334"/>
            <a:ext cx="6462952" cy="6627136"/>
          </a:xfrm>
        </p:spPr>
        <p:txBody>
          <a:bodyPr>
            <a:normAutofit/>
          </a:bodyPr>
          <a:lstStyle/>
          <a:p>
            <a:pPr algn="l"/>
            <a:r>
              <a:rPr lang="en-US" sz="1600" i="1" dirty="0">
                <a:latin typeface="Avenir Book" panose="02000503020000020003" pitchFamily="2" charset="0"/>
              </a:rPr>
              <a:t>Concept sets </a:t>
            </a:r>
            <a:r>
              <a:rPr lang="en-US" sz="1600" dirty="0">
                <a:latin typeface="Avenir Book" panose="02000503020000020003" pitchFamily="2" charset="0"/>
              </a:rPr>
              <a:t>are </a:t>
            </a:r>
            <a:r>
              <a:rPr lang="en-US" sz="1600" b="1" dirty="0">
                <a:latin typeface="Avenir Book" panose="02000503020000020003" pitchFamily="2" charset="0"/>
              </a:rPr>
              <a:t>one or more </a:t>
            </a:r>
            <a:r>
              <a:rPr lang="en-US" sz="1600" dirty="0">
                <a:latin typeface="Avenir Book" panose="02000503020000020003" pitchFamily="2" charset="0"/>
              </a:rPr>
              <a:t>concepts from a particular domain used to create the dataset for your analysis</a:t>
            </a:r>
          </a:p>
          <a:p>
            <a:pPr algn="l"/>
            <a:endParaRPr lang="en-US" sz="1600" dirty="0">
              <a:latin typeface="Georgia" panose="02040502050405020303" pitchFamily="18" charset="0"/>
            </a:endParaRPr>
          </a:p>
          <a:p>
            <a:pPr marL="0" indent="0" algn="l">
              <a:buNone/>
            </a:pPr>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marL="0" indent="0">
              <a:buNone/>
            </a:pPr>
            <a:endParaRPr lang="en-US" sz="1600" dirty="0">
              <a:latin typeface="Georgia" panose="02040502050405020303" pitchFamily="18" charset="0"/>
            </a:endParaRPr>
          </a:p>
          <a:p>
            <a:r>
              <a:rPr lang="en-US" sz="1600" dirty="0">
                <a:latin typeface="Avenir Book" panose="02000503020000020003" pitchFamily="2" charset="0"/>
              </a:rPr>
              <a:t>The values from each concept set becomes its own table under the domain name in the analysis phase</a:t>
            </a:r>
          </a:p>
          <a:p>
            <a:pPr lvl="1">
              <a:buFont typeface="Courier New" panose="02070309020205020404" pitchFamily="49" charset="0"/>
              <a:buChar char="o"/>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0" indent="0">
              <a:buNone/>
            </a:pPr>
            <a:endParaRPr lang="en-US" sz="1600" dirty="0">
              <a:latin typeface="Avenir Book" panose="02000503020000020003" pitchFamily="2" charset="0"/>
            </a:endParaRPr>
          </a:p>
          <a:p>
            <a:endParaRPr lang="en-US" sz="1600" dirty="0">
              <a:latin typeface="Avenir Book" panose="02000503020000020003" pitchFamily="2" charset="0"/>
            </a:endParaRPr>
          </a:p>
          <a:p>
            <a:r>
              <a:rPr lang="en-US" sz="1600" dirty="0">
                <a:latin typeface="Avenir Book" panose="02000503020000020003" pitchFamily="2" charset="0"/>
              </a:rPr>
              <a:t>Remember to include the same concepts from your cohort builder</a:t>
            </a:r>
          </a:p>
          <a:p>
            <a:endParaRPr lang="en-US" sz="900" dirty="0">
              <a:latin typeface="Avenir Book" panose="02000503020000020003" pitchFamily="2" charset="0"/>
            </a:endParaRPr>
          </a:p>
          <a:p>
            <a:r>
              <a:rPr lang="en-US" sz="1600" dirty="0">
                <a:latin typeface="Avenir Book" panose="02000503020000020003" pitchFamily="2" charset="0"/>
              </a:rPr>
              <a:t>After choosing your concept sets, select which values (columns) you’d like to keep</a:t>
            </a:r>
          </a:p>
          <a:p>
            <a:pPr marL="0" indent="0" algn="l">
              <a:buNone/>
            </a:pPr>
            <a:endParaRPr lang="en-US" sz="3000" dirty="0"/>
          </a:p>
          <a:p>
            <a:pPr marL="457200" lvl="2" indent="0">
              <a:lnSpc>
                <a:spcPct val="120000"/>
              </a:lnSpc>
              <a:spcBef>
                <a:spcPts val="0"/>
              </a:spcBef>
              <a:buNone/>
            </a:pPr>
            <a:endParaRPr lang="en-US" sz="3000" dirty="0"/>
          </a:p>
          <a:p>
            <a:pPr marL="457200" lvl="2" indent="0">
              <a:lnSpc>
                <a:spcPct val="120000"/>
              </a:lnSpc>
              <a:spcBef>
                <a:spcPts val="0"/>
              </a:spcBef>
              <a:buNone/>
            </a:pPr>
            <a:endParaRPr lang="en-US" sz="3000" dirty="0"/>
          </a:p>
        </p:txBody>
      </p:sp>
      <p:sp>
        <p:nvSpPr>
          <p:cNvPr id="6" name="Slide Number Placeholder 5">
            <a:extLst>
              <a:ext uri="{FF2B5EF4-FFF2-40B4-BE49-F238E27FC236}">
                <a16:creationId xmlns:a16="http://schemas.microsoft.com/office/drawing/2014/main" id="{F2E149C8-3745-6A9A-C266-59B70E726151}"/>
              </a:ext>
            </a:extLst>
          </p:cNvPr>
          <p:cNvSpPr>
            <a:spLocks noGrp="1"/>
          </p:cNvSpPr>
          <p:nvPr>
            <p:ph type="sldNum" sz="quarter" idx="18"/>
          </p:nvPr>
        </p:nvSpPr>
        <p:spPr/>
        <p:txBody>
          <a:bodyPr/>
          <a:lstStyle/>
          <a:p>
            <a:fld id="{548469FB-C78A-B94B-B04A-B5BC8C934F85}" type="slidenum">
              <a:rPr lang="en-US" smtClean="0"/>
              <a:t>26</a:t>
            </a:fld>
            <a:endParaRPr lang="en-US"/>
          </a:p>
        </p:txBody>
      </p:sp>
      <p:graphicFrame>
        <p:nvGraphicFramePr>
          <p:cNvPr id="8" name="Diagram 7">
            <a:extLst>
              <a:ext uri="{FF2B5EF4-FFF2-40B4-BE49-F238E27FC236}">
                <a16:creationId xmlns:a16="http://schemas.microsoft.com/office/drawing/2014/main" id="{4B2B1051-DA87-BEEF-BB52-36720391EB0A}"/>
              </a:ext>
            </a:extLst>
          </p:cNvPr>
          <p:cNvGraphicFramePr/>
          <p:nvPr>
            <p:extLst>
              <p:ext uri="{D42A27DB-BD31-4B8C-83A1-F6EECF244321}">
                <p14:modId xmlns:p14="http://schemas.microsoft.com/office/powerpoint/2010/main" val="962442859"/>
              </p:ext>
            </p:extLst>
          </p:nvPr>
        </p:nvGraphicFramePr>
        <p:xfrm>
          <a:off x="5731339" y="1038277"/>
          <a:ext cx="4022261" cy="1854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a:extLst>
              <a:ext uri="{FF2B5EF4-FFF2-40B4-BE49-F238E27FC236}">
                <a16:creationId xmlns:a16="http://schemas.microsoft.com/office/drawing/2014/main" id="{FDB3ED86-8B91-DC04-5774-68BEC305BB19}"/>
              </a:ext>
            </a:extLst>
          </p:cNvPr>
          <p:cNvPicPr>
            <a:picLocks noChangeAspect="1"/>
          </p:cNvPicPr>
          <p:nvPr/>
        </p:nvPicPr>
        <p:blipFill>
          <a:blip r:embed="rId8"/>
          <a:srcRect r="2752"/>
          <a:stretch/>
        </p:blipFill>
        <p:spPr>
          <a:xfrm>
            <a:off x="609600" y="4149569"/>
            <a:ext cx="2874409" cy="2042349"/>
          </a:xfrm>
          <a:prstGeom prst="rect">
            <a:avLst/>
          </a:prstGeom>
        </p:spPr>
      </p:pic>
      <p:sp>
        <p:nvSpPr>
          <p:cNvPr id="14" name="Text Placeholder 2">
            <a:extLst>
              <a:ext uri="{FF2B5EF4-FFF2-40B4-BE49-F238E27FC236}">
                <a16:creationId xmlns:a16="http://schemas.microsoft.com/office/drawing/2014/main" id="{E6DE22CF-9C59-234C-ADB7-F2A5282C1636}"/>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5" name="Text Placeholder 3">
            <a:extLst>
              <a:ext uri="{FF2B5EF4-FFF2-40B4-BE49-F238E27FC236}">
                <a16:creationId xmlns:a16="http://schemas.microsoft.com/office/drawing/2014/main" id="{C8DAB06A-F7DF-4757-88BF-448AB21CF2BB}"/>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 sets</a:t>
            </a:r>
          </a:p>
        </p:txBody>
      </p:sp>
      <p:pic>
        <p:nvPicPr>
          <p:cNvPr id="3" name="Picture 2">
            <a:extLst>
              <a:ext uri="{FF2B5EF4-FFF2-40B4-BE49-F238E27FC236}">
                <a16:creationId xmlns:a16="http://schemas.microsoft.com/office/drawing/2014/main" id="{5A7174CF-A600-B867-1BA9-AC757FED42CE}"/>
              </a:ext>
            </a:extLst>
          </p:cNvPr>
          <p:cNvPicPr>
            <a:picLocks noChangeAspect="1"/>
          </p:cNvPicPr>
          <p:nvPr/>
        </p:nvPicPr>
        <p:blipFill>
          <a:blip r:embed="rId9"/>
          <a:stretch>
            <a:fillRect/>
          </a:stretch>
        </p:blipFill>
        <p:spPr>
          <a:xfrm>
            <a:off x="4237892" y="3599894"/>
            <a:ext cx="7772400" cy="1612608"/>
          </a:xfrm>
          <a:prstGeom prst="rect">
            <a:avLst/>
          </a:prstGeom>
          <a:ln>
            <a:solidFill>
              <a:schemeClr val="tx1"/>
            </a:solidFill>
          </a:ln>
        </p:spPr>
      </p:pic>
    </p:spTree>
    <p:extLst>
      <p:ext uri="{BB962C8B-B14F-4D97-AF65-F5344CB8AC3E}">
        <p14:creationId xmlns:p14="http://schemas.microsoft.com/office/powerpoint/2010/main" val="1533948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609600" y="551286"/>
            <a:ext cx="11360800" cy="763600"/>
          </a:xfrm>
          <a:prstGeom prst="rect">
            <a:avLst/>
          </a:prstGeom>
        </p:spPr>
        <p:txBody>
          <a:bodyPr spcFirstLastPara="1" vert="horz" wrap="square" lIns="121900" tIns="121900" rIns="121900" bIns="121900" rtlCol="0" anchor="t" anchorCtr="0">
            <a:normAutofit fontScale="90000"/>
          </a:bodyPr>
          <a:lstStyle/>
          <a:p>
            <a:r>
              <a:rPr lang="en" dirty="0">
                <a:latin typeface="YaleNew" panose="02000602050000020003" pitchFamily="2" charset="77"/>
              </a:rPr>
              <a:t>Concept Hierarchy for </a:t>
            </a:r>
            <a:r>
              <a:rPr lang="en" u="sng" dirty="0">
                <a:latin typeface="YaleNew" panose="02000602050000020003" pitchFamily="2" charset="77"/>
              </a:rPr>
              <a:t>Condition</a:t>
            </a:r>
            <a:r>
              <a:rPr lang="en" dirty="0">
                <a:latin typeface="YaleNew" panose="02000602050000020003" pitchFamily="2" charset="77"/>
              </a:rPr>
              <a:t> “Atrial fibrillation”</a:t>
            </a:r>
            <a:endParaRPr dirty="0">
              <a:latin typeface="YaleNew" panose="02000602050000020003" pitchFamily="2" charset="77"/>
            </a:endParaRPr>
          </a:p>
        </p:txBody>
      </p:sp>
      <p:sp>
        <p:nvSpPr>
          <p:cNvPr id="148" name="Google Shape;148;p25"/>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
              <a:pPr/>
              <a:t>27</a:t>
            </a:fld>
            <a:endParaRPr/>
          </a:p>
        </p:txBody>
      </p:sp>
      <p:sp>
        <p:nvSpPr>
          <p:cNvPr id="3" name="TextBox 2">
            <a:extLst>
              <a:ext uri="{FF2B5EF4-FFF2-40B4-BE49-F238E27FC236}">
                <a16:creationId xmlns:a16="http://schemas.microsoft.com/office/drawing/2014/main" id="{9713AC52-7127-1CCC-2B80-26244336CB18}"/>
              </a:ext>
            </a:extLst>
          </p:cNvPr>
          <p:cNvSpPr txBox="1"/>
          <p:nvPr/>
        </p:nvSpPr>
        <p:spPr>
          <a:xfrm>
            <a:off x="9283700" y="1820106"/>
            <a:ext cx="2635211" cy="4247317"/>
          </a:xfrm>
          <a:prstGeom prst="rect">
            <a:avLst/>
          </a:prstGeom>
          <a:noFill/>
        </p:spPr>
        <p:txBody>
          <a:bodyPr wrap="square" rtlCol="0">
            <a:spAutoFit/>
          </a:bodyPr>
          <a:lstStyle/>
          <a:p>
            <a:pPr algn="ctr"/>
            <a:r>
              <a:rPr lang="en-US" dirty="0">
                <a:latin typeface="Avenir Book" panose="02000503020000020003" pitchFamily="2" charset="0"/>
              </a:rPr>
              <a:t>General: </a:t>
            </a:r>
          </a:p>
          <a:p>
            <a:pPr algn="ctr"/>
            <a:r>
              <a:rPr lang="en-US" dirty="0">
                <a:latin typeface="Avenir Book" panose="02000503020000020003" pitchFamily="2" charset="0"/>
              </a:rPr>
              <a:t>a larger pool of patients </a:t>
            </a: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r>
              <a:rPr lang="en-US" dirty="0">
                <a:latin typeface="Avenir Book" panose="02000503020000020003" pitchFamily="2" charset="0"/>
              </a:rPr>
              <a:t>Specific: </a:t>
            </a:r>
          </a:p>
          <a:p>
            <a:pPr algn="ctr"/>
            <a:r>
              <a:rPr lang="en-US" dirty="0">
                <a:latin typeface="Avenir Book" panose="02000503020000020003" pitchFamily="2" charset="0"/>
              </a:rPr>
              <a:t>smaller pool of patients</a:t>
            </a:r>
          </a:p>
        </p:txBody>
      </p:sp>
      <p:graphicFrame>
        <p:nvGraphicFramePr>
          <p:cNvPr id="2" name="Diagram 1">
            <a:extLst>
              <a:ext uri="{FF2B5EF4-FFF2-40B4-BE49-F238E27FC236}">
                <a16:creationId xmlns:a16="http://schemas.microsoft.com/office/drawing/2014/main" id="{5927722D-5070-80BA-E126-B8B125CFEB3C}"/>
              </a:ext>
            </a:extLst>
          </p:cNvPr>
          <p:cNvGraphicFramePr/>
          <p:nvPr>
            <p:extLst>
              <p:ext uri="{D42A27DB-BD31-4B8C-83A1-F6EECF244321}">
                <p14:modId xmlns:p14="http://schemas.microsoft.com/office/powerpoint/2010/main" val="4136012465"/>
              </p:ext>
            </p:extLst>
          </p:nvPr>
        </p:nvGraphicFramePr>
        <p:xfrm>
          <a:off x="1027446" y="12519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 name="Straight Arrow Connector 4">
            <a:extLst>
              <a:ext uri="{FF2B5EF4-FFF2-40B4-BE49-F238E27FC236}">
                <a16:creationId xmlns:a16="http://schemas.microsoft.com/office/drawing/2014/main" id="{8F36E9F8-AA86-111D-FFCE-3BF26F5E783C}"/>
              </a:ext>
            </a:extLst>
          </p:cNvPr>
          <p:cNvCxnSpPr>
            <a:cxnSpLocks/>
          </p:cNvCxnSpPr>
          <p:nvPr/>
        </p:nvCxnSpPr>
        <p:spPr>
          <a:xfrm>
            <a:off x="10573555" y="2552131"/>
            <a:ext cx="0" cy="261229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070482-EF80-8B1D-3DFB-33651C065695}"/>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A996235D-2199-7FC7-EEB5-5A27AABD9165}"/>
              </a:ext>
            </a:extLst>
          </p:cNvPr>
          <p:cNvSpPr>
            <a:spLocks noGrp="1"/>
          </p:cNvSpPr>
          <p:nvPr>
            <p:ph type="body" sz="quarter" idx="15"/>
          </p:nvPr>
        </p:nvSpPr>
        <p:spPr>
          <a:xfrm>
            <a:off x="497984" y="3185056"/>
            <a:ext cx="3281536" cy="3171294"/>
          </a:xfrm>
        </p:spPr>
        <p:txBody>
          <a:bodyPr/>
          <a:lstStyle/>
          <a:p>
            <a:r>
              <a:rPr lang="en-US" dirty="0"/>
              <a:t>Observational Medical Outcomes Partnership (OMOP) Common Data Model (CDM) Concepts</a:t>
            </a:r>
          </a:p>
          <a:p>
            <a:endParaRPr lang="en-US" dirty="0"/>
          </a:p>
          <a:p>
            <a:r>
              <a:rPr lang="en-US" altLang="en-US" i="0" dirty="0"/>
              <a:t>Explore these standardized vocabularies through </a:t>
            </a:r>
            <a:r>
              <a:rPr lang="en-US" altLang="en-US" i="0" dirty="0">
                <a:hlinkClick r:id="rId3"/>
              </a:rPr>
              <a:t>Athena</a:t>
            </a:r>
            <a:endParaRPr lang="en-US" altLang="en-US" i="0" dirty="0"/>
          </a:p>
          <a:p>
            <a:endParaRPr lang="en-US" i="0" dirty="0"/>
          </a:p>
          <a:p>
            <a:r>
              <a:rPr lang="en-US" i="0" dirty="0"/>
              <a:t>*Denotes where standards concept IDs are derived from</a:t>
            </a:r>
          </a:p>
          <a:p>
            <a:endParaRPr lang="en-US" dirty="0"/>
          </a:p>
        </p:txBody>
      </p:sp>
      <p:sp>
        <p:nvSpPr>
          <p:cNvPr id="5" name="Slide Number Placeholder 4">
            <a:extLst>
              <a:ext uri="{FF2B5EF4-FFF2-40B4-BE49-F238E27FC236}">
                <a16:creationId xmlns:a16="http://schemas.microsoft.com/office/drawing/2014/main" id="{9B1B3D4A-F324-4D07-DF74-192C30190DC7}"/>
              </a:ext>
            </a:extLst>
          </p:cNvPr>
          <p:cNvSpPr>
            <a:spLocks noGrp="1"/>
          </p:cNvSpPr>
          <p:nvPr>
            <p:ph type="sldNum" sz="quarter" idx="18"/>
          </p:nvPr>
        </p:nvSpPr>
        <p:spPr/>
        <p:txBody>
          <a:bodyPr/>
          <a:lstStyle/>
          <a:p>
            <a:fld id="{548469FB-C78A-B94B-B04A-B5BC8C934F85}" type="slidenum">
              <a:rPr lang="en-US" smtClean="0"/>
              <a:t>28</a:t>
            </a:fld>
            <a:endParaRPr lang="en-US"/>
          </a:p>
        </p:txBody>
      </p:sp>
      <p:sp>
        <p:nvSpPr>
          <p:cNvPr id="2" name="TextBox 1">
            <a:extLst>
              <a:ext uri="{FF2B5EF4-FFF2-40B4-BE49-F238E27FC236}">
                <a16:creationId xmlns:a16="http://schemas.microsoft.com/office/drawing/2014/main" id="{7D4EC2B2-C52D-5E7C-74D3-2124856F4B22}"/>
              </a:ext>
            </a:extLst>
          </p:cNvPr>
          <p:cNvSpPr txBox="1"/>
          <p:nvPr/>
        </p:nvSpPr>
        <p:spPr>
          <a:xfrm>
            <a:off x="4753811" y="751344"/>
            <a:ext cx="6599989" cy="5355312"/>
          </a:xfrm>
          <a:prstGeom prst="rect">
            <a:avLst/>
          </a:prstGeom>
          <a:noFill/>
        </p:spPr>
        <p:txBody>
          <a:bodyPr wrap="square" rtlCol="0">
            <a:spAutoFit/>
          </a:bodyPr>
          <a:lstStyle/>
          <a:p>
            <a:r>
              <a:rPr lang="en-US" b="1" dirty="0">
                <a:latin typeface="Avenir Book" panose="02000503020000020003" pitchFamily="2" charset="0"/>
              </a:rPr>
              <a:t>OMOP CDM </a:t>
            </a:r>
            <a:r>
              <a:rPr lang="en-US" dirty="0">
                <a:latin typeface="Avenir Book" panose="02000503020000020003" pitchFamily="2" charset="0"/>
              </a:rPr>
              <a:t>is an open-source standard that enables consistent analysis across multiple healthcare databases by standardizing how medical data are organized and coded</a:t>
            </a:r>
          </a:p>
          <a:p>
            <a:endParaRPr lang="en-US" dirty="0">
              <a:latin typeface="Avenir Book" panose="02000503020000020003" pitchFamily="2" charset="0"/>
            </a:endParaRPr>
          </a:p>
          <a:p>
            <a:r>
              <a:rPr lang="en-US" b="1" dirty="0">
                <a:latin typeface="Avenir Book" panose="02000503020000020003" pitchFamily="2" charset="0"/>
              </a:rPr>
              <a:t>OMOP Concepts </a:t>
            </a:r>
            <a:r>
              <a:rPr lang="en-US" dirty="0">
                <a:latin typeface="Avenir Book" panose="02000503020000020003" pitchFamily="2" charset="0"/>
              </a:rPr>
              <a:t>are standardized units of clinical meaning, each with a unique numeric identifier (</a:t>
            </a:r>
            <a:r>
              <a:rPr lang="en-US" dirty="0" err="1">
                <a:latin typeface="Avenir Book" panose="02000503020000020003" pitchFamily="2" charset="0"/>
              </a:rPr>
              <a:t>concept_id</a:t>
            </a:r>
            <a:r>
              <a:rPr lang="en-US" dirty="0">
                <a:latin typeface="Avenir Book" panose="02000503020000020003" pitchFamily="2" charset="0"/>
              </a:rPr>
              <a:t>) used for the following domains:</a:t>
            </a:r>
          </a:p>
          <a:p>
            <a:pPr marL="742950" lvl="1" indent="-285750">
              <a:buFont typeface="Arial" panose="020B0604020202020204" pitchFamily="34" charset="0"/>
              <a:buChar char="•"/>
            </a:pPr>
            <a:r>
              <a:rPr lang="en-US" dirty="0">
                <a:latin typeface="Avenir Book" panose="02000503020000020003" pitchFamily="2" charset="0"/>
              </a:rPr>
              <a:t>Medications (Drugs) - *</a:t>
            </a:r>
            <a:r>
              <a:rPr lang="en-US" b="1" i="1" dirty="0" err="1">
                <a:latin typeface="Avenir Book" panose="02000503020000020003" pitchFamily="2" charset="0"/>
              </a:rPr>
              <a:t>RxNorm</a:t>
            </a:r>
            <a:endParaRPr lang="en-US" b="1" i="1"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Conditions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Procedures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Devices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Observations (including surveys)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Measurements (Labs) - </a:t>
            </a:r>
            <a:r>
              <a:rPr lang="en-US" b="1" i="1" dirty="0">
                <a:latin typeface="Avenir Book" panose="02000503020000020003" pitchFamily="2" charset="0"/>
              </a:rPr>
              <a:t>*LOINC</a:t>
            </a:r>
          </a:p>
          <a:p>
            <a:pPr lvl="0" eaLnBrk="0" fontAlgn="base" hangingPunct="0">
              <a:spcBef>
                <a:spcPct val="0"/>
              </a:spcBef>
              <a:spcAft>
                <a:spcPct val="0"/>
              </a:spcAft>
            </a:pPr>
            <a:endParaRPr lang="en-US" altLang="en-US" b="1" dirty="0">
              <a:solidFill>
                <a:srgbClr val="000000"/>
              </a:solidFill>
              <a:latin typeface="Avenir Book" panose="02000503020000020003" pitchFamily="2" charset="0"/>
            </a:endParaRPr>
          </a:p>
          <a:p>
            <a:pPr eaLnBrk="0" fontAlgn="base" hangingPunct="0">
              <a:spcBef>
                <a:spcPct val="0"/>
              </a:spcBef>
              <a:spcAft>
                <a:spcPct val="0"/>
              </a:spcAft>
            </a:pPr>
            <a:r>
              <a:rPr lang="en-US" altLang="en-US" dirty="0">
                <a:solidFill>
                  <a:srgbClr val="000000"/>
                </a:solidFill>
                <a:latin typeface="Avenir Book" panose="02000503020000020003" pitchFamily="2" charset="0"/>
              </a:rPr>
              <a:t>Forces all variations of the same clinical concept to map to one </a:t>
            </a:r>
            <a:r>
              <a:rPr lang="en-US" altLang="en-US" b="1" dirty="0">
                <a:solidFill>
                  <a:srgbClr val="000000"/>
                </a:solidFill>
                <a:latin typeface="Avenir Book" panose="02000503020000020003" pitchFamily="2" charset="0"/>
              </a:rPr>
              <a:t>Standard Concept IDs</a:t>
            </a:r>
            <a:r>
              <a:rPr lang="en-US" altLang="en-US" dirty="0">
                <a:solidFill>
                  <a:srgbClr val="000000"/>
                </a:solidFill>
                <a:latin typeface="Avenir Book" panose="02000503020000020003" pitchFamily="2" charset="0"/>
              </a:rPr>
              <a:t>  to use for all analytical work</a:t>
            </a:r>
          </a:p>
          <a:p>
            <a:pPr lvl="0" eaLnBrk="0" fontAlgn="base" hangingPunct="0">
              <a:spcBef>
                <a:spcPct val="0"/>
              </a:spcBef>
              <a:spcAft>
                <a:spcPct val="0"/>
              </a:spcAft>
            </a:pPr>
            <a:endParaRPr lang="en-US" altLang="en-US"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dirty="0">
                <a:solidFill>
                  <a:srgbClr val="000000"/>
                </a:solidFill>
                <a:latin typeface="Avenir Book" panose="02000503020000020003" pitchFamily="2" charset="0"/>
              </a:rPr>
              <a:t>Making research </a:t>
            </a:r>
            <a:r>
              <a:rPr lang="en-US" altLang="en-US" b="1" dirty="0">
                <a:solidFill>
                  <a:srgbClr val="000000"/>
                </a:solidFill>
                <a:latin typeface="Avenir Book" panose="02000503020000020003" pitchFamily="2" charset="0"/>
              </a:rPr>
              <a:t>comparable</a:t>
            </a:r>
            <a:r>
              <a:rPr lang="en-US" altLang="en-US" dirty="0">
                <a:solidFill>
                  <a:srgbClr val="000000"/>
                </a:solidFill>
                <a:latin typeface="Avenir Book" panose="02000503020000020003" pitchFamily="2" charset="0"/>
              </a:rPr>
              <a:t> across institutions by enabling </a:t>
            </a:r>
            <a:r>
              <a:rPr lang="en-US" altLang="en-US" b="1" dirty="0">
                <a:solidFill>
                  <a:srgbClr val="000000"/>
                </a:solidFill>
                <a:latin typeface="Avenir Book" panose="02000503020000020003" pitchFamily="2" charset="0"/>
              </a:rPr>
              <a:t>reproducibility</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sharing</a:t>
            </a:r>
          </a:p>
        </p:txBody>
      </p:sp>
    </p:spTree>
    <p:extLst>
      <p:ext uri="{BB962C8B-B14F-4D97-AF65-F5344CB8AC3E}">
        <p14:creationId xmlns:p14="http://schemas.microsoft.com/office/powerpoint/2010/main" val="1184809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0B17-F039-67A5-0AB0-2DAC061E5A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259CA2D-73EF-9212-B21A-644BD13C35AA}"/>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2C0E88D1-7BB3-C90E-3DDC-48BA3992414D}"/>
              </a:ext>
            </a:extLst>
          </p:cNvPr>
          <p:cNvSpPr>
            <a:spLocks noGrp="1"/>
          </p:cNvSpPr>
          <p:nvPr>
            <p:ph type="body" sz="quarter" idx="15"/>
          </p:nvPr>
        </p:nvSpPr>
        <p:spPr>
          <a:xfrm>
            <a:off x="497984" y="3185056"/>
            <a:ext cx="3281536" cy="3171294"/>
          </a:xfrm>
        </p:spPr>
        <p:txBody>
          <a:bodyPr/>
          <a:lstStyle/>
          <a:p>
            <a:r>
              <a:rPr lang="en-US" dirty="0"/>
              <a:t>Observational Medical Outcomes Partnership (OMOP) CDM Concepts</a:t>
            </a:r>
          </a:p>
          <a:p>
            <a:endParaRPr lang="en-US" dirty="0"/>
          </a:p>
          <a:p>
            <a:r>
              <a:rPr lang="en-US" altLang="en-US" i="0" dirty="0"/>
              <a:t>SNOMED-CT and OMOP CDM</a:t>
            </a:r>
          </a:p>
        </p:txBody>
      </p:sp>
      <p:sp>
        <p:nvSpPr>
          <p:cNvPr id="5" name="Slide Number Placeholder 4">
            <a:extLst>
              <a:ext uri="{FF2B5EF4-FFF2-40B4-BE49-F238E27FC236}">
                <a16:creationId xmlns:a16="http://schemas.microsoft.com/office/drawing/2014/main" id="{2DF4A532-A937-E61A-C4D3-66AADD1512F5}"/>
              </a:ext>
            </a:extLst>
          </p:cNvPr>
          <p:cNvSpPr>
            <a:spLocks noGrp="1"/>
          </p:cNvSpPr>
          <p:nvPr>
            <p:ph type="sldNum" sz="quarter" idx="18"/>
          </p:nvPr>
        </p:nvSpPr>
        <p:spPr/>
        <p:txBody>
          <a:bodyPr/>
          <a:lstStyle/>
          <a:p>
            <a:fld id="{548469FB-C78A-B94B-B04A-B5BC8C934F85}" type="slidenum">
              <a:rPr lang="en-US" smtClean="0"/>
              <a:t>29</a:t>
            </a:fld>
            <a:endParaRPr lang="en-US"/>
          </a:p>
        </p:txBody>
      </p:sp>
      <p:sp>
        <p:nvSpPr>
          <p:cNvPr id="2" name="TextBox 1">
            <a:extLst>
              <a:ext uri="{FF2B5EF4-FFF2-40B4-BE49-F238E27FC236}">
                <a16:creationId xmlns:a16="http://schemas.microsoft.com/office/drawing/2014/main" id="{F36FD501-EB22-A0C8-7B41-6299FD690A13}"/>
              </a:ext>
            </a:extLst>
          </p:cNvPr>
          <p:cNvSpPr txBox="1"/>
          <p:nvPr/>
        </p:nvSpPr>
        <p:spPr>
          <a:xfrm>
            <a:off x="4753811" y="573771"/>
            <a:ext cx="6599989" cy="5940088"/>
          </a:xfrm>
          <a:prstGeom prst="rect">
            <a:avLst/>
          </a:prstGeom>
          <a:noFill/>
        </p:spPr>
        <p:txBody>
          <a:bodyPr wrap="square" rtlCol="0">
            <a:spAutoFit/>
          </a:bodyPr>
          <a:lstStyle/>
          <a:p>
            <a:r>
              <a:rPr lang="en-US" b="1" dirty="0">
                <a:latin typeface="Avenir Book" panose="02000503020000020003" pitchFamily="2" charset="0"/>
              </a:rPr>
              <a:t>Domains that use SNOMED-CT, </a:t>
            </a:r>
            <a:r>
              <a:rPr lang="en-US" altLang="en-US" dirty="0">
                <a:solidFill>
                  <a:srgbClr val="000000"/>
                </a:solidFill>
                <a:latin typeface="Avenir Book" panose="02000503020000020003" pitchFamily="2" charset="0"/>
              </a:rPr>
              <a:t>often use disparate, non-standard </a:t>
            </a:r>
            <a:r>
              <a:rPr lang="en-US" altLang="en-US" b="1" dirty="0">
                <a:solidFill>
                  <a:srgbClr val="000000"/>
                </a:solidFill>
                <a:latin typeface="Avenir Book" panose="02000503020000020003" pitchFamily="2" charset="0"/>
              </a:rPr>
              <a:t>source codes</a:t>
            </a:r>
            <a:r>
              <a:rPr lang="en-US" altLang="en-US" dirty="0">
                <a:solidFill>
                  <a:srgbClr val="000000"/>
                </a:solidFill>
                <a:latin typeface="Avenir Book" panose="02000503020000020003" pitchFamily="2" charset="0"/>
              </a:rPr>
              <a:t> primarily designed for billing</a:t>
            </a:r>
            <a:endParaRPr lang="en-US" altLang="en-US" dirty="0">
              <a:latin typeface="Avenir Book" panose="02000503020000020003" pitchFamily="2" charset="0"/>
            </a:endParaRPr>
          </a:p>
          <a:p>
            <a:endParaRPr lang="en-US" dirty="0">
              <a:latin typeface="Avenir Book" panose="02000503020000020003" pitchFamily="2" charset="0"/>
            </a:endParaRPr>
          </a:p>
          <a:p>
            <a:r>
              <a:rPr lang="en-US" dirty="0">
                <a:latin typeface="Avenir Book" panose="02000503020000020003" pitchFamily="2" charset="0"/>
              </a:rPr>
              <a:t>Source codes include:</a:t>
            </a: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ICD9/10 (</a:t>
            </a:r>
            <a:r>
              <a:rPr lang="en-US" dirty="0">
                <a:latin typeface="Avenir Book" panose="02000503020000020003" pitchFamily="2" charset="0"/>
              </a:rPr>
              <a:t>international Classification of Diseases)</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CPT4 (</a:t>
            </a:r>
            <a:r>
              <a:rPr lang="en-US" dirty="0">
                <a:latin typeface="Avenir Book" panose="02000503020000020003" pitchFamily="2" charset="0"/>
              </a:rPr>
              <a:t>Current Procedural Terminology)</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Local/Proprietary Codes</a:t>
            </a:r>
          </a:p>
          <a:p>
            <a:pPr marL="285750" indent="-285750">
              <a:buFont typeface="Arial" panose="020B0604020202020204" pitchFamily="34" charset="0"/>
              <a:buChar char="•"/>
            </a:pPr>
            <a:r>
              <a:rPr lang="en-US" dirty="0">
                <a:latin typeface="Avenir Book" panose="02000503020000020003" pitchFamily="2" charset="0"/>
              </a:rPr>
              <a:t>Source SNOMED-CT</a:t>
            </a:r>
            <a:endParaRPr lang="en-US" altLang="en-US" dirty="0">
              <a:solidFill>
                <a:srgbClr val="000000"/>
              </a:solidFill>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dirty="0">
                <a:solidFill>
                  <a:srgbClr val="000000"/>
                </a:solidFill>
                <a:latin typeface="Avenir Book" panose="02000503020000020003" pitchFamily="2" charset="0"/>
              </a:rPr>
              <a:t>SNOMED-CT is designated as the standard for OMOP Concept IDs because of its </a:t>
            </a:r>
            <a:r>
              <a:rPr lang="en-US" altLang="en-US" b="1" dirty="0">
                <a:solidFill>
                  <a:srgbClr val="000000"/>
                </a:solidFill>
                <a:latin typeface="Avenir Book" panose="02000503020000020003" pitchFamily="2" charset="0"/>
              </a:rPr>
              <a:t>hierarchal structure</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clinical granularity</a:t>
            </a:r>
          </a:p>
          <a:p>
            <a:endParaRPr lang="en-US" altLang="en-US" b="1" dirty="0">
              <a:solidFill>
                <a:srgbClr val="000000"/>
              </a:solidFill>
              <a:latin typeface="Avenir Book" panose="02000503020000020003" pitchFamily="2" charset="0"/>
            </a:endParaRPr>
          </a:p>
          <a:p>
            <a:r>
              <a:rPr lang="en-US" altLang="en-US" b="1" dirty="0">
                <a:solidFill>
                  <a:srgbClr val="000000"/>
                </a:solidFill>
                <a:latin typeface="Avenir Book" panose="02000503020000020003" pitchFamily="2" charset="0"/>
              </a:rPr>
              <a:t>This way </a:t>
            </a:r>
            <a:r>
              <a:rPr lang="en-US" altLang="en-US" dirty="0">
                <a:solidFill>
                  <a:srgbClr val="000000"/>
                </a:solidFill>
                <a:latin typeface="Avenir Book" panose="02000503020000020003" pitchFamily="2" charset="0"/>
              </a:rPr>
              <a:t>a patient coded with </a:t>
            </a:r>
            <a:r>
              <a:rPr lang="en-US" altLang="en-US" b="1" dirty="0">
                <a:solidFill>
                  <a:srgbClr val="000000"/>
                </a:solidFill>
                <a:latin typeface="Avenir Book" panose="02000503020000020003" pitchFamily="2" charset="0"/>
              </a:rPr>
              <a:t>ICD-10</a:t>
            </a:r>
            <a:r>
              <a:rPr lang="en-US" altLang="en-US" dirty="0">
                <a:solidFill>
                  <a:srgbClr val="000000"/>
                </a:solidFill>
                <a:latin typeface="Avenir Book" panose="02000503020000020003" pitchFamily="2" charset="0"/>
              </a:rPr>
              <a:t> in one site maps to the </a:t>
            </a:r>
            <a:r>
              <a:rPr lang="en-US" altLang="en-US" b="1" dirty="0">
                <a:solidFill>
                  <a:srgbClr val="000000"/>
                </a:solidFill>
                <a:latin typeface="Avenir Book" panose="02000503020000020003" pitchFamily="2" charset="0"/>
              </a:rPr>
              <a:t>exact same ID</a:t>
            </a:r>
            <a:r>
              <a:rPr lang="en-US" altLang="en-US" dirty="0">
                <a:solidFill>
                  <a:srgbClr val="000000"/>
                </a:solidFill>
                <a:latin typeface="Avenir Book" panose="02000503020000020003" pitchFamily="2" charset="0"/>
              </a:rPr>
              <a:t> as a patient coded with </a:t>
            </a:r>
            <a:r>
              <a:rPr lang="en-US" altLang="en-US" b="1" dirty="0">
                <a:solidFill>
                  <a:srgbClr val="000000"/>
                </a:solidFill>
                <a:latin typeface="Avenir Book" panose="02000503020000020003" pitchFamily="2" charset="0"/>
              </a:rPr>
              <a:t>SNOMED CT</a:t>
            </a:r>
            <a:r>
              <a:rPr lang="en-US" altLang="en-US" dirty="0">
                <a:solidFill>
                  <a:srgbClr val="000000"/>
                </a:solidFill>
                <a:latin typeface="Avenir Book" panose="02000503020000020003" pitchFamily="2" charset="0"/>
              </a:rPr>
              <a:t> in another site</a:t>
            </a:r>
            <a:endParaRPr lang="en-US" altLang="en-US" dirty="0">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sz="2800" b="1" dirty="0">
                <a:latin typeface="Avenir Book" panose="02000503020000020003" pitchFamily="2" charset="0"/>
              </a:rPr>
              <a:t>*Explore these standardized vocabularies through </a:t>
            </a:r>
            <a:r>
              <a:rPr lang="en-US" altLang="en-US" sz="2800" b="1" dirty="0">
                <a:latin typeface="Avenir Book" panose="02000503020000020003" pitchFamily="2" charset="0"/>
                <a:hlinkClick r:id="rId3"/>
              </a:rPr>
              <a:t>Athena</a:t>
            </a:r>
            <a:endParaRPr lang="en-US" altLang="en-US" sz="2800" b="1" dirty="0">
              <a:latin typeface="Avenir Book" panose="02000503020000020003" pitchFamily="2" charset="0"/>
            </a:endParaRPr>
          </a:p>
          <a:p>
            <a:endParaRPr lang="en-US" altLang="en-US" b="1"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3368575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AFB0-71AE-69FA-3152-0EEB218AED28}"/>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06FC365-D38C-467C-885E-A5A3E66894F0}"/>
              </a:ext>
            </a:extLst>
          </p:cNvPr>
          <p:cNvSpPr>
            <a:spLocks noGrp="1"/>
          </p:cNvSpPr>
          <p:nvPr>
            <p:ph type="subTitle" idx="1"/>
          </p:nvPr>
        </p:nvSpPr>
        <p:spPr/>
        <p:txBody>
          <a:bodyPr/>
          <a:lstStyle/>
          <a:p>
            <a:endParaRPr lang="en-US"/>
          </a:p>
        </p:txBody>
      </p:sp>
      <p:pic>
        <p:nvPicPr>
          <p:cNvPr id="5" name="slide.url=https://www.polleverywhere.com/multiple_choice_polls/7blKFs199cgFMHWWDvnGQ?state=opened&amp;flow=Default&amp;onscreen=persist">
            <a:extLst>
              <a:ext uri="{FF2B5EF4-FFF2-40B4-BE49-F238E27FC236}">
                <a16:creationId xmlns:a16="http://schemas.microsoft.com/office/drawing/2014/main" id="{2FEAA140-33D0-8730-1320-4629836DCD4C}"/>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091494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8A25-3535-FDD5-0C35-E5122C6C6ED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E4F5D4B-4409-F2B1-AE15-9FA7EF0EDD03}"/>
              </a:ext>
            </a:extLst>
          </p:cNvPr>
          <p:cNvSpPr>
            <a:spLocks noGrp="1"/>
          </p:cNvSpPr>
          <p:nvPr>
            <p:ph type="subTitle" idx="1"/>
          </p:nvPr>
        </p:nvSpPr>
        <p:spPr/>
        <p:txBody>
          <a:bodyPr/>
          <a:lstStyle/>
          <a:p>
            <a:endParaRPr lang="en-US"/>
          </a:p>
        </p:txBody>
      </p:sp>
      <p:pic>
        <p:nvPicPr>
          <p:cNvPr id="5" name="slide.url=https://www.polleverywhere.com/multiple_choice_polls/sseGmzIcLaZHDvFp3u63b?state=opened&amp;flow=Default&amp;onscreen=persist">
            <a:extLst>
              <a:ext uri="{FF2B5EF4-FFF2-40B4-BE49-F238E27FC236}">
                <a16:creationId xmlns:a16="http://schemas.microsoft.com/office/drawing/2014/main" id="{44B34122-BD54-B4E4-15CE-2EAE461D695D}"/>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006104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6B087-FD70-B755-1C8C-5F58B62C7F0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BA2751F-928D-68F2-3355-EFB447D3B71D}"/>
              </a:ext>
            </a:extLst>
          </p:cNvPr>
          <p:cNvSpPr>
            <a:spLocks noGrp="1"/>
          </p:cNvSpPr>
          <p:nvPr>
            <p:ph type="subTitle" idx="1"/>
          </p:nvPr>
        </p:nvSpPr>
        <p:spPr/>
        <p:txBody>
          <a:bodyPr/>
          <a:lstStyle/>
          <a:p>
            <a:endParaRPr lang="en-US"/>
          </a:p>
        </p:txBody>
      </p:sp>
      <p:pic>
        <p:nvPicPr>
          <p:cNvPr id="5" name="slide.url=https://www.polleverywhere.com/ranking_polls/B88bv4vKmHahl1dYU2EVz">
            <a:extLst>
              <a:ext uri="{FF2B5EF4-FFF2-40B4-BE49-F238E27FC236}">
                <a16:creationId xmlns:a16="http://schemas.microsoft.com/office/drawing/2014/main" id="{8DD4F5FA-8519-B724-82B0-8C16CF8228D1}"/>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349529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31AAF-97D8-7DB8-9CC5-BA864E1D3A5B}"/>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A7C6037-EAFB-C55F-8C1F-29BFD309C3FB}"/>
              </a:ext>
            </a:extLst>
          </p:cNvPr>
          <p:cNvSpPr>
            <a:spLocks noGrp="1"/>
          </p:cNvSpPr>
          <p:nvPr>
            <p:ph type="pic" sz="quarter" idx="12"/>
          </p:nvPr>
        </p:nvSpPr>
        <p:spPr>
          <a:xfrm>
            <a:off x="5181600" y="1160060"/>
            <a:ext cx="6714653" cy="5620985"/>
          </a:xfrm>
        </p:spPr>
        <p:txBody>
          <a:bodyPr>
            <a:normAutofit/>
          </a:bodyPr>
          <a:lstStyle/>
          <a:p>
            <a:pPr>
              <a:lnSpc>
                <a:spcPct val="100000"/>
              </a:lnSpc>
              <a:spcBef>
                <a:spcPts val="0"/>
              </a:spcBef>
            </a:pPr>
            <a:r>
              <a:rPr lang="en" sz="2000" dirty="0">
                <a:latin typeface="Avenir Book" panose="02000503020000020003" pitchFamily="2" charset="0"/>
              </a:rPr>
              <a:t>Once you select your cohort, concept sets, and concept values, you can create your dataset</a:t>
            </a:r>
          </a:p>
          <a:p>
            <a:pPr>
              <a:lnSpc>
                <a:spcPct val="100000"/>
              </a:lnSpc>
              <a:spcBef>
                <a:spcPts val="0"/>
              </a:spcBef>
            </a:pPr>
            <a:endParaRPr lang="en" sz="2400" dirty="0">
              <a:latin typeface="Avenir Book" panose="02000503020000020003" pitchFamily="2" charset="0"/>
            </a:endParaRPr>
          </a:p>
          <a:p>
            <a:pPr>
              <a:lnSpc>
                <a:spcPct val="100000"/>
              </a:lnSpc>
              <a:spcBef>
                <a:spcPts val="0"/>
              </a:spcBef>
            </a:pPr>
            <a:endParaRPr lang="en" sz="2400" dirty="0">
              <a:latin typeface="Avenir Book" panose="02000503020000020003" pitchFamily="2" charset="0"/>
            </a:endParaRPr>
          </a:p>
          <a:p>
            <a:pPr>
              <a:lnSpc>
                <a:spcPct val="100000"/>
              </a:lnSpc>
              <a:spcBef>
                <a:spcPts val="0"/>
              </a:spcBef>
            </a:pPr>
            <a:endParaRPr lang="en" sz="2400" dirty="0">
              <a:latin typeface="Avenir Book" panose="02000503020000020003" pitchFamily="2" charset="0"/>
            </a:endParaRPr>
          </a:p>
          <a:p>
            <a:pPr marL="0" indent="0">
              <a:lnSpc>
                <a:spcPct val="100000"/>
              </a:lnSpc>
              <a:spcBef>
                <a:spcPts val="0"/>
              </a:spcBef>
              <a:buNone/>
            </a:pPr>
            <a:endParaRPr lang="en" sz="2400" dirty="0">
              <a:latin typeface="Avenir Book" panose="02000503020000020003" pitchFamily="2" charset="0"/>
            </a:endParaRPr>
          </a:p>
          <a:p>
            <a:pPr marL="0" indent="0">
              <a:lnSpc>
                <a:spcPct val="100000"/>
              </a:lnSpc>
              <a:spcBef>
                <a:spcPts val="0"/>
              </a:spcBef>
              <a:buNone/>
            </a:pPr>
            <a:endParaRPr lang="en" sz="24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633CAC1E-98B5-C50F-8158-B9067A73F719}"/>
              </a:ext>
            </a:extLst>
          </p:cNvPr>
          <p:cNvSpPr>
            <a:spLocks noGrp="1"/>
          </p:cNvSpPr>
          <p:nvPr>
            <p:ph type="sldNum" sz="quarter" idx="18"/>
          </p:nvPr>
        </p:nvSpPr>
        <p:spPr/>
        <p:txBody>
          <a:bodyPr/>
          <a:lstStyle/>
          <a:p>
            <a:fld id="{548469FB-C78A-B94B-B04A-B5BC8C934F85}" type="slidenum">
              <a:rPr lang="en-US" smtClean="0"/>
              <a:t>33</a:t>
            </a:fld>
            <a:endParaRPr lang="en-US"/>
          </a:p>
        </p:txBody>
      </p:sp>
      <p:pic>
        <p:nvPicPr>
          <p:cNvPr id="9" name="Picture 8">
            <a:extLst>
              <a:ext uri="{FF2B5EF4-FFF2-40B4-BE49-F238E27FC236}">
                <a16:creationId xmlns:a16="http://schemas.microsoft.com/office/drawing/2014/main" id="{7CDD9726-78D1-A738-D7FA-CAE091D8C349}"/>
              </a:ext>
            </a:extLst>
          </p:cNvPr>
          <p:cNvPicPr>
            <a:picLocks noChangeAspect="1"/>
          </p:cNvPicPr>
          <p:nvPr/>
        </p:nvPicPr>
        <p:blipFill>
          <a:blip r:embed="rId3"/>
          <a:stretch>
            <a:fillRect/>
          </a:stretch>
        </p:blipFill>
        <p:spPr>
          <a:xfrm>
            <a:off x="5357518" y="2233862"/>
            <a:ext cx="4878303" cy="3926439"/>
          </a:xfrm>
          <a:prstGeom prst="rect">
            <a:avLst/>
          </a:prstGeom>
        </p:spPr>
      </p:pic>
      <p:sp>
        <p:nvSpPr>
          <p:cNvPr id="7" name="Text Placeholder 2">
            <a:extLst>
              <a:ext uri="{FF2B5EF4-FFF2-40B4-BE49-F238E27FC236}">
                <a16:creationId xmlns:a16="http://schemas.microsoft.com/office/drawing/2014/main" id="{FCBDB6EF-A019-2DA4-3EAC-65B6C061DB1C}"/>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8" name="Text Placeholder 3">
            <a:extLst>
              <a:ext uri="{FF2B5EF4-FFF2-40B4-BE49-F238E27FC236}">
                <a16:creationId xmlns:a16="http://schemas.microsoft.com/office/drawing/2014/main" id="{99A15F73-05DE-0723-5A28-2B7B30ED88B5}"/>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Dataset</a:t>
            </a:r>
          </a:p>
        </p:txBody>
      </p:sp>
    </p:spTree>
    <p:extLst>
      <p:ext uri="{BB962C8B-B14F-4D97-AF65-F5344CB8AC3E}">
        <p14:creationId xmlns:p14="http://schemas.microsoft.com/office/powerpoint/2010/main" val="821279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CF603-6569-0F35-2128-426BAA688CC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D4EED16-E6E7-BC69-0176-59676E93103F}"/>
              </a:ext>
            </a:extLst>
          </p:cNvPr>
          <p:cNvSpPr>
            <a:spLocks noGrp="1"/>
          </p:cNvSpPr>
          <p:nvPr>
            <p:ph type="pic" sz="quarter" idx="12"/>
          </p:nvPr>
        </p:nvSpPr>
        <p:spPr>
          <a:xfrm>
            <a:off x="5076967" y="663808"/>
            <a:ext cx="6846581" cy="6194192"/>
          </a:xfrm>
        </p:spPr>
        <p:txBody>
          <a:bodyPr>
            <a:normAutofit/>
          </a:bodyPr>
          <a:lstStyle/>
          <a:p>
            <a:pPr>
              <a:lnSpc>
                <a:spcPct val="100000"/>
              </a:lnSpc>
              <a:spcBef>
                <a:spcPts val="0"/>
              </a:spcBef>
            </a:pPr>
            <a:r>
              <a:rPr lang="en" sz="2000" dirty="0">
                <a:latin typeface="Avenir Book" panose="02000503020000020003" pitchFamily="2" charset="0"/>
              </a:rPr>
              <a:t>Then choose </a:t>
            </a:r>
            <a:r>
              <a:rPr lang="en" sz="2000" i="1" dirty="0">
                <a:latin typeface="Avenir Book" panose="02000503020000020003" pitchFamily="2" charset="0"/>
              </a:rPr>
              <a:t>Analyze</a:t>
            </a:r>
            <a:r>
              <a:rPr lang="en" sz="2000" dirty="0">
                <a:latin typeface="Avenir Book" panose="02000503020000020003" pitchFamily="2" charset="0"/>
              </a:rPr>
              <a:t>, and select the your </a:t>
            </a:r>
            <a:r>
              <a:rPr lang="en-US" sz="2000" dirty="0">
                <a:latin typeface="Avenir Book" panose="02000503020000020003" pitchFamily="2" charset="0"/>
              </a:rPr>
              <a:t>preferred </a:t>
            </a:r>
            <a:r>
              <a:rPr lang="en" sz="2000" dirty="0">
                <a:latin typeface="Avenir Book" panose="02000503020000020003" pitchFamily="2" charset="0"/>
              </a:rPr>
              <a:t>programming language</a:t>
            </a:r>
            <a:endParaRPr lang="en-US" sz="2000" dirty="0">
              <a:latin typeface="Avenir Book" panose="02000503020000020003" pitchFamily="2" charset="0"/>
            </a:endParaRPr>
          </a:p>
          <a:p>
            <a:pPr marL="457200" lvl="2" indent="0">
              <a:lnSpc>
                <a:spcPct val="100000"/>
              </a:lnSpc>
              <a:spcBef>
                <a:spcPts val="0"/>
              </a:spcBef>
              <a:buNone/>
            </a:pPr>
            <a:endParaRPr lang="en-US" dirty="0">
              <a:latin typeface="Avenir Book" panose="02000503020000020003" pitchFamily="2" charset="0"/>
            </a:endParaRPr>
          </a:p>
        </p:txBody>
      </p:sp>
      <p:sp>
        <p:nvSpPr>
          <p:cNvPr id="4" name="Text Placeholder 3">
            <a:extLst>
              <a:ext uri="{FF2B5EF4-FFF2-40B4-BE49-F238E27FC236}">
                <a16:creationId xmlns:a16="http://schemas.microsoft.com/office/drawing/2014/main" id="{C0BA5BEA-C1D3-BD04-6AA1-1B08D7C76CCB}"/>
              </a:ext>
            </a:extLst>
          </p:cNvPr>
          <p:cNvSpPr>
            <a:spLocks noGrp="1"/>
          </p:cNvSpPr>
          <p:nvPr>
            <p:ph type="body" sz="quarter" idx="15"/>
          </p:nvPr>
        </p:nvSpPr>
        <p:spPr>
          <a:xfrm>
            <a:off x="609600" y="3334125"/>
            <a:ext cx="2760849" cy="282531"/>
          </a:xfrm>
        </p:spPr>
        <p:txBody>
          <a:bodyPr/>
          <a:lstStyle/>
          <a:p>
            <a:r>
              <a:rPr lang="en-US" dirty="0">
                <a:solidFill>
                  <a:schemeClr val="bg1"/>
                </a:solidFill>
              </a:rPr>
              <a:t>Analysis</a:t>
            </a:r>
            <a:endParaRPr lang="en-US" sz="2800" dirty="0"/>
          </a:p>
        </p:txBody>
      </p:sp>
      <p:sp>
        <p:nvSpPr>
          <p:cNvPr id="6" name="Slide Number Placeholder 5">
            <a:extLst>
              <a:ext uri="{FF2B5EF4-FFF2-40B4-BE49-F238E27FC236}">
                <a16:creationId xmlns:a16="http://schemas.microsoft.com/office/drawing/2014/main" id="{ED6F36B3-0399-A307-DB43-719314D47993}"/>
              </a:ext>
            </a:extLst>
          </p:cNvPr>
          <p:cNvSpPr>
            <a:spLocks noGrp="1"/>
          </p:cNvSpPr>
          <p:nvPr>
            <p:ph type="sldNum" sz="quarter" idx="18"/>
          </p:nvPr>
        </p:nvSpPr>
        <p:spPr/>
        <p:txBody>
          <a:bodyPr/>
          <a:lstStyle/>
          <a:p>
            <a:fld id="{548469FB-C78A-B94B-B04A-B5BC8C934F85}" type="slidenum">
              <a:rPr lang="en-US" smtClean="0"/>
              <a:t>34</a:t>
            </a:fld>
            <a:endParaRPr lang="en-US"/>
          </a:p>
        </p:txBody>
      </p:sp>
      <p:pic>
        <p:nvPicPr>
          <p:cNvPr id="5" name="Picture 4">
            <a:extLst>
              <a:ext uri="{FF2B5EF4-FFF2-40B4-BE49-F238E27FC236}">
                <a16:creationId xmlns:a16="http://schemas.microsoft.com/office/drawing/2014/main" id="{F287F4A2-9ED0-EDE1-E5C9-51F336B7D59B}"/>
              </a:ext>
            </a:extLst>
          </p:cNvPr>
          <p:cNvPicPr>
            <a:picLocks noChangeAspect="1"/>
          </p:cNvPicPr>
          <p:nvPr/>
        </p:nvPicPr>
        <p:blipFill>
          <a:blip r:embed="rId3"/>
          <a:stretch>
            <a:fillRect/>
          </a:stretch>
        </p:blipFill>
        <p:spPr>
          <a:xfrm>
            <a:off x="5465344" y="1703188"/>
            <a:ext cx="4210919" cy="4653162"/>
          </a:xfrm>
          <a:prstGeom prst="rect">
            <a:avLst/>
          </a:prstGeom>
          <a:ln w="3175">
            <a:solidFill>
              <a:schemeClr val="tx1"/>
            </a:solidFill>
          </a:ln>
        </p:spPr>
      </p:pic>
      <p:sp>
        <p:nvSpPr>
          <p:cNvPr id="9" name="Text Placeholder 2">
            <a:extLst>
              <a:ext uri="{FF2B5EF4-FFF2-40B4-BE49-F238E27FC236}">
                <a16:creationId xmlns:a16="http://schemas.microsoft.com/office/drawing/2014/main" id="{F0C693C1-E28B-94A9-859D-0E241155145C}"/>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Tree>
    <p:extLst>
      <p:ext uri="{BB962C8B-B14F-4D97-AF65-F5344CB8AC3E}">
        <p14:creationId xmlns:p14="http://schemas.microsoft.com/office/powerpoint/2010/main" val="3483840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BAD0-2FF7-F927-066F-D7689ABC711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FF4764A-F74F-17C8-00B6-BCA51669D78B}"/>
              </a:ext>
            </a:extLst>
          </p:cNvPr>
          <p:cNvSpPr>
            <a:spLocks noGrp="1"/>
          </p:cNvSpPr>
          <p:nvPr>
            <p:ph type="subTitle" idx="1"/>
          </p:nvPr>
        </p:nvSpPr>
        <p:spPr/>
        <p:txBody>
          <a:bodyPr/>
          <a:lstStyle/>
          <a:p>
            <a:endParaRPr lang="en-US"/>
          </a:p>
        </p:txBody>
      </p:sp>
      <p:pic>
        <p:nvPicPr>
          <p:cNvPr id="5" name="slide.url=https://www.polleverywhere.com/multiple_choice_polls/JuKRPF8zDuKuadmn0eeIL?state=opened&amp;flow=Default&amp;onscreen=persist">
            <a:extLst>
              <a:ext uri="{FF2B5EF4-FFF2-40B4-BE49-F238E27FC236}">
                <a16:creationId xmlns:a16="http://schemas.microsoft.com/office/drawing/2014/main" id="{140C26EA-2A53-D509-7219-A382EB8AE04F}"/>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719010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F00FB-32BE-A6B7-AE31-E45949C2749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961C6D7-9F1E-ACDF-95A9-02BFB7019855}"/>
              </a:ext>
            </a:extLst>
          </p:cNvPr>
          <p:cNvSpPr>
            <a:spLocks noGrp="1"/>
          </p:cNvSpPr>
          <p:nvPr>
            <p:ph type="pic" sz="quarter" idx="12"/>
          </p:nvPr>
        </p:nvSpPr>
        <p:spPr>
          <a:xfrm>
            <a:off x="4478215" y="230346"/>
            <a:ext cx="7077657" cy="6491129"/>
          </a:xfrm>
        </p:spPr>
        <p:txBody>
          <a:bodyPr>
            <a:normAutofit/>
          </a:bodyPr>
          <a:lstStyle/>
          <a:p>
            <a:r>
              <a:rPr lang="en-US" sz="2000" dirty="0">
                <a:latin typeface="Avenir Book" panose="02000503020000020003" pitchFamily="2" charset="0"/>
              </a:rPr>
              <a:t>Once you choose </a:t>
            </a:r>
            <a:r>
              <a:rPr lang="en-US" sz="2000" i="1" dirty="0">
                <a:latin typeface="Avenir Book" panose="02000503020000020003" pitchFamily="2" charset="0"/>
              </a:rPr>
              <a:t>Analyze,</a:t>
            </a:r>
            <a:r>
              <a:rPr lang="en-US" sz="2000" dirty="0">
                <a:latin typeface="Avenir Book" panose="02000503020000020003" pitchFamily="2" charset="0"/>
              </a:rPr>
              <a:t> the statistical software environment will be generated</a:t>
            </a:r>
            <a:br>
              <a:rPr lang="en-US" sz="2000" dirty="0">
                <a:latin typeface="Avenir Book" panose="02000503020000020003" pitchFamily="2" charset="0"/>
              </a:rPr>
            </a:br>
            <a:endParaRPr lang="en-US" sz="2000" dirty="0">
              <a:latin typeface="Avenir Book" panose="02000503020000020003" pitchFamily="2" charset="0"/>
            </a:endParaRPr>
          </a:p>
          <a:p>
            <a:r>
              <a:rPr lang="en-US" sz="2000" dirty="0">
                <a:latin typeface="Avenir Book" panose="02000503020000020003" pitchFamily="2" charset="0"/>
              </a:rPr>
              <a:t>The SQL queries will already be written</a:t>
            </a:r>
          </a:p>
          <a:p>
            <a:pPr lvl="1">
              <a:buFont typeface="Courier New" panose="02070309020205020404" pitchFamily="49" charset="0"/>
              <a:buChar char="o"/>
            </a:pPr>
            <a:r>
              <a:rPr lang="en-US" sz="1800" dirty="0">
                <a:latin typeface="Avenir Book" panose="02000503020000020003" pitchFamily="2" charset="0"/>
              </a:rPr>
              <a:t>One query per concept set domain</a:t>
            </a:r>
          </a:p>
          <a:p>
            <a:pPr lvl="1">
              <a:buFont typeface="Courier New" panose="02070309020205020404" pitchFamily="49" charset="0"/>
              <a:buChar char="o"/>
            </a:pPr>
            <a:endParaRPr lang="en-US" sz="1800" dirty="0">
              <a:latin typeface="Avenir Book" panose="02000503020000020003" pitchFamily="2" charset="0"/>
            </a:endParaRPr>
          </a:p>
          <a:p>
            <a:pPr lvl="1">
              <a:buFont typeface="Courier New" panose="02070309020205020404" pitchFamily="49" charset="0"/>
              <a:buChar char="o"/>
            </a:pPr>
            <a:endParaRPr lang="en-US" sz="1800" dirty="0">
              <a:latin typeface="Avenir Book" panose="02000503020000020003" pitchFamily="2" charset="0"/>
            </a:endParaRPr>
          </a:p>
          <a:p>
            <a:pPr marL="457200" lvl="1" indent="0">
              <a:buNone/>
            </a:pPr>
            <a:br>
              <a:rPr lang="en-US" sz="1600" dirty="0">
                <a:latin typeface="Avenir Book" panose="02000503020000020003" pitchFamily="2" charset="0"/>
              </a:rPr>
            </a:br>
            <a:endParaRPr lang="en-US" sz="1600" dirty="0">
              <a:latin typeface="Avenir Book" panose="02000503020000020003" pitchFamily="2" charset="0"/>
            </a:endParaRPr>
          </a:p>
          <a:p>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rPr>
              <a:t>Write your own code to clean and manipulate data</a:t>
            </a:r>
          </a:p>
          <a:p>
            <a:endParaRPr lang="en-US" sz="2000" dirty="0">
              <a:latin typeface="Avenir Book" panose="02000503020000020003" pitchFamily="2" charset="0"/>
            </a:endParaRPr>
          </a:p>
          <a:p>
            <a:r>
              <a:rPr lang="en-US" sz="2000" dirty="0">
                <a:latin typeface="Avenir Book" panose="02000503020000020003" pitchFamily="2" charset="0"/>
              </a:rPr>
              <a:t>Code Snippets to </a:t>
            </a:r>
            <a:r>
              <a:rPr lang="en-US" sz="2000" b="1" dirty="0">
                <a:latin typeface="Avenir Book" panose="02000503020000020003" pitchFamily="2" charset="0"/>
              </a:rPr>
              <a:t>save</a:t>
            </a:r>
            <a:r>
              <a:rPr lang="en-US" sz="2000" dirty="0">
                <a:latin typeface="Avenir Book" panose="02000503020000020003" pitchFamily="2" charset="0"/>
              </a:rPr>
              <a:t> </a:t>
            </a:r>
            <a:r>
              <a:rPr lang="en-US" sz="2000" b="1" dirty="0">
                <a:latin typeface="Avenir Book" panose="02000503020000020003" pitchFamily="2" charset="0"/>
              </a:rPr>
              <a:t>data</a:t>
            </a:r>
            <a:r>
              <a:rPr lang="en-US" sz="2000" dirty="0">
                <a:latin typeface="Avenir Book" panose="02000503020000020003" pitchFamily="2" charset="0"/>
              </a:rPr>
              <a:t> to and </a:t>
            </a:r>
            <a:r>
              <a:rPr lang="en-US" sz="2000" b="1" dirty="0">
                <a:latin typeface="Avenir Book" panose="02000503020000020003" pitchFamily="2" charset="0"/>
              </a:rPr>
              <a:t>pull data </a:t>
            </a:r>
            <a:r>
              <a:rPr lang="en-US" sz="2000" dirty="0">
                <a:latin typeface="Avenir Book" panose="02000503020000020003" pitchFamily="2" charset="0"/>
              </a:rPr>
              <a:t>from </a:t>
            </a:r>
            <a:r>
              <a:rPr lang="en-US" sz="2000" i="1" dirty="0">
                <a:latin typeface="Avenir Book" panose="02000503020000020003" pitchFamily="2" charset="0"/>
              </a:rPr>
              <a:t>Workspace Buckets</a:t>
            </a:r>
            <a:r>
              <a:rPr lang="en-US" sz="2000" dirty="0">
                <a:latin typeface="Avenir Book" panose="02000503020000020003" pitchFamily="2" charset="0"/>
              </a:rPr>
              <a:t> on Google cloud</a:t>
            </a:r>
          </a:p>
          <a:p>
            <a:pPr lvl="1"/>
            <a:r>
              <a:rPr lang="en-US" sz="1800" dirty="0">
                <a:latin typeface="Avenir Book" panose="02000503020000020003" pitchFamily="2" charset="0"/>
              </a:rPr>
              <a:t>Once you do this, you don’t have to rerun the queries every time just import the cleaned data you saved (*</a:t>
            </a:r>
            <a:r>
              <a:rPr lang="en-US" sz="1800" b="1" dirty="0">
                <a:latin typeface="Avenir Book" panose="02000503020000020003" pitchFamily="2" charset="0"/>
              </a:rPr>
              <a:t>Note</a:t>
            </a:r>
            <a:r>
              <a:rPr lang="en-US" sz="1800" dirty="0">
                <a:latin typeface="Avenir Book" panose="02000503020000020003" pitchFamily="2" charset="0"/>
              </a:rPr>
              <a:t>: can be done in separate notebook)</a:t>
            </a:r>
          </a:p>
          <a:p>
            <a:pPr lvl="1">
              <a:buFont typeface="Courier New" panose="02070309020205020404" pitchFamily="49" charset="0"/>
              <a:buChar char="o"/>
            </a:pPr>
            <a:endParaRPr lang="en-US" sz="9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749750DE-104A-8E37-ADA0-34B9C2FDAE1D}"/>
              </a:ext>
            </a:extLst>
          </p:cNvPr>
          <p:cNvSpPr>
            <a:spLocks noGrp="1"/>
          </p:cNvSpPr>
          <p:nvPr>
            <p:ph type="sldNum" sz="quarter" idx="18"/>
          </p:nvPr>
        </p:nvSpPr>
        <p:spPr/>
        <p:txBody>
          <a:bodyPr/>
          <a:lstStyle/>
          <a:p>
            <a:fld id="{548469FB-C78A-B94B-B04A-B5BC8C934F85}" type="slidenum">
              <a:rPr lang="en-US" smtClean="0"/>
              <a:t>36</a:t>
            </a:fld>
            <a:endParaRPr lang="en-US"/>
          </a:p>
        </p:txBody>
      </p:sp>
      <p:sp>
        <p:nvSpPr>
          <p:cNvPr id="10" name="Text Placeholder 3">
            <a:extLst>
              <a:ext uri="{FF2B5EF4-FFF2-40B4-BE49-F238E27FC236}">
                <a16:creationId xmlns:a16="http://schemas.microsoft.com/office/drawing/2014/main" id="{BBEEAAFB-EF94-756D-CA5B-79415E6D397A}"/>
              </a:ext>
            </a:extLst>
          </p:cNvPr>
          <p:cNvSpPr txBox="1">
            <a:spLocks/>
          </p:cNvSpPr>
          <p:nvPr/>
        </p:nvSpPr>
        <p:spPr>
          <a:xfrm>
            <a:off x="609600" y="3334125"/>
            <a:ext cx="2760849" cy="2825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a:t>Analysis</a:t>
            </a:r>
            <a:endParaRPr lang="en-US" sz="2800" dirty="0"/>
          </a:p>
        </p:txBody>
      </p:sp>
      <p:sp>
        <p:nvSpPr>
          <p:cNvPr id="11" name="Text Placeholder 2">
            <a:extLst>
              <a:ext uri="{FF2B5EF4-FFF2-40B4-BE49-F238E27FC236}">
                <a16:creationId xmlns:a16="http://schemas.microsoft.com/office/drawing/2014/main" id="{D60E7F0C-972B-703B-709A-DDD57785B2EC}"/>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pic>
        <p:nvPicPr>
          <p:cNvPr id="4" name="Picture 3">
            <a:extLst>
              <a:ext uri="{FF2B5EF4-FFF2-40B4-BE49-F238E27FC236}">
                <a16:creationId xmlns:a16="http://schemas.microsoft.com/office/drawing/2014/main" id="{F6214697-FA02-EEC1-A78D-9D90ADAE048F}"/>
              </a:ext>
            </a:extLst>
          </p:cNvPr>
          <p:cNvPicPr>
            <a:picLocks noChangeAspect="1"/>
          </p:cNvPicPr>
          <p:nvPr/>
        </p:nvPicPr>
        <p:blipFill>
          <a:blip r:embed="rId3"/>
          <a:stretch>
            <a:fillRect/>
          </a:stretch>
        </p:blipFill>
        <p:spPr>
          <a:xfrm>
            <a:off x="4259796" y="1968289"/>
            <a:ext cx="7772400" cy="1612608"/>
          </a:xfrm>
          <a:prstGeom prst="rect">
            <a:avLst/>
          </a:prstGeom>
          <a:ln>
            <a:solidFill>
              <a:schemeClr val="tx1"/>
            </a:solidFill>
          </a:ln>
        </p:spPr>
      </p:pic>
    </p:spTree>
    <p:extLst>
      <p:ext uri="{BB962C8B-B14F-4D97-AF65-F5344CB8AC3E}">
        <p14:creationId xmlns:p14="http://schemas.microsoft.com/office/powerpoint/2010/main" val="296703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BE30-55F4-9650-69C3-0FC3FBD14AE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9BD317D-AF36-9CC2-D117-0BA7D46FA962}"/>
              </a:ext>
            </a:extLst>
          </p:cNvPr>
          <p:cNvSpPr>
            <a:spLocks noGrp="1"/>
          </p:cNvSpPr>
          <p:nvPr>
            <p:ph type="pic" sz="quarter" idx="12"/>
          </p:nvPr>
        </p:nvSpPr>
        <p:spPr>
          <a:xfrm>
            <a:off x="5181600" y="1187354"/>
            <a:ext cx="6105099" cy="5593691"/>
          </a:xfrm>
        </p:spPr>
        <p:txBody>
          <a:bodyPr>
            <a:normAutofit/>
          </a:bodyPr>
          <a:lstStyle/>
          <a:p>
            <a:r>
              <a:rPr lang="en-US" sz="2000" dirty="0">
                <a:latin typeface="Avenir Book" panose="02000503020000020003" pitchFamily="2" charset="0"/>
                <a:hlinkClick r:id="rId3"/>
              </a:rPr>
              <a:t>All of Us Publications </a:t>
            </a:r>
            <a:br>
              <a:rPr lang="en-US" sz="2000" dirty="0">
                <a:latin typeface="Avenir Book" panose="02000503020000020003" pitchFamily="2" charset="0"/>
              </a:rPr>
            </a:br>
            <a:endParaRPr lang="en-US" sz="2000" dirty="0">
              <a:latin typeface="Avenir Book" panose="02000503020000020003" pitchFamily="2" charset="0"/>
            </a:endParaRPr>
          </a:p>
          <a:p>
            <a:r>
              <a:rPr lang="en-US" sz="2000" dirty="0">
                <a:latin typeface="Avenir Book" panose="02000503020000020003" pitchFamily="2" charset="0"/>
              </a:rPr>
              <a:t>All of Us YouTube videos</a:t>
            </a:r>
          </a:p>
          <a:p>
            <a:pPr lvl="1">
              <a:buFont typeface="Courier New" panose="02070309020205020404" pitchFamily="49" charset="0"/>
              <a:buChar char="o"/>
            </a:pPr>
            <a:r>
              <a:rPr lang="en-US" sz="2000" dirty="0">
                <a:latin typeface="Avenir Book" panose="02000503020000020003" pitchFamily="2" charset="0"/>
                <a:hlinkClick r:id="rId4"/>
              </a:rPr>
              <a:t>Billing in the researcher workbench</a:t>
            </a:r>
          </a:p>
          <a:p>
            <a:pPr lvl="1">
              <a:buFont typeface="Courier New" panose="02070309020205020404" pitchFamily="49" charset="0"/>
              <a:buChar char="o"/>
            </a:pPr>
            <a:r>
              <a:rPr lang="en-US" sz="2000" dirty="0">
                <a:latin typeface="Avenir Book" panose="02000503020000020003" pitchFamily="2" charset="0"/>
                <a:hlinkClick r:id="rId5"/>
              </a:rPr>
              <a:t>Cohort builder and dataset builder</a:t>
            </a:r>
            <a:endParaRPr lang="en-US" sz="2000" dirty="0">
              <a:latin typeface="Avenir Book" panose="02000503020000020003" pitchFamily="2" charset="0"/>
            </a:endParaRPr>
          </a:p>
          <a:p>
            <a:pPr lvl="1">
              <a:buFont typeface="Courier New" panose="02070309020205020404" pitchFamily="49" charset="0"/>
              <a:buChar char="o"/>
            </a:pPr>
            <a:r>
              <a:rPr lang="en-US" sz="2000" dirty="0">
                <a:latin typeface="Avenir Book" panose="02000503020000020003" pitchFamily="2" charset="0"/>
                <a:hlinkClick r:id="rId6"/>
              </a:rPr>
              <a:t>Using the concept set selector in the workbench</a:t>
            </a:r>
            <a:endParaRPr lang="en-US" sz="2000" dirty="0">
              <a:latin typeface="Avenir Book" panose="02000503020000020003" pitchFamily="2" charset="0"/>
            </a:endParaRPr>
          </a:p>
          <a:p>
            <a:pPr marL="914400" lvl="2" indent="0">
              <a:buNone/>
            </a:pPr>
            <a:endParaRPr lang="en-US" sz="1600" dirty="0">
              <a:latin typeface="Avenir Book" panose="02000503020000020003" pitchFamily="2" charset="0"/>
            </a:endParaRPr>
          </a:p>
          <a:p>
            <a:r>
              <a:rPr lang="en-US" sz="2000" dirty="0">
                <a:latin typeface="Avenir Book" panose="02000503020000020003" pitchFamily="2" charset="0"/>
                <a:hlinkClick r:id="rId7"/>
              </a:rPr>
              <a:t>Setting up your Billing Account</a:t>
            </a:r>
            <a:br>
              <a:rPr lang="en-US" sz="2400" dirty="0">
                <a:latin typeface="Avenir Book" panose="02000503020000020003" pitchFamily="2" charset="0"/>
              </a:rPr>
            </a:br>
            <a:endParaRPr lang="en-US" sz="2400" dirty="0">
              <a:latin typeface="Avenir Book" panose="02000503020000020003" pitchFamily="2" charset="0"/>
            </a:endParaRPr>
          </a:p>
          <a:p>
            <a:r>
              <a:rPr lang="en-US" sz="2000" dirty="0">
                <a:latin typeface="Avenir Book" panose="02000503020000020003" pitchFamily="2" charset="0"/>
                <a:hlinkClick r:id="rId8"/>
              </a:rPr>
              <a:t>Getting started</a:t>
            </a:r>
            <a:r>
              <a:rPr lang="en-US" sz="2000" dirty="0">
                <a:latin typeface="Avenir Book" panose="02000503020000020003" pitchFamily="2" charset="0"/>
              </a:rPr>
              <a:t> (dictionaries, data types, OMOP, etc.)</a:t>
            </a:r>
          </a:p>
          <a:p>
            <a:pPr marL="457200" lvl="2" indent="0">
              <a:lnSpc>
                <a:spcPct val="120000"/>
              </a:lnSpc>
              <a:spcBef>
                <a:spcPts val="0"/>
              </a:spcBef>
              <a:buNone/>
            </a:pPr>
            <a:endParaRPr lang="en-US" sz="2400" dirty="0">
              <a:latin typeface="Avenir Book" panose="02000503020000020003" pitchFamily="2" charset="0"/>
            </a:endParaRPr>
          </a:p>
        </p:txBody>
      </p:sp>
      <p:sp>
        <p:nvSpPr>
          <p:cNvPr id="3" name="Text Placeholder 2">
            <a:extLst>
              <a:ext uri="{FF2B5EF4-FFF2-40B4-BE49-F238E27FC236}">
                <a16:creationId xmlns:a16="http://schemas.microsoft.com/office/drawing/2014/main" id="{71F91081-EA9B-FD55-E9B9-34BA18595547}"/>
              </a:ext>
            </a:extLst>
          </p:cNvPr>
          <p:cNvSpPr>
            <a:spLocks noGrp="1"/>
          </p:cNvSpPr>
          <p:nvPr>
            <p:ph type="body" sz="quarter" idx="11"/>
          </p:nvPr>
        </p:nvSpPr>
        <p:spPr>
          <a:xfrm>
            <a:off x="609599" y="1790700"/>
            <a:ext cx="3201909" cy="1102251"/>
          </a:xfrm>
        </p:spPr>
        <p:txBody>
          <a:bodyPr/>
          <a:lstStyle/>
          <a:p>
            <a:r>
              <a:rPr lang="en-US" dirty="0">
                <a:latin typeface="YaleNew" panose="02000602050000020003" pitchFamily="2" charset="77"/>
              </a:rPr>
              <a:t>Helpful</a:t>
            </a:r>
          </a:p>
          <a:p>
            <a:r>
              <a:rPr lang="en-US" dirty="0">
                <a:latin typeface="YaleNew" panose="02000602050000020003" pitchFamily="2" charset="77"/>
              </a:rPr>
              <a:t>Resources</a:t>
            </a:r>
          </a:p>
        </p:txBody>
      </p:sp>
      <p:sp>
        <p:nvSpPr>
          <p:cNvPr id="6" name="Slide Number Placeholder 5">
            <a:extLst>
              <a:ext uri="{FF2B5EF4-FFF2-40B4-BE49-F238E27FC236}">
                <a16:creationId xmlns:a16="http://schemas.microsoft.com/office/drawing/2014/main" id="{0F7A3ABA-6B5E-5DB9-C00E-940E1B3E9BE0}"/>
              </a:ext>
            </a:extLst>
          </p:cNvPr>
          <p:cNvSpPr>
            <a:spLocks noGrp="1"/>
          </p:cNvSpPr>
          <p:nvPr>
            <p:ph type="sldNum" sz="quarter" idx="18"/>
          </p:nvPr>
        </p:nvSpPr>
        <p:spPr/>
        <p:txBody>
          <a:bodyPr/>
          <a:lstStyle/>
          <a:p>
            <a:fld id="{548469FB-C78A-B94B-B04A-B5BC8C934F85}" type="slidenum">
              <a:rPr lang="en-US" smtClean="0"/>
              <a:t>37</a:t>
            </a:fld>
            <a:endParaRPr lang="en-US"/>
          </a:p>
        </p:txBody>
      </p:sp>
    </p:spTree>
    <p:extLst>
      <p:ext uri="{BB962C8B-B14F-4D97-AF65-F5344CB8AC3E}">
        <p14:creationId xmlns:p14="http://schemas.microsoft.com/office/powerpoint/2010/main" val="2811821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715FF-28C1-963C-553A-83B4C40CECD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8F8968C-B95C-2579-DCAC-B5038E468C5E}"/>
              </a:ext>
            </a:extLst>
          </p:cNvPr>
          <p:cNvSpPr>
            <a:spLocks noGrp="1"/>
          </p:cNvSpPr>
          <p:nvPr>
            <p:ph type="pic" sz="quarter" idx="12"/>
          </p:nvPr>
        </p:nvSpPr>
        <p:spPr>
          <a:xfrm>
            <a:off x="5181600" y="1127720"/>
            <a:ext cx="6105099" cy="5593691"/>
          </a:xfrm>
        </p:spPr>
        <p:txBody>
          <a:bodyPr>
            <a:normAutofit/>
          </a:bodyPr>
          <a:lstStyle/>
          <a:p>
            <a:r>
              <a:rPr lang="en-US" sz="2000" dirty="0">
                <a:latin typeface="Avenir Book" panose="02000503020000020003" pitchFamily="2" charset="0"/>
              </a:rPr>
              <a:t>Future CWML/BIDS courses aimed to help you work more effectively with All of Us including:</a:t>
            </a:r>
          </a:p>
          <a:p>
            <a:pPr lvl="1">
              <a:buFont typeface="Courier New" panose="02070309020205020404" pitchFamily="49" charset="0"/>
              <a:buChar char="o"/>
            </a:pPr>
            <a:r>
              <a:rPr lang="en-US" sz="2000" dirty="0">
                <a:latin typeface="Avenir Book" panose="02000503020000020003" pitchFamily="2" charset="0"/>
              </a:rPr>
              <a:t>R</a:t>
            </a:r>
          </a:p>
          <a:p>
            <a:pPr lvl="1">
              <a:buFont typeface="Courier New" panose="02070309020205020404" pitchFamily="49" charset="0"/>
              <a:buChar char="o"/>
            </a:pPr>
            <a:r>
              <a:rPr lang="en-US" sz="2000" dirty="0">
                <a:latin typeface="Avenir Book" panose="02000503020000020003" pitchFamily="2" charset="0"/>
              </a:rPr>
              <a:t>Python</a:t>
            </a:r>
          </a:p>
          <a:p>
            <a:pPr lvl="1">
              <a:buFont typeface="Courier New" panose="02070309020205020404" pitchFamily="49" charset="0"/>
              <a:buChar char="o"/>
            </a:pPr>
            <a:r>
              <a:rPr lang="en-US" sz="2000" dirty="0">
                <a:latin typeface="Avenir Book" panose="02000503020000020003" pitchFamily="2" charset="0"/>
              </a:rPr>
              <a:t>SQL</a:t>
            </a:r>
          </a:p>
          <a:p>
            <a:pPr lvl="1">
              <a:buFont typeface="Courier New" panose="02070309020205020404" pitchFamily="49" charset="0"/>
              <a:buChar char="o"/>
            </a:pPr>
            <a:r>
              <a:rPr lang="en-US" sz="2000" dirty="0">
                <a:latin typeface="Avenir Book" panose="02000503020000020003" pitchFamily="2" charset="0"/>
              </a:rPr>
              <a:t>Observational Medical Outcomes Partnership (OMOP) Common Data Model (CDM)</a:t>
            </a:r>
          </a:p>
          <a:p>
            <a:pPr lvl="1">
              <a:buFont typeface="Courier New" panose="02070309020205020404" pitchFamily="49" charset="0"/>
              <a:buChar char="o"/>
            </a:pPr>
            <a:r>
              <a:rPr lang="en-US" sz="2000" dirty="0">
                <a:latin typeface="Avenir Book" panose="02000503020000020003" pitchFamily="2" charset="0"/>
              </a:rPr>
              <a:t>Open to suggestions</a:t>
            </a:r>
            <a:endParaRPr lang="en-US" sz="1600" dirty="0">
              <a:latin typeface="Avenir Book" panose="02000503020000020003" pitchFamily="2" charset="0"/>
            </a:endParaRPr>
          </a:p>
          <a:p>
            <a:pPr marL="457200" lvl="1" indent="0">
              <a:buNone/>
            </a:pPr>
            <a:endParaRPr lang="en-US" sz="1600" dirty="0">
              <a:latin typeface="Avenir Book" panose="02000503020000020003" pitchFamily="2" charset="0"/>
            </a:endParaRPr>
          </a:p>
          <a:p>
            <a:r>
              <a:rPr lang="en-US" sz="2000" dirty="0">
                <a:latin typeface="Avenir Book" panose="02000503020000020003" pitchFamily="2" charset="0"/>
              </a:rPr>
              <a:t>Let us know if you are interested in presenting your All of Us work</a:t>
            </a:r>
          </a:p>
          <a:p>
            <a:endParaRPr lang="en-US" sz="1600" dirty="0">
              <a:latin typeface="Avenir Book" panose="02000503020000020003" pitchFamily="2" charset="0"/>
            </a:endParaRPr>
          </a:p>
          <a:p>
            <a:r>
              <a:rPr lang="en-US" sz="2000" dirty="0">
                <a:latin typeface="Avenir Book" panose="02000503020000020003" pitchFamily="2" charset="0"/>
              </a:rPr>
              <a:t>Check the </a:t>
            </a:r>
            <a:r>
              <a:rPr lang="en-US" sz="2000" dirty="0">
                <a:latin typeface="Avenir Book" panose="02000503020000020003" pitchFamily="2" charset="0"/>
                <a:hlinkClick r:id="rId3"/>
              </a:rPr>
              <a:t>library training calendar </a:t>
            </a:r>
            <a:r>
              <a:rPr lang="en-US" sz="2000" dirty="0">
                <a:latin typeface="Avenir Book" panose="02000503020000020003" pitchFamily="2" charset="0"/>
              </a:rPr>
              <a:t>for current course</a:t>
            </a:r>
          </a:p>
          <a:p>
            <a:pPr lvl="1"/>
            <a:r>
              <a:rPr lang="en-US" sz="1600" dirty="0">
                <a:latin typeface="Avenir Book" panose="02000503020000020003" pitchFamily="2" charset="0"/>
              </a:rPr>
              <a:t>Sign up for the All of Us live demonstration class </a:t>
            </a:r>
            <a:r>
              <a:rPr lang="en-US" sz="1600" dirty="0">
                <a:latin typeface="Avenir Book" panose="02000503020000020003" pitchFamily="2" charset="0"/>
                <a:hlinkClick r:id="rId4"/>
              </a:rPr>
              <a:t>here</a:t>
            </a:r>
            <a:endParaRPr lang="en-US" sz="1600" dirty="0">
              <a:latin typeface="Avenir Book" panose="02000503020000020003" pitchFamily="2" charset="0"/>
            </a:endParaRPr>
          </a:p>
        </p:txBody>
      </p:sp>
      <p:sp>
        <p:nvSpPr>
          <p:cNvPr id="3" name="Text Placeholder 2">
            <a:extLst>
              <a:ext uri="{FF2B5EF4-FFF2-40B4-BE49-F238E27FC236}">
                <a16:creationId xmlns:a16="http://schemas.microsoft.com/office/drawing/2014/main" id="{D2C53BD7-7E5F-9254-B7CF-244C3213A901}"/>
              </a:ext>
            </a:extLst>
          </p:cNvPr>
          <p:cNvSpPr>
            <a:spLocks noGrp="1"/>
          </p:cNvSpPr>
          <p:nvPr>
            <p:ph type="body" sz="quarter" idx="11"/>
          </p:nvPr>
        </p:nvSpPr>
        <p:spPr>
          <a:xfrm>
            <a:off x="609599" y="1790700"/>
            <a:ext cx="3201909" cy="1102251"/>
          </a:xfrm>
        </p:spPr>
        <p:txBody>
          <a:bodyPr/>
          <a:lstStyle/>
          <a:p>
            <a:r>
              <a:rPr lang="en-US" dirty="0">
                <a:latin typeface="YaleNew" panose="02000602050000020003" pitchFamily="2" charset="77"/>
              </a:rPr>
              <a:t>Future Directions</a:t>
            </a:r>
          </a:p>
        </p:txBody>
      </p:sp>
      <p:sp>
        <p:nvSpPr>
          <p:cNvPr id="6" name="Slide Number Placeholder 5">
            <a:extLst>
              <a:ext uri="{FF2B5EF4-FFF2-40B4-BE49-F238E27FC236}">
                <a16:creationId xmlns:a16="http://schemas.microsoft.com/office/drawing/2014/main" id="{75163EDF-9EFD-E4CE-728E-32C08469103B}"/>
              </a:ext>
            </a:extLst>
          </p:cNvPr>
          <p:cNvSpPr>
            <a:spLocks noGrp="1"/>
          </p:cNvSpPr>
          <p:nvPr>
            <p:ph type="sldNum" sz="quarter" idx="18"/>
          </p:nvPr>
        </p:nvSpPr>
        <p:spPr/>
        <p:txBody>
          <a:bodyPr/>
          <a:lstStyle/>
          <a:p>
            <a:fld id="{548469FB-C78A-B94B-B04A-B5BC8C934F85}" type="slidenum">
              <a:rPr lang="en-US" smtClean="0"/>
              <a:t>38</a:t>
            </a:fld>
            <a:endParaRPr lang="en-US"/>
          </a:p>
        </p:txBody>
      </p:sp>
    </p:spTree>
    <p:extLst>
      <p:ext uri="{BB962C8B-B14F-4D97-AF65-F5344CB8AC3E}">
        <p14:creationId xmlns:p14="http://schemas.microsoft.com/office/powerpoint/2010/main" val="2763619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39</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a:xfrm>
            <a:off x="497984" y="3185056"/>
            <a:ext cx="3030943" cy="895454"/>
          </a:xfrm>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40</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18106</TotalTime>
  <Words>3324</Words>
  <Application>Microsoft Macintosh PowerPoint</Application>
  <PresentationFormat>Widescreen</PresentationFormat>
  <Paragraphs>521</Paragraphs>
  <Slides>40</Slides>
  <Notes>39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Aptos</vt:lpstr>
      <vt:lpstr>Aptos Display</vt:lpstr>
      <vt:lpstr>Arial</vt:lpstr>
      <vt:lpstr>Avenir Book</vt:lpstr>
      <vt:lpstr>Courier New</vt:lpstr>
      <vt:lpstr>Georgia</vt:lpstr>
      <vt:lpstr>Google Sans</vt:lpstr>
      <vt:lpstr>Poppins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 Hierarchy for Condition “Atrial fibrillation”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Wegener, Maximilian</dc:creator>
  <cp:keywords/>
  <dc:description/>
  <cp:lastModifiedBy>Wegener, Maximilian</cp:lastModifiedBy>
  <cp:revision>93</cp:revision>
  <dcterms:created xsi:type="dcterms:W3CDTF">2025-01-10T18:33:58Z</dcterms:created>
  <dcterms:modified xsi:type="dcterms:W3CDTF">2026-01-29T20:46:47Z</dcterms:modified>
  <cp:category/>
</cp:coreProperties>
</file>